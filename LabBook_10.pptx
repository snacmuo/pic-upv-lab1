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256" r:id="rId2"/>
    <p:sldId id="295" r:id="rId3"/>
    <p:sldId id="290" r:id="rId4"/>
    <p:sldId id="292" r:id="rId5"/>
    <p:sldId id="297" r:id="rId6"/>
    <p:sldId id="293" r:id="rId7"/>
    <p:sldId id="288" r:id="rId8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43A380-F68D-4B97-8CF0-04FACEB71A64}" v="8" dt="2026-02-16T10:00:04.333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538" autoAdjust="0"/>
    <p:restoredTop sz="95033" autoAdjust="0"/>
  </p:normalViewPr>
  <p:slideViewPr>
    <p:cSldViewPr>
      <p:cViewPr varScale="1">
        <p:scale>
          <a:sx n="113" d="100"/>
          <a:sy n="113" d="100"/>
        </p:scale>
        <p:origin x="1056" y="10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ristian Camilo Cano Vasquez" userId="8c73a2a4-758b-4e34-81ed-39462e48bd92" providerId="ADAL" clId="{E6287060-0277-4BCC-9556-78F4A9113EC4}"/>
    <pc:docChg chg="custSel addSld delSld modSld">
      <pc:chgData name="Christian Camilo Cano Vasquez" userId="8c73a2a4-758b-4e34-81ed-39462e48bd92" providerId="ADAL" clId="{E6287060-0277-4BCC-9556-78F4A9113EC4}" dt="2026-02-16T10:00:04.333" v="112"/>
      <pc:docMkLst>
        <pc:docMk/>
      </pc:docMkLst>
      <pc:sldChg chg="addSp delSp modSp mod">
        <pc:chgData name="Christian Camilo Cano Vasquez" userId="8c73a2a4-758b-4e34-81ed-39462e48bd92" providerId="ADAL" clId="{E6287060-0277-4BCC-9556-78F4A9113EC4}" dt="2026-02-16T09:54:36.314" v="109" actId="20577"/>
        <pc:sldMkLst>
          <pc:docMk/>
          <pc:sldMk cId="730501311" sldId="290"/>
        </pc:sldMkLst>
        <pc:spChg chg="add mod">
          <ac:chgData name="Christian Camilo Cano Vasquez" userId="8c73a2a4-758b-4e34-81ed-39462e48bd92" providerId="ADAL" clId="{E6287060-0277-4BCC-9556-78F4A9113EC4}" dt="2026-02-16T09:48:48.742" v="10" actId="1076"/>
          <ac:spMkLst>
            <pc:docMk/>
            <pc:sldMk cId="730501311" sldId="290"/>
            <ac:spMk id="2" creationId="{029F2FF9-FEB4-7AA3-B3B4-EFA9CFA0E230}"/>
          </ac:spMkLst>
        </pc:spChg>
        <pc:spChg chg="add mod">
          <ac:chgData name="Christian Camilo Cano Vasquez" userId="8c73a2a4-758b-4e34-81ed-39462e48bd92" providerId="ADAL" clId="{E6287060-0277-4BCC-9556-78F4A9113EC4}" dt="2026-02-16T09:49:37.395" v="33" actId="20577"/>
          <ac:spMkLst>
            <pc:docMk/>
            <pc:sldMk cId="730501311" sldId="290"/>
            <ac:spMk id="4" creationId="{C2C94B57-6111-4070-F6BA-8C3B9C305618}"/>
          </ac:spMkLst>
        </pc:spChg>
        <pc:spChg chg="del">
          <ac:chgData name="Christian Camilo Cano Vasquez" userId="8c73a2a4-758b-4e34-81ed-39462e48bd92" providerId="ADAL" clId="{E6287060-0277-4BCC-9556-78F4A9113EC4}" dt="2026-02-16T09:48:32.837" v="5" actId="478"/>
          <ac:spMkLst>
            <pc:docMk/>
            <pc:sldMk cId="730501311" sldId="290"/>
            <ac:spMk id="7" creationId="{F917B3AA-589C-A90A-EE95-EE60C6D04663}"/>
          </ac:spMkLst>
        </pc:spChg>
        <pc:spChg chg="del">
          <ac:chgData name="Christian Camilo Cano Vasquez" userId="8c73a2a4-758b-4e34-81ed-39462e48bd92" providerId="ADAL" clId="{E6287060-0277-4BCC-9556-78F4A9113EC4}" dt="2026-02-16T09:48:32.837" v="5" actId="478"/>
          <ac:spMkLst>
            <pc:docMk/>
            <pc:sldMk cId="730501311" sldId="290"/>
            <ac:spMk id="9" creationId="{793F5757-34AB-6F24-0981-9F1F15A0ADF8}"/>
          </ac:spMkLst>
        </pc:spChg>
        <pc:spChg chg="del">
          <ac:chgData name="Christian Camilo Cano Vasquez" userId="8c73a2a4-758b-4e34-81ed-39462e48bd92" providerId="ADAL" clId="{E6287060-0277-4BCC-9556-78F4A9113EC4}" dt="2026-02-16T09:48:35.096" v="6" actId="478"/>
          <ac:spMkLst>
            <pc:docMk/>
            <pc:sldMk cId="730501311" sldId="290"/>
            <ac:spMk id="11" creationId="{8BD4C233-B5D9-B6AA-93A8-CF2F130CFF9C}"/>
          </ac:spMkLst>
        </pc:spChg>
        <pc:spChg chg="mod">
          <ac:chgData name="Christian Camilo Cano Vasquez" userId="8c73a2a4-758b-4e34-81ed-39462e48bd92" providerId="ADAL" clId="{E6287060-0277-4BCC-9556-78F4A9113EC4}" dt="2026-02-16T09:54:36.314" v="109" actId="20577"/>
          <ac:spMkLst>
            <pc:docMk/>
            <pc:sldMk cId="730501311" sldId="290"/>
            <ac:spMk id="16" creationId="{471E1424-6C4B-2D9A-1352-30AFB987AD41}"/>
          </ac:spMkLst>
        </pc:spChg>
      </pc:sldChg>
      <pc:sldChg chg="modSp add del mod">
        <pc:chgData name="Christian Camilo Cano Vasquez" userId="8c73a2a4-758b-4e34-81ed-39462e48bd92" providerId="ADAL" clId="{E6287060-0277-4BCC-9556-78F4A9113EC4}" dt="2026-02-16T09:54:44.707" v="111" actId="20577"/>
        <pc:sldMkLst>
          <pc:docMk/>
          <pc:sldMk cId="2900117438" sldId="292"/>
        </pc:sldMkLst>
        <pc:spChg chg="mod">
          <ac:chgData name="Christian Camilo Cano Vasquez" userId="8c73a2a4-758b-4e34-81ed-39462e48bd92" providerId="ADAL" clId="{E6287060-0277-4BCC-9556-78F4A9113EC4}" dt="2026-02-16T09:51:39.768" v="80" actId="313"/>
          <ac:spMkLst>
            <pc:docMk/>
            <pc:sldMk cId="2900117438" sldId="292"/>
            <ac:spMk id="2" creationId="{82A62DD6-5488-72A1-9926-0CAEE59089A9}"/>
          </ac:spMkLst>
        </pc:spChg>
        <pc:spChg chg="mod">
          <ac:chgData name="Christian Camilo Cano Vasquez" userId="8c73a2a4-758b-4e34-81ed-39462e48bd92" providerId="ADAL" clId="{E6287060-0277-4BCC-9556-78F4A9113EC4}" dt="2026-02-16T09:54:44.707" v="111" actId="20577"/>
          <ac:spMkLst>
            <pc:docMk/>
            <pc:sldMk cId="2900117438" sldId="292"/>
            <ac:spMk id="16" creationId="{6AA2E789-F7AE-F068-274C-E0F13A22DBCA}"/>
          </ac:spMkLst>
        </pc:spChg>
      </pc:sldChg>
      <pc:sldChg chg="modSp add del mod">
        <pc:chgData name="Christian Camilo Cano Vasquez" userId="8c73a2a4-758b-4e34-81ed-39462e48bd92" providerId="ADAL" clId="{E6287060-0277-4BCC-9556-78F4A9113EC4}" dt="2026-02-16T09:50:51.822" v="37" actId="20577"/>
        <pc:sldMkLst>
          <pc:docMk/>
          <pc:sldMk cId="3660438245" sldId="293"/>
        </pc:sldMkLst>
        <pc:spChg chg="mod">
          <ac:chgData name="Christian Camilo Cano Vasquez" userId="8c73a2a4-758b-4e34-81ed-39462e48bd92" providerId="ADAL" clId="{E6287060-0277-4BCC-9556-78F4A9113EC4}" dt="2026-02-16T09:45:25.127" v="4" actId="115"/>
          <ac:spMkLst>
            <pc:docMk/>
            <pc:sldMk cId="3660438245" sldId="293"/>
            <ac:spMk id="2" creationId="{FDE3A197-9508-F9F1-1FEB-FF883D78C151}"/>
          </ac:spMkLst>
        </pc:spChg>
        <pc:spChg chg="mod">
          <ac:chgData name="Christian Camilo Cano Vasquez" userId="8c73a2a4-758b-4e34-81ed-39462e48bd92" providerId="ADAL" clId="{E6287060-0277-4BCC-9556-78F4A9113EC4}" dt="2026-02-16T09:50:51.822" v="37" actId="20577"/>
          <ac:spMkLst>
            <pc:docMk/>
            <pc:sldMk cId="3660438245" sldId="293"/>
            <ac:spMk id="16" creationId="{742C31CE-19F0-B995-0997-9A2D6A879BF7}"/>
          </ac:spMkLst>
        </pc:spChg>
      </pc:sldChg>
      <pc:sldChg chg="modSp mod">
        <pc:chgData name="Christian Camilo Cano Vasquez" userId="8c73a2a4-758b-4e34-81ed-39462e48bd92" providerId="ADAL" clId="{E6287060-0277-4BCC-9556-78F4A9113EC4}" dt="2026-02-16T10:00:04.333" v="112"/>
        <pc:sldMkLst>
          <pc:docMk/>
          <pc:sldMk cId="473922805" sldId="295"/>
        </pc:sldMkLst>
        <pc:spChg chg="mod">
          <ac:chgData name="Christian Camilo Cano Vasquez" userId="8c73a2a4-758b-4e34-81ed-39462e48bd92" providerId="ADAL" clId="{E6287060-0277-4BCC-9556-78F4A9113EC4}" dt="2026-02-16T10:00:04.333" v="112"/>
          <ac:spMkLst>
            <pc:docMk/>
            <pc:sldMk cId="473922805" sldId="295"/>
            <ac:spMk id="4" creationId="{9F7BC140-B3D8-C3CB-55AD-9064C7CDE9CA}"/>
          </ac:spMkLst>
        </pc:spChg>
      </pc:sldChg>
      <pc:sldChg chg="del">
        <pc:chgData name="Christian Camilo Cano Vasquez" userId="8c73a2a4-758b-4e34-81ed-39462e48bd92" providerId="ADAL" clId="{E6287060-0277-4BCC-9556-78F4A9113EC4}" dt="2026-02-16T09:50:39.931" v="34" actId="47"/>
        <pc:sldMkLst>
          <pc:docMk/>
          <pc:sldMk cId="1245186850" sldId="296"/>
        </pc:sldMkLst>
      </pc:sldChg>
      <pc:sldChg chg="modSp add del">
        <pc:chgData name="Christian Camilo Cano Vasquez" userId="8c73a2a4-758b-4e34-81ed-39462e48bd92" providerId="ADAL" clId="{E6287060-0277-4BCC-9556-78F4A9113EC4}" dt="2026-02-16T09:50:57.288" v="39" actId="20577"/>
        <pc:sldMkLst>
          <pc:docMk/>
          <pc:sldMk cId="236054401" sldId="297"/>
        </pc:sldMkLst>
        <pc:spChg chg="mod">
          <ac:chgData name="Christian Camilo Cano Vasquez" userId="8c73a2a4-758b-4e34-81ed-39462e48bd92" providerId="ADAL" clId="{E6287060-0277-4BCC-9556-78F4A9113EC4}" dt="2026-02-16T09:50:57.288" v="39" actId="20577"/>
          <ac:spMkLst>
            <pc:docMk/>
            <pc:sldMk cId="236054401" sldId="297"/>
            <ac:spMk id="16" creationId="{394400B4-EE16-8E85-AB54-E82FE3B29345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16/02/2026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16/02/2026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2532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3BBE-3704-D894-1C10-5488EE611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BB04E2-F70F-42F7-9964-3D274C49F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664AEC-7D1D-9DDC-3B94-3AE8450C7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8F62EEB-2D30-2026-D252-4267AF688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160790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9AA65-166B-474B-A6C9-9858D86A9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8158223-A8BA-05F6-464C-EC03A9FB8C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ECB4DF-C329-8F47-9ECE-661B5B2BF9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41B2276-A4E2-DFBF-0088-6997E86C9F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623159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23B86-D15F-9CD8-C5EA-3EAAD8BAC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C73881A-26A5-ECF9-C6F2-3DEFA77AEF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B7AFC79-4973-3930-959B-AEF8810CFE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345D0F3-6273-0338-FCDA-175B73D7C9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173827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cccanvas-upv/pic-upv-lab1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../media/image70.png"/><Relationship Id="rId7" Type="http://schemas.openxmlformats.org/officeDocument/2006/relationships/image" Target="NUL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NULL"/><Relationship Id="rId4" Type="http://schemas.openxmlformats.org/officeDocument/2006/relationships/image" Target="../media/image4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61067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 err="1">
                <a:latin typeface="Lucida Sans"/>
                <a:cs typeface="Lucida Sans"/>
              </a:rPr>
              <a:t>Lab</a:t>
            </a:r>
            <a:r>
              <a:rPr lang="es-ES" sz="3200" b="1" dirty="0">
                <a:latin typeface="Lucida Sans"/>
                <a:cs typeface="Lucida Sans"/>
              </a:rPr>
              <a:t> Book 1.0. </a:t>
            </a:r>
            <a:r>
              <a:rPr lang="es-ES" sz="3200" b="1" dirty="0" err="1">
                <a:latin typeface="Lucida Sans"/>
                <a:cs typeface="Lucida Sans"/>
              </a:rPr>
              <a:t>Waveguides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 err="1">
                <a:latin typeface="Arial"/>
                <a:cs typeface="Arial"/>
              </a:rPr>
              <a:t>Student</a:t>
            </a:r>
            <a:r>
              <a:rPr lang="es-ES" spc="165" dirty="0">
                <a:latin typeface="Arial"/>
                <a:cs typeface="Arial"/>
              </a:rPr>
              <a:t>: 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</a:t>
            </a:r>
            <a:r>
              <a:rPr lang="es-ES" dirty="0" err="1">
                <a:hlinkClick r:id="rId4"/>
              </a:rPr>
              <a:t>cccanvas-upv</a:t>
            </a:r>
            <a:r>
              <a:rPr lang="es-ES">
                <a:hlinkClick r:id="rId4"/>
              </a:rPr>
              <a:t>/pic-upv-lab1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 err="1">
                <a:solidFill>
                  <a:sysClr val="windowText" lastClr="000000"/>
                </a:solidFill>
              </a:rPr>
              <a:t>WAVEGUIDES_Student.ipynb</a:t>
            </a:r>
            <a:r>
              <a:rPr lang="en-US" kern="0" dirty="0">
                <a:solidFill>
                  <a:sysClr val="windowText" lastClr="000000"/>
                </a:solidFill>
              </a:rPr>
              <a:t> </a:t>
            </a:r>
          </a:p>
          <a:p>
            <a:pPr algn="just"/>
            <a:endParaRPr lang="en-US" sz="2000" b="1" i="1" u="sng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96" name="object 7">
            <a:extLst>
              <a:ext uri="{FF2B5EF4-FFF2-40B4-BE49-F238E27FC236}">
                <a16:creationId xmlns:a16="http://schemas.microsoft.com/office/drawing/2014/main" id="{BB459788-0671-D4BA-B6DB-A3544D24EA92}"/>
              </a:ext>
            </a:extLst>
          </p:cNvPr>
          <p:cNvSpPr/>
          <p:nvPr/>
        </p:nvSpPr>
        <p:spPr>
          <a:xfrm>
            <a:off x="902765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7" name="object 62">
            <a:extLst>
              <a:ext uri="{FF2B5EF4-FFF2-40B4-BE49-F238E27FC236}">
                <a16:creationId xmlns:a16="http://schemas.microsoft.com/office/drawing/2014/main" id="{13E0425E-CEDF-CBC4-B34B-0CC3951920EA}"/>
              </a:ext>
            </a:extLst>
          </p:cNvPr>
          <p:cNvSpPr/>
          <p:nvPr/>
        </p:nvSpPr>
        <p:spPr>
          <a:xfrm>
            <a:off x="1747061" y="3983757"/>
            <a:ext cx="76200" cy="986155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63">
            <a:extLst>
              <a:ext uri="{FF2B5EF4-FFF2-40B4-BE49-F238E27FC236}">
                <a16:creationId xmlns:a16="http://schemas.microsoft.com/office/drawing/2014/main" id="{FDE45797-C0E3-ACE0-F66B-057BDEDB9070}"/>
              </a:ext>
            </a:extLst>
          </p:cNvPr>
          <p:cNvSpPr txBox="1"/>
          <p:nvPr/>
        </p:nvSpPr>
        <p:spPr>
          <a:xfrm>
            <a:off x="1091131" y="4210910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  <a:endParaRPr sz="1400">
              <a:latin typeface="Calibri"/>
              <a:cs typeface="Calibri"/>
            </a:endParaRP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99" name="object 64">
            <a:extLst>
              <a:ext uri="{FF2B5EF4-FFF2-40B4-BE49-F238E27FC236}">
                <a16:creationId xmlns:a16="http://schemas.microsoft.com/office/drawing/2014/main" id="{ABAAA5DD-56CA-BF94-2180-F0866658B6B3}"/>
              </a:ext>
            </a:extLst>
          </p:cNvPr>
          <p:cNvSpPr/>
          <p:nvPr/>
        </p:nvSpPr>
        <p:spPr>
          <a:xfrm>
            <a:off x="1984805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65">
            <a:extLst>
              <a:ext uri="{FF2B5EF4-FFF2-40B4-BE49-F238E27FC236}">
                <a16:creationId xmlns:a16="http://schemas.microsoft.com/office/drawing/2014/main" id="{A1EF013C-5123-D9A7-DC76-FEFD731E96E2}"/>
              </a:ext>
            </a:extLst>
          </p:cNvPr>
          <p:cNvSpPr txBox="1"/>
          <p:nvPr/>
        </p:nvSpPr>
        <p:spPr>
          <a:xfrm>
            <a:off x="2504743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01" name="object 73">
            <a:extLst>
              <a:ext uri="{FF2B5EF4-FFF2-40B4-BE49-F238E27FC236}">
                <a16:creationId xmlns:a16="http://schemas.microsoft.com/office/drawing/2014/main" id="{4C5C0871-D9B5-E642-7661-FFBCAD75720B}"/>
              </a:ext>
            </a:extLst>
          </p:cNvPr>
          <p:cNvSpPr txBox="1"/>
          <p:nvPr/>
        </p:nvSpPr>
        <p:spPr>
          <a:xfrm>
            <a:off x="1984805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2" name="object 74">
            <a:extLst>
              <a:ext uri="{FF2B5EF4-FFF2-40B4-BE49-F238E27FC236}">
                <a16:creationId xmlns:a16="http://schemas.microsoft.com/office/drawing/2014/main" id="{10CC4DBA-05F4-4CDC-BA0E-6200AF622CA9}"/>
              </a:ext>
            </a:extLst>
          </p:cNvPr>
          <p:cNvSpPr txBox="1"/>
          <p:nvPr/>
        </p:nvSpPr>
        <p:spPr>
          <a:xfrm>
            <a:off x="3983988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1" name="object 7">
            <a:extLst>
              <a:ext uri="{FF2B5EF4-FFF2-40B4-BE49-F238E27FC236}">
                <a16:creationId xmlns:a16="http://schemas.microsoft.com/office/drawing/2014/main" id="{06801468-6F27-A16A-64E3-D7AD4B6B6B96}"/>
              </a:ext>
            </a:extLst>
          </p:cNvPr>
          <p:cNvSpPr/>
          <p:nvPr/>
        </p:nvSpPr>
        <p:spPr>
          <a:xfrm>
            <a:off x="7391400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4" name="object 64">
            <a:extLst>
              <a:ext uri="{FF2B5EF4-FFF2-40B4-BE49-F238E27FC236}">
                <a16:creationId xmlns:a16="http://schemas.microsoft.com/office/drawing/2014/main" id="{D9E5D738-CA47-1898-E0D8-DFBC514F5A50}"/>
              </a:ext>
            </a:extLst>
          </p:cNvPr>
          <p:cNvSpPr/>
          <p:nvPr/>
        </p:nvSpPr>
        <p:spPr>
          <a:xfrm>
            <a:off x="8473440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object 65">
            <a:extLst>
              <a:ext uri="{FF2B5EF4-FFF2-40B4-BE49-F238E27FC236}">
                <a16:creationId xmlns:a16="http://schemas.microsoft.com/office/drawing/2014/main" id="{74A4CAE1-BC33-1BCD-6F24-54F1DFA8AEDB}"/>
              </a:ext>
            </a:extLst>
          </p:cNvPr>
          <p:cNvSpPr txBox="1"/>
          <p:nvPr/>
        </p:nvSpPr>
        <p:spPr>
          <a:xfrm>
            <a:off x="8993378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16" name="object 73">
            <a:extLst>
              <a:ext uri="{FF2B5EF4-FFF2-40B4-BE49-F238E27FC236}">
                <a16:creationId xmlns:a16="http://schemas.microsoft.com/office/drawing/2014/main" id="{CC9D2269-0CA8-143F-4E45-F3AF594A2ED3}"/>
              </a:ext>
            </a:extLst>
          </p:cNvPr>
          <p:cNvSpPr txBox="1"/>
          <p:nvPr/>
        </p:nvSpPr>
        <p:spPr>
          <a:xfrm>
            <a:off x="8473440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7" name="object 74">
            <a:extLst>
              <a:ext uri="{FF2B5EF4-FFF2-40B4-BE49-F238E27FC236}">
                <a16:creationId xmlns:a16="http://schemas.microsoft.com/office/drawing/2014/main" id="{8A3332FF-25D4-1955-323F-BBD1D30324AC}"/>
              </a:ext>
            </a:extLst>
          </p:cNvPr>
          <p:cNvSpPr txBox="1"/>
          <p:nvPr/>
        </p:nvSpPr>
        <p:spPr>
          <a:xfrm>
            <a:off x="10472623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20" name="object 73">
            <a:extLst>
              <a:ext uri="{FF2B5EF4-FFF2-40B4-BE49-F238E27FC236}">
                <a16:creationId xmlns:a16="http://schemas.microsoft.com/office/drawing/2014/main" id="{C699977C-9138-F9B9-E43D-0CCB01AEB75F}"/>
              </a:ext>
            </a:extLst>
          </p:cNvPr>
          <p:cNvSpPr txBox="1"/>
          <p:nvPr/>
        </p:nvSpPr>
        <p:spPr>
          <a:xfrm>
            <a:off x="7391400" y="4690819"/>
            <a:ext cx="39061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lang="es-ES" sz="2350" dirty="0">
              <a:latin typeface="Times New Roman"/>
              <a:cs typeface="Times New Roman"/>
            </a:endParaRPr>
          </a:p>
          <a:p>
            <a:pPr marL="18415">
              <a:lnSpc>
                <a:spcPct val="100000"/>
              </a:lnSpc>
            </a:pPr>
            <a:r>
              <a:rPr lang="es-ES" sz="1600" b="1" spc="-10" dirty="0" err="1">
                <a:latin typeface="Calibri"/>
                <a:cs typeface="Calibri"/>
              </a:rPr>
              <a:t>Slab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2" name="object 62">
            <a:extLst>
              <a:ext uri="{FF2B5EF4-FFF2-40B4-BE49-F238E27FC236}">
                <a16:creationId xmlns:a16="http://schemas.microsoft.com/office/drawing/2014/main" id="{04561701-4B4F-F208-98F6-2DAB5C1138D3}"/>
              </a:ext>
            </a:extLst>
          </p:cNvPr>
          <p:cNvSpPr/>
          <p:nvPr/>
        </p:nvSpPr>
        <p:spPr>
          <a:xfrm>
            <a:off x="8575910" y="3994221"/>
            <a:ext cx="56259" cy="694989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1" name="object 62">
            <a:extLst>
              <a:ext uri="{FF2B5EF4-FFF2-40B4-BE49-F238E27FC236}">
                <a16:creationId xmlns:a16="http://schemas.microsoft.com/office/drawing/2014/main" id="{CCA3B0D6-0C9E-B4A6-FA43-1AB5F1821674}"/>
              </a:ext>
            </a:extLst>
          </p:cNvPr>
          <p:cNvSpPr/>
          <p:nvPr/>
        </p:nvSpPr>
        <p:spPr>
          <a:xfrm>
            <a:off x="8233207" y="4689210"/>
            <a:ext cx="55008" cy="613272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3" name="object 63">
            <a:extLst>
              <a:ext uri="{FF2B5EF4-FFF2-40B4-BE49-F238E27FC236}">
                <a16:creationId xmlns:a16="http://schemas.microsoft.com/office/drawing/2014/main" id="{6394166D-0522-24AD-E666-39FE8A3FDC24}"/>
              </a:ext>
            </a:extLst>
          </p:cNvPr>
          <p:cNvSpPr txBox="1"/>
          <p:nvPr/>
        </p:nvSpPr>
        <p:spPr>
          <a:xfrm>
            <a:off x="8351994" y="4887127"/>
            <a:ext cx="674053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dirty="0" err="1">
                <a:latin typeface="Calibri"/>
                <a:cs typeface="Calibri"/>
              </a:rPr>
              <a:t>h_slab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22" name="object 63">
            <a:extLst>
              <a:ext uri="{FF2B5EF4-FFF2-40B4-BE49-F238E27FC236}">
                <a16:creationId xmlns:a16="http://schemas.microsoft.com/office/drawing/2014/main" id="{B589EB7D-B26E-4239-A5C2-F96DBBE82162}"/>
              </a:ext>
            </a:extLst>
          </p:cNvPr>
          <p:cNvSpPr txBox="1"/>
          <p:nvPr/>
        </p:nvSpPr>
        <p:spPr>
          <a:xfrm>
            <a:off x="8706378" y="3990085"/>
            <a:ext cx="138017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spc="-10" dirty="0" err="1">
                <a:latin typeface="Calibri"/>
                <a:cs typeface="Calibri"/>
              </a:rPr>
              <a:t>h_core</a:t>
            </a:r>
            <a:r>
              <a:rPr lang="es-ES" sz="1400" spc="-10" dirty="0">
                <a:latin typeface="Calibri"/>
                <a:cs typeface="Calibri"/>
              </a:rPr>
              <a:t> 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7D9AFBE-EF33-9078-9CE3-5C8B079B0C36}"/>
              </a:ext>
            </a:extLst>
          </p:cNvPr>
          <p:cNvSpPr txBox="1"/>
          <p:nvPr/>
        </p:nvSpPr>
        <p:spPr>
          <a:xfrm>
            <a:off x="9306491" y="5257071"/>
            <a:ext cx="1980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shallow</a:t>
            </a:r>
            <a:r>
              <a:rPr lang="en-US" dirty="0"/>
              <a:t> waveguide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336B5D8-2D70-3E7A-336D-AF55EC49DEB8}"/>
              </a:ext>
            </a:extLst>
          </p:cNvPr>
          <p:cNvSpPr txBox="1"/>
          <p:nvPr/>
        </p:nvSpPr>
        <p:spPr>
          <a:xfrm>
            <a:off x="2969899" y="5257071"/>
            <a:ext cx="215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</p:txBody>
      </p:sp>
    </p:spTree>
    <p:extLst>
      <p:ext uri="{BB962C8B-B14F-4D97-AF65-F5344CB8AC3E}">
        <p14:creationId xmlns:p14="http://schemas.microsoft.com/office/powerpoint/2010/main" val="4739228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Convergence tests</a:t>
            </a:r>
            <a:br>
              <a:rPr lang="en-US" sz="2500" dirty="0"/>
            </a:br>
            <a:r>
              <a:rPr lang="nl-NL" b="0" dirty="0"/>
              <a:t>DE waveguide, w = 1.2 µm, neff_TE0, wvl 1.55 µm. 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067C6D40-33EE-D9BE-7F58-8D96221D0D59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3A5ECC9-91D2-2918-1681-822F99EB31CD}"/>
              </a:ext>
            </a:extLst>
          </p:cNvPr>
          <p:cNvSpPr txBox="1"/>
          <p:nvPr/>
        </p:nvSpPr>
        <p:spPr>
          <a:xfrm>
            <a:off x="1079403" y="2709096"/>
            <a:ext cx="45466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neff_TE0 vs </a:t>
            </a:r>
            <a:r>
              <a:rPr lang="en-US" dirty="0" err="1"/>
              <a:t>grid_resolution</a:t>
            </a:r>
            <a:r>
              <a:rPr lang="en-US" dirty="0"/>
              <a:t> plot here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C814CDD6-2B59-8488-4EB8-82801B4D3F22}"/>
              </a:ext>
            </a:extLst>
          </p:cNvPr>
          <p:cNvSpPr txBox="1"/>
          <p:nvPr/>
        </p:nvSpPr>
        <p:spPr>
          <a:xfrm>
            <a:off x="609441" y="4860334"/>
            <a:ext cx="11199971" cy="156966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results, determine above which grid value the effective index calculation does not change significantly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Si observamos la primera gráfica, vemos que el valor del índice efectivo se estabiliza para valores de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grid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resolution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mayores a 50.</a:t>
            </a:r>
          </a:p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Para crear la gráfica para el caso de análisis de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max_grid_scaling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en vez de usar un valor de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grid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resolution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mayor a 50, se ha optado por usar de 20, ya que para este valor se obtiene un índice efectivo equivalente al del caso de estabilidad para valores mayores a 50 en el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grid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resolution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, y con ello tendremos un menor coste computacional.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029F2FF9-FEB4-7AA3-B3B4-EFA9CFA0E230}"/>
              </a:ext>
            </a:extLst>
          </p:cNvPr>
          <p:cNvSpPr/>
          <p:nvPr/>
        </p:nvSpPr>
        <p:spPr>
          <a:xfrm>
            <a:off x="6322853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C2C94B57-6111-4070-F6BA-8C3B9C305618}"/>
              </a:ext>
            </a:extLst>
          </p:cNvPr>
          <p:cNvSpPr txBox="1"/>
          <p:nvPr/>
        </p:nvSpPr>
        <p:spPr>
          <a:xfrm>
            <a:off x="7488347" y="2709096"/>
            <a:ext cx="36465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neff_TE0 vs </a:t>
            </a:r>
            <a:r>
              <a:rPr lang="en-US" dirty="0" err="1"/>
              <a:t>max_grid_scaling</a:t>
            </a:r>
            <a:r>
              <a:rPr lang="en-US" dirty="0"/>
              <a:t> plot here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5C2838CE-B9D8-467E-8B84-5C454526BF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1860" y="1619947"/>
            <a:ext cx="3961720" cy="3081338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AAE13B25-34E2-4836-90D7-5F03ABB5FA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5476" y="1627875"/>
            <a:ext cx="3961721" cy="3039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501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0AC3D-36B7-D786-3825-B4DD6EADD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A2E789-F7AE-F068-274C-E0F13A22DB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Width dependence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Width 0.6 - 1.6 µm (step 0.1 µm) – Wavelength 1.55 µm 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AEAD01B-7604-8009-5694-A556497AE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96E3846-1BD2-4F23-48AA-C7AF2A1EE6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32C0E2B-75B6-4768-A4C7-F165A264DA0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0.1. MODESOLVER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2A62DD6-5488-72A1-9926-0CAEE59089A9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 (neff changes this way with width, polarization behavior,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etc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…)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BC7D187-267A-ADD4-764C-D3820B8ED302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1EF5BFDA-8EC1-8C73-A932-F36C4DB93C73}"/>
              </a:ext>
            </a:extLst>
          </p:cNvPr>
          <p:cNvSpPr txBox="1"/>
          <p:nvPr/>
        </p:nvSpPr>
        <p:spPr>
          <a:xfrm>
            <a:off x="2286000" y="2671278"/>
            <a:ext cx="77185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plot here</a:t>
            </a:r>
          </a:p>
        </p:txBody>
      </p:sp>
    </p:spTree>
    <p:extLst>
      <p:ext uri="{BB962C8B-B14F-4D97-AF65-F5344CB8AC3E}">
        <p14:creationId xmlns:p14="http://schemas.microsoft.com/office/powerpoint/2010/main" val="29001174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DA0F9-B230-D9FC-3CE7-03BD08CF5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394400B4-EE16-8E85-AB54-E82FE3B29345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Waveguide compact model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 xmlns="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394400B4-EE16-8E85-AB54-E82FE3B2934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4D53B68D-17ED-7EFB-F2B4-10DA7A772E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9AB8697-C1EE-6E9A-6550-ACA2C3AE663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70D4A6C-5B37-EDF5-6242-74B16127E96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A440F587-93A3-E474-C0B0-883BB9DAFD85}"/>
                  </a:ext>
                </a:extLst>
              </p:cNvPr>
              <p:cNvSpPr txBox="1"/>
              <p:nvPr/>
            </p:nvSpPr>
            <p:spPr>
              <a:xfrm>
                <a:off x="609441" y="4860334"/>
                <a:ext cx="11198542" cy="174086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rgbClr val="E0700D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Find the second-degree polynomial coefficients and relate them with the group index and the dispersion parameter.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2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sz="12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Comment on the results found for the TE0 and TM0 for both deep and shallow waveguides. </a:t>
                </a: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US" sz="1200" dirty="0">
                    <a:highlight>
                      <a:srgbClr val="FFFF00"/>
                    </a:highlight>
                    <a:latin typeface="Arial" panose="020B0604020202020204" pitchFamily="34" charset="0"/>
                    <a:cs typeface="Arial" panose="020B0604020202020204" pitchFamily="34" charset="0"/>
                  </a:rPr>
                  <a:t>El </a:t>
                </a:r>
                <a:r>
                  <a:rPr lang="en-US" sz="1200" dirty="0" err="1">
                    <a:highlight>
                      <a:srgbClr val="FFFF00"/>
                    </a:highlight>
                    <a:latin typeface="Arial" panose="020B0604020202020204" pitchFamily="34" charset="0"/>
                    <a:cs typeface="Arial" panose="020B0604020202020204" pitchFamily="34" charset="0"/>
                  </a:rPr>
                  <a:t>índice</a:t>
                </a:r>
                <a:r>
                  <a:rPr lang="en-US" sz="1200" dirty="0">
                    <a:highlight>
                      <a:srgbClr val="FFFF00"/>
                    </a:highlight>
                    <a:latin typeface="Arial" panose="020B0604020202020204" pitchFamily="34" charset="0"/>
                    <a:cs typeface="Arial" panose="020B0604020202020204" pitchFamily="34" charset="0"/>
                  </a:rPr>
                  <a:t> de </a:t>
                </a:r>
                <a:r>
                  <a:rPr lang="en-US" sz="1200" dirty="0" err="1">
                    <a:highlight>
                      <a:srgbClr val="FFFF00"/>
                    </a:highlight>
                    <a:latin typeface="Arial" panose="020B0604020202020204" pitchFamily="34" charset="0"/>
                    <a:cs typeface="Arial" panose="020B0604020202020204" pitchFamily="34" charset="0"/>
                  </a:rPr>
                  <a:t>grupo</a:t>
                </a:r>
                <a:r>
                  <a:rPr lang="en-US" sz="1200" dirty="0">
                    <a:highlight>
                      <a:srgbClr val="FFFF00"/>
                    </a:highlight>
                    <a:latin typeface="Arial" panose="020B0604020202020204" pitchFamily="34" charset="0"/>
                    <a:cs typeface="Arial" panose="020B0604020202020204" pitchFamily="34" charset="0"/>
                  </a:rPr>
                  <a:t> debe de ser </a:t>
                </a:r>
                <a:r>
                  <a:rPr lang="en-US" sz="1200" dirty="0" err="1">
                    <a:highlight>
                      <a:srgbClr val="FFFF00"/>
                    </a:highlight>
                    <a:latin typeface="Arial" panose="020B0604020202020204" pitchFamily="34" charset="0"/>
                    <a:cs typeface="Arial" panose="020B0604020202020204" pitchFamily="34" charset="0"/>
                  </a:rPr>
                  <a:t>cercano</a:t>
                </a:r>
                <a:r>
                  <a:rPr lang="en-US" sz="1200" dirty="0">
                    <a:highlight>
                      <a:srgbClr val="FFFF00"/>
                    </a:highlight>
                    <a:latin typeface="Arial" panose="020B0604020202020204" pitchFamily="34" charset="0"/>
                    <a:cs typeface="Arial" panose="020B0604020202020204" pitchFamily="34" charset="0"/>
                  </a:rPr>
                  <a:t> a 2 </a:t>
                </a:r>
                <a:r>
                  <a:rPr lang="en-US" sz="1200" dirty="0" err="1">
                    <a:highlight>
                      <a:srgbClr val="FFFF00"/>
                    </a:highlight>
                    <a:latin typeface="Arial" panose="020B0604020202020204" pitchFamily="34" charset="0"/>
                    <a:cs typeface="Arial" panose="020B0604020202020204" pitchFamily="34" charset="0"/>
                  </a:rPr>
                  <a:t>en</a:t>
                </a:r>
                <a:r>
                  <a:rPr lang="en-US" sz="1200" dirty="0">
                    <a:highlight>
                      <a:srgbClr val="FFFF00"/>
                    </a:highlight>
                    <a:latin typeface="Arial" panose="020B0604020202020204" pitchFamily="34" charset="0"/>
                    <a:cs typeface="Arial" panose="020B0604020202020204" pitchFamily="34" charset="0"/>
                  </a:rPr>
                  <a:t> deep waveguide. De 1.8 </a:t>
                </a:r>
                <a:r>
                  <a:rPr lang="en-US" sz="1200" dirty="0" err="1">
                    <a:highlight>
                      <a:srgbClr val="FFFF00"/>
                    </a:highlight>
                    <a:latin typeface="Arial" panose="020B0604020202020204" pitchFamily="34" charset="0"/>
                    <a:cs typeface="Arial" panose="020B0604020202020204" pitchFamily="34" charset="0"/>
                  </a:rPr>
                  <a:t>en</a:t>
                </a:r>
                <a:r>
                  <a:rPr lang="en-US" sz="1200" dirty="0">
                    <a:highlight>
                      <a:srgbClr val="FFFF00"/>
                    </a:highlight>
                    <a:latin typeface="Arial" panose="020B0604020202020204" pitchFamily="34" charset="0"/>
                    <a:cs typeface="Arial" panose="020B0604020202020204" pitchFamily="34" charset="0"/>
                  </a:rPr>
                  <a:t> …</a:t>
                </a: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A440F587-93A3-E474-C0B0-883BB9DAFD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1" y="4860334"/>
                <a:ext cx="11198542" cy="174086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rgbClr val="E0700D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ángulo 4">
            <a:extLst>
              <a:ext uri="{FF2B5EF4-FFF2-40B4-BE49-F238E27FC236}">
                <a16:creationId xmlns:a16="http://schemas.microsoft.com/office/drawing/2014/main" id="{A6B92C76-6772-2E00-346F-532321092C04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886628E-6E58-1F7E-B6C6-432B9A228397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59B6428-4395-242F-54D8-A9FC610F2D7A}"/>
                  </a:ext>
                </a:extLst>
              </p:cNvPr>
              <p:cNvSpPr txBox="1"/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deep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 smtClean="0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59B6428-4395-242F-54D8-A9FC610F2D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blipFill>
                <a:blip r:embed="rId7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320AF78-1FC6-19F4-8E0B-8A414F20C6DE}"/>
                  </a:ext>
                </a:extLst>
              </p:cNvPr>
              <p:cNvSpPr txBox="1"/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shallow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320AF78-1FC6-19F4-8E0B-8A414F20C6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blipFill>
                <a:blip r:embed="rId8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uadroTexto 7">
            <a:extLst>
              <a:ext uri="{FF2B5EF4-FFF2-40B4-BE49-F238E27FC236}">
                <a16:creationId xmlns:a16="http://schemas.microsoft.com/office/drawing/2014/main" id="{0F38E924-A0E7-A039-C837-916BA77FE89B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0544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34E70-43B1-3881-1771-20FB43584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742C31CE-19F0-B995-0997-9A2D6A879B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0900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Bend waveguide radius vs. loss – deep</a:t>
            </a:r>
            <a:br>
              <a:rPr lang="en-US" sz="2500" dirty="0"/>
            </a:br>
            <a:r>
              <a:rPr lang="en-US" b="0" dirty="0"/>
              <a:t>Find  neff_TE0 for </a:t>
            </a:r>
            <a:r>
              <a:rPr lang="en-US" b="0" dirty="0" err="1"/>
              <a:t>wvl</a:t>
            </a:r>
            <a:r>
              <a:rPr lang="en-US" b="0" dirty="0"/>
              <a:t> 1.55 µm, width 1.0 µm for R=25,50,75,100, 125,150 µm</a:t>
            </a:r>
            <a:br>
              <a:rPr lang="en-US" sz="250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D688A609-F3DC-EE34-C536-683E70F32E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B6C672C6-89D4-7E67-2B94-811D081786A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A1F4313-D710-7A3E-7A8F-EB77DEE3C1A7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FDE3A197-9508-F9F1-1FEB-FF883D78C151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results, which is the safe radius, consider safe means less than 0.1 dB/90º.</a:t>
            </a:r>
          </a:p>
          <a:p>
            <a:pPr algn="just"/>
            <a:endParaRPr lang="en-US" sz="1200" u="sng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09FBBBB-69CA-B7E5-7176-8227F2788CF5}"/>
                  </a:ext>
                </a:extLst>
              </p:cNvPr>
              <p:cNvSpPr txBox="1"/>
              <p:nvPr/>
            </p:nvSpPr>
            <p:spPr>
              <a:xfrm>
                <a:off x="9941529" y="4179383"/>
                <a:ext cx="1856534" cy="4396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s-ES" sz="1800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  <m:t>𝑑𝐵</m:t>
                            </m:r>
                          </m:num>
                          <m:den>
                            <m: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  <m:t>90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°</m:t>
                            </m:r>
                          </m:den>
                        </m:f>
                      </m:e>
                    </m:d>
                    <m:r>
                      <a:rPr lang="es-ES" sz="18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s-ES" sz="18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s-ES" sz="1800" b="0" i="0" smtClean="0">
                        <a:latin typeface="Cambria Math" panose="02040503050406030204" pitchFamily="18" charset="0"/>
                      </a:rPr>
                      <m:t>R</m:t>
                    </m:r>
                    <m:f>
                      <m:fPr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s-ES" sz="1800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s-E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ES" sz="18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𝑑𝐵</m:t>
                            </m:r>
                          </m:num>
                          <m:den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µ</m:t>
                            </m:r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den>
                        </m:f>
                      </m:e>
                    </m:d>
                  </m:oMath>
                </a14:m>
                <a:endParaRPr lang="en-US" sz="1800" dirty="0"/>
              </a:p>
            </p:txBody>
          </p:sp>
        </mc:Choice>
        <mc:Fallback xmlns="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09FBBBB-69CA-B7E5-7176-8227F2788C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41529" y="4179383"/>
                <a:ext cx="1856534" cy="439608"/>
              </a:xfrm>
              <a:prstGeom prst="rect">
                <a:avLst/>
              </a:prstGeom>
              <a:blipFill>
                <a:blip r:embed="rId5"/>
                <a:stretch>
                  <a:fillRect l="-3289" b="-13889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ángulo 6">
            <a:extLst>
              <a:ext uri="{FF2B5EF4-FFF2-40B4-BE49-F238E27FC236}">
                <a16:creationId xmlns:a16="http://schemas.microsoft.com/office/drawing/2014/main" id="{B5FE8755-B0BF-14B7-64E6-4BBB2560B9A6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31EBD86-BA6C-68C9-2D38-FC8CFBA7ADC4}"/>
              </a:ext>
            </a:extLst>
          </p:cNvPr>
          <p:cNvSpPr txBox="1"/>
          <p:nvPr/>
        </p:nvSpPr>
        <p:spPr>
          <a:xfrm>
            <a:off x="2978141" y="2784355"/>
            <a:ext cx="62357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dB/90º neff_TE0 &amp; neff_TM0 vs R</a:t>
            </a:r>
          </a:p>
        </p:txBody>
      </p:sp>
    </p:spTree>
    <p:extLst>
      <p:ext uri="{BB962C8B-B14F-4D97-AF65-F5344CB8AC3E}">
        <p14:creationId xmlns:p14="http://schemas.microsoft.com/office/powerpoint/2010/main" val="36604382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7</a:t>
            </a:fld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937</TotalTime>
  <Words>509</Words>
  <Application>Microsoft Office PowerPoint</Application>
  <PresentationFormat>Panorámica</PresentationFormat>
  <Paragraphs>85</Paragraphs>
  <Slides>7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4" baseType="lpstr">
      <vt:lpstr>Aptos</vt:lpstr>
      <vt:lpstr>Arial</vt:lpstr>
      <vt:lpstr>Calibri</vt:lpstr>
      <vt:lpstr>Cambria Math</vt:lpstr>
      <vt:lpstr>Lucida Sans</vt:lpstr>
      <vt:lpstr>Times New Roman</vt:lpstr>
      <vt:lpstr>Office Theme</vt:lpstr>
      <vt:lpstr>Presentación de PowerPoint</vt:lpstr>
      <vt:lpstr>Instructions General</vt:lpstr>
      <vt:lpstr>Learning outcome #1 – Convergence tests DE waveguide, w = 1.2 µm, neff_TE0, wvl 1.55 µm. </vt:lpstr>
      <vt:lpstr>Learning outcome #2 – Width dependence Width 0.6 - 1.6 µm (step 0.1 µm) – Wavelength 1.55 µm </vt:lpstr>
      <vt:lpstr>Learning outcome #3 – Waveguide compact model Let’s model the waveguide using a second order polynomial:  n_eff (λ)=n_1+n_2 (λ-λ_0 )+n_3 (λ-λ_0 )^2 </vt:lpstr>
      <vt:lpstr>Learning outcome #4 – Bend waveguide radius vs. loss – deep Find  neff_TE0 for wvl 1.55 µm, width 1.0 µm for R=25,50,75,100, 125,150 µm 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cfp</cp:lastModifiedBy>
  <cp:revision>11</cp:revision>
  <dcterms:created xsi:type="dcterms:W3CDTF">2025-01-27T02:46:57Z</dcterms:created>
  <dcterms:modified xsi:type="dcterms:W3CDTF">2026-02-16T12:34:12Z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</Properties>
</file>