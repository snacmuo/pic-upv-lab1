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handoutMasterIdLst>
    <p:handoutMasterId r:id="rId11"/>
  </p:handoutMasterIdLst>
  <p:sldIdLst>
    <p:sldId id="256" r:id="rId2"/>
    <p:sldId id="295" r:id="rId3"/>
    <p:sldId id="290" r:id="rId4"/>
    <p:sldId id="292" r:id="rId5"/>
    <p:sldId id="297" r:id="rId6"/>
    <p:sldId id="298" r:id="rId7"/>
    <p:sldId id="293" r:id="rId8"/>
    <p:sldId id="288" r:id="rId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43A380-F68D-4B97-8CF0-04FACEB71A64}" v="8" dt="2026-02-16T10:00:04.3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290" autoAdjust="0"/>
    <p:restoredTop sz="95033" autoAdjust="0"/>
  </p:normalViewPr>
  <p:slideViewPr>
    <p:cSldViewPr>
      <p:cViewPr varScale="1">
        <p:scale>
          <a:sx n="150" d="100"/>
          <a:sy n="150" d="100"/>
        </p:scale>
        <p:origin x="584" y="17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E6287060-0277-4BCC-9556-78F4A9113EC4}"/>
    <pc:docChg chg="custSel addSld delSld modSld">
      <pc:chgData name="Christian Camilo Cano Vasquez" userId="8c73a2a4-758b-4e34-81ed-39462e48bd92" providerId="ADAL" clId="{E6287060-0277-4BCC-9556-78F4A9113EC4}" dt="2026-02-16T10:00:04.333" v="112"/>
      <pc:docMkLst>
        <pc:docMk/>
      </pc:docMkLst>
      <pc:sldChg chg="addSp delSp modSp mod">
        <pc:chgData name="Christian Camilo Cano Vasquez" userId="8c73a2a4-758b-4e34-81ed-39462e48bd92" providerId="ADAL" clId="{E6287060-0277-4BCC-9556-78F4A9113EC4}" dt="2026-02-16T09:54:36.314" v="109" actId="20577"/>
        <pc:sldMkLst>
          <pc:docMk/>
          <pc:sldMk cId="730501311" sldId="290"/>
        </pc:sldMkLst>
        <pc:spChg chg="add mod">
          <ac:chgData name="Christian Camilo Cano Vasquez" userId="8c73a2a4-758b-4e34-81ed-39462e48bd92" providerId="ADAL" clId="{E6287060-0277-4BCC-9556-78F4A9113EC4}" dt="2026-02-16T09:48:48.742" v="10" actId="1076"/>
          <ac:spMkLst>
            <pc:docMk/>
            <pc:sldMk cId="730501311" sldId="290"/>
            <ac:spMk id="2" creationId="{029F2FF9-FEB4-7AA3-B3B4-EFA9CFA0E230}"/>
          </ac:spMkLst>
        </pc:spChg>
        <pc:spChg chg="add mod">
          <ac:chgData name="Christian Camilo Cano Vasquez" userId="8c73a2a4-758b-4e34-81ed-39462e48bd92" providerId="ADAL" clId="{E6287060-0277-4BCC-9556-78F4A9113EC4}" dt="2026-02-16T09:49:37.395" v="33" actId="20577"/>
          <ac:spMkLst>
            <pc:docMk/>
            <pc:sldMk cId="730501311" sldId="290"/>
            <ac:spMk id="4" creationId="{C2C94B57-6111-4070-F6BA-8C3B9C305618}"/>
          </ac:spMkLst>
        </pc:spChg>
        <pc:spChg chg="del">
          <ac:chgData name="Christian Camilo Cano Vasquez" userId="8c73a2a4-758b-4e34-81ed-39462e48bd92" providerId="ADAL" clId="{E6287060-0277-4BCC-9556-78F4A9113EC4}" dt="2026-02-16T09:48:32.837" v="5" actId="478"/>
          <ac:spMkLst>
            <pc:docMk/>
            <pc:sldMk cId="730501311" sldId="290"/>
            <ac:spMk id="7" creationId="{F917B3AA-589C-A90A-EE95-EE60C6D04663}"/>
          </ac:spMkLst>
        </pc:spChg>
        <pc:spChg chg="del">
          <ac:chgData name="Christian Camilo Cano Vasquez" userId="8c73a2a4-758b-4e34-81ed-39462e48bd92" providerId="ADAL" clId="{E6287060-0277-4BCC-9556-78F4A9113EC4}" dt="2026-02-16T09:48:32.837" v="5" actId="478"/>
          <ac:spMkLst>
            <pc:docMk/>
            <pc:sldMk cId="730501311" sldId="290"/>
            <ac:spMk id="9" creationId="{793F5757-34AB-6F24-0981-9F1F15A0ADF8}"/>
          </ac:spMkLst>
        </pc:spChg>
        <pc:spChg chg="del">
          <ac:chgData name="Christian Camilo Cano Vasquez" userId="8c73a2a4-758b-4e34-81ed-39462e48bd92" providerId="ADAL" clId="{E6287060-0277-4BCC-9556-78F4A9113EC4}" dt="2026-02-16T09:48:35.096" v="6" actId="478"/>
          <ac:spMkLst>
            <pc:docMk/>
            <pc:sldMk cId="730501311" sldId="290"/>
            <ac:spMk id="11" creationId="{8BD4C233-B5D9-B6AA-93A8-CF2F130CFF9C}"/>
          </ac:spMkLst>
        </pc:spChg>
        <pc:spChg chg="mod">
          <ac:chgData name="Christian Camilo Cano Vasquez" userId="8c73a2a4-758b-4e34-81ed-39462e48bd92" providerId="ADAL" clId="{E6287060-0277-4BCC-9556-78F4A9113EC4}" dt="2026-02-16T09:54:36.314" v="109" actId="20577"/>
          <ac:spMkLst>
            <pc:docMk/>
            <pc:sldMk cId="730501311" sldId="290"/>
            <ac:spMk id="16" creationId="{471E1424-6C4B-2D9A-1352-30AFB987AD41}"/>
          </ac:spMkLst>
        </pc:spChg>
      </pc:sldChg>
      <pc:sldChg chg="modSp add del mod">
        <pc:chgData name="Christian Camilo Cano Vasquez" userId="8c73a2a4-758b-4e34-81ed-39462e48bd92" providerId="ADAL" clId="{E6287060-0277-4BCC-9556-78F4A9113EC4}" dt="2026-02-16T09:54:44.707" v="111" actId="20577"/>
        <pc:sldMkLst>
          <pc:docMk/>
          <pc:sldMk cId="2900117438" sldId="292"/>
        </pc:sldMkLst>
        <pc:spChg chg="mod">
          <ac:chgData name="Christian Camilo Cano Vasquez" userId="8c73a2a4-758b-4e34-81ed-39462e48bd92" providerId="ADAL" clId="{E6287060-0277-4BCC-9556-78F4A9113EC4}" dt="2026-02-16T09:51:39.768" v="80" actId="313"/>
          <ac:spMkLst>
            <pc:docMk/>
            <pc:sldMk cId="2900117438" sldId="292"/>
            <ac:spMk id="2" creationId="{82A62DD6-5488-72A1-9926-0CAEE59089A9}"/>
          </ac:spMkLst>
        </pc:spChg>
        <pc:spChg chg="mod">
          <ac:chgData name="Christian Camilo Cano Vasquez" userId="8c73a2a4-758b-4e34-81ed-39462e48bd92" providerId="ADAL" clId="{E6287060-0277-4BCC-9556-78F4A9113EC4}" dt="2026-02-16T09:54:44.707" v="111" actId="20577"/>
          <ac:spMkLst>
            <pc:docMk/>
            <pc:sldMk cId="2900117438" sldId="292"/>
            <ac:spMk id="16" creationId="{6AA2E789-F7AE-F068-274C-E0F13A22DBCA}"/>
          </ac:spMkLst>
        </pc:spChg>
      </pc:sldChg>
      <pc:sldChg chg="modSp add del mod">
        <pc:chgData name="Christian Camilo Cano Vasquez" userId="8c73a2a4-758b-4e34-81ed-39462e48bd92" providerId="ADAL" clId="{E6287060-0277-4BCC-9556-78F4A9113EC4}" dt="2026-02-16T09:50:51.822" v="37" actId="20577"/>
        <pc:sldMkLst>
          <pc:docMk/>
          <pc:sldMk cId="3660438245" sldId="293"/>
        </pc:sldMkLst>
        <pc:spChg chg="mod">
          <ac:chgData name="Christian Camilo Cano Vasquez" userId="8c73a2a4-758b-4e34-81ed-39462e48bd92" providerId="ADAL" clId="{E6287060-0277-4BCC-9556-78F4A9113EC4}" dt="2026-02-16T09:45:25.127" v="4" actId="115"/>
          <ac:spMkLst>
            <pc:docMk/>
            <pc:sldMk cId="3660438245" sldId="293"/>
            <ac:spMk id="2" creationId="{FDE3A197-9508-F9F1-1FEB-FF883D78C151}"/>
          </ac:spMkLst>
        </pc:spChg>
        <pc:spChg chg="mod">
          <ac:chgData name="Christian Camilo Cano Vasquez" userId="8c73a2a4-758b-4e34-81ed-39462e48bd92" providerId="ADAL" clId="{E6287060-0277-4BCC-9556-78F4A9113EC4}" dt="2026-02-16T09:50:51.822" v="37" actId="20577"/>
          <ac:spMkLst>
            <pc:docMk/>
            <pc:sldMk cId="3660438245" sldId="293"/>
            <ac:spMk id="16" creationId="{742C31CE-19F0-B995-0997-9A2D6A879BF7}"/>
          </ac:spMkLst>
        </pc:spChg>
      </pc:sldChg>
      <pc:sldChg chg="modSp mod">
        <pc:chgData name="Christian Camilo Cano Vasquez" userId="8c73a2a4-758b-4e34-81ed-39462e48bd92" providerId="ADAL" clId="{E6287060-0277-4BCC-9556-78F4A9113EC4}" dt="2026-02-16T10:00:04.333" v="112"/>
        <pc:sldMkLst>
          <pc:docMk/>
          <pc:sldMk cId="473922805" sldId="295"/>
        </pc:sldMkLst>
        <pc:spChg chg="mod">
          <ac:chgData name="Christian Camilo Cano Vasquez" userId="8c73a2a4-758b-4e34-81ed-39462e48bd92" providerId="ADAL" clId="{E6287060-0277-4BCC-9556-78F4A9113EC4}" dt="2026-02-16T10:00:04.333" v="112"/>
          <ac:spMkLst>
            <pc:docMk/>
            <pc:sldMk cId="473922805" sldId="295"/>
            <ac:spMk id="4" creationId="{9F7BC140-B3D8-C3CB-55AD-9064C7CDE9CA}"/>
          </ac:spMkLst>
        </pc:spChg>
      </pc:sldChg>
      <pc:sldChg chg="del">
        <pc:chgData name="Christian Camilo Cano Vasquez" userId="8c73a2a4-758b-4e34-81ed-39462e48bd92" providerId="ADAL" clId="{E6287060-0277-4BCC-9556-78F4A9113EC4}" dt="2026-02-16T09:50:39.931" v="34" actId="47"/>
        <pc:sldMkLst>
          <pc:docMk/>
          <pc:sldMk cId="1245186850" sldId="296"/>
        </pc:sldMkLst>
      </pc:sldChg>
      <pc:sldChg chg="modSp add del">
        <pc:chgData name="Christian Camilo Cano Vasquez" userId="8c73a2a4-758b-4e34-81ed-39462e48bd92" providerId="ADAL" clId="{E6287060-0277-4BCC-9556-78F4A9113EC4}" dt="2026-02-16T09:50:57.288" v="39" actId="20577"/>
        <pc:sldMkLst>
          <pc:docMk/>
          <pc:sldMk cId="236054401" sldId="297"/>
        </pc:sldMkLst>
        <pc:spChg chg="mod">
          <ac:chgData name="Christian Camilo Cano Vasquez" userId="8c73a2a4-758b-4e34-81ed-39462e48bd92" providerId="ADAL" clId="{E6287060-0277-4BCC-9556-78F4A9113EC4}" dt="2026-02-16T09:50:57.288" v="39" actId="20577"/>
          <ac:spMkLst>
            <pc:docMk/>
            <pc:sldMk cId="236054401" sldId="297"/>
            <ac:spMk id="16" creationId="{394400B4-EE16-8E85-AB54-E82FE3B293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23/2/26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23/2/26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github.com/cccanvas-upv/pic-upv-lab1"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70.png"/><Relationship Id="rId7"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s-ES" dirty="0" err="1">
                <a:hlinkClick r:id="rId4"/>
              </a:rPr>
              <a:t>cccanvas-upv</a:t>
            </a:r>
            <a:r>
              <a:rPr lang="es-ES">
                <a:hlinkClick r:id="rId4"/>
              </a:rPr>
              <a:t>/pic-upv-lab1</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Convergence tests</a:t>
            </a:r>
            <a:br>
              <a:rPr lang="en-US" sz="2500" dirty="0"/>
            </a:br>
            <a:r>
              <a:rPr lang="nl-NL" b="0" dirty="0"/>
              <a:t>DE waveguide, w = 1.2 µm, neff_TE0, wvl 1.55 µm. </a:t>
            </a: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6" name="Rectángulo 5">
            <a:extLst>
              <a:ext uri="{FF2B5EF4-FFF2-40B4-BE49-F238E27FC236}">
                <a16:creationId xmlns:a16="http://schemas.microsoft.com/office/drawing/2014/main" id="{067C6D40-33EE-D9BE-7F58-8D96221D0D59}"/>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53A5ECC9-91D2-2918-1681-822F99EB31CD}"/>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neff_TE0 vs </a:t>
            </a:r>
            <a:r>
              <a:rPr lang="en-US" dirty="0" err="1"/>
              <a:t>grid_resolution</a:t>
            </a:r>
            <a:r>
              <a:rPr lang="en-US" dirty="0"/>
              <a:t> plot here</a:t>
            </a:r>
          </a:p>
        </p:txBody>
      </p:sp>
      <p:sp>
        <p:nvSpPr>
          <p:cNvPr id="10" name="CuadroTexto 9">
            <a:extLst>
              <a:ext uri="{FF2B5EF4-FFF2-40B4-BE49-F238E27FC236}">
                <a16:creationId xmlns:a16="http://schemas.microsoft.com/office/drawing/2014/main" id="{C814CDD6-2B59-8488-4EB8-82801B4D3F22}"/>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determine above which grid value the effective index calculation does not change significantly</a:t>
            </a:r>
          </a:p>
          <a:p>
            <a:pPr algn="just"/>
            <a:endParaRPr lang="en-US" sz="1200" dirty="0">
              <a:latin typeface="Arial" panose="020B0604020202020204" pitchFamily="34" charset="0"/>
              <a:cs typeface="Arial" panose="020B0604020202020204" pitchFamily="34" charset="0"/>
            </a:endParaRPr>
          </a:p>
          <a:p>
            <a:pPr algn="just"/>
            <a:r>
              <a:rPr lang="es-ES_tradnl" sz="1200" dirty="0">
                <a:latin typeface="Arial" panose="020B0604020202020204" pitchFamily="34" charset="0"/>
                <a:cs typeface="Arial" panose="020B0604020202020204" pitchFamily="34" charset="0"/>
              </a:rPr>
              <a:t>Si observamos la primera gráfica, vemos que el valor del índice efectivo se estabiliza para valores de </a:t>
            </a:r>
            <a:r>
              <a:rPr lang="es-ES_tradnl" sz="1200" dirty="0" err="1">
                <a:latin typeface="Arial" panose="020B0604020202020204" pitchFamily="34" charset="0"/>
                <a:cs typeface="Arial" panose="020B0604020202020204" pitchFamily="34" charset="0"/>
              </a:rPr>
              <a:t>grid</a:t>
            </a:r>
            <a:r>
              <a:rPr lang="es-ES_tradnl" sz="1200" dirty="0">
                <a:latin typeface="Arial" panose="020B0604020202020204" pitchFamily="34" charset="0"/>
                <a:cs typeface="Arial" panose="020B0604020202020204" pitchFamily="34" charset="0"/>
              </a:rPr>
              <a:t> </a:t>
            </a:r>
            <a:r>
              <a:rPr lang="es-ES_tradnl" sz="1200" dirty="0" err="1">
                <a:latin typeface="Arial" panose="020B0604020202020204" pitchFamily="34" charset="0"/>
                <a:cs typeface="Arial" panose="020B0604020202020204" pitchFamily="34" charset="0"/>
              </a:rPr>
              <a:t>resolution</a:t>
            </a:r>
            <a:r>
              <a:rPr lang="es-ES_tradnl" sz="1200" dirty="0">
                <a:latin typeface="Arial" panose="020B0604020202020204" pitchFamily="34" charset="0"/>
                <a:cs typeface="Arial" panose="020B0604020202020204" pitchFamily="34" charset="0"/>
              </a:rPr>
              <a:t> mayores a 50.</a:t>
            </a:r>
          </a:p>
          <a:p>
            <a:pPr algn="just"/>
            <a:r>
              <a:rPr lang="es-ES_tradnl" sz="1200" dirty="0">
                <a:latin typeface="Arial" panose="020B0604020202020204" pitchFamily="34" charset="0"/>
                <a:cs typeface="Arial" panose="020B0604020202020204" pitchFamily="34" charset="0"/>
              </a:rPr>
              <a:t>Para crear la gráfica para el caso de análisis de </a:t>
            </a:r>
            <a:r>
              <a:rPr lang="es-ES_tradnl" sz="1200" dirty="0" err="1">
                <a:latin typeface="Arial" panose="020B0604020202020204" pitchFamily="34" charset="0"/>
                <a:cs typeface="Arial" panose="020B0604020202020204" pitchFamily="34" charset="0"/>
              </a:rPr>
              <a:t>max_grid_scaling</a:t>
            </a:r>
            <a:r>
              <a:rPr lang="es-ES_tradnl" sz="1200" dirty="0">
                <a:latin typeface="Arial" panose="020B0604020202020204" pitchFamily="34" charset="0"/>
                <a:cs typeface="Arial" panose="020B0604020202020204" pitchFamily="34" charset="0"/>
              </a:rPr>
              <a:t> en vez de usar un valor de </a:t>
            </a:r>
            <a:r>
              <a:rPr lang="es-ES_tradnl" sz="1200" dirty="0" err="1">
                <a:latin typeface="Arial" panose="020B0604020202020204" pitchFamily="34" charset="0"/>
                <a:cs typeface="Arial" panose="020B0604020202020204" pitchFamily="34" charset="0"/>
              </a:rPr>
              <a:t>grid</a:t>
            </a:r>
            <a:r>
              <a:rPr lang="es-ES_tradnl" sz="1200" dirty="0">
                <a:latin typeface="Arial" panose="020B0604020202020204" pitchFamily="34" charset="0"/>
                <a:cs typeface="Arial" panose="020B0604020202020204" pitchFamily="34" charset="0"/>
              </a:rPr>
              <a:t> </a:t>
            </a:r>
            <a:r>
              <a:rPr lang="es-ES_tradnl" sz="1200" dirty="0" err="1">
                <a:latin typeface="Arial" panose="020B0604020202020204" pitchFamily="34" charset="0"/>
                <a:cs typeface="Arial" panose="020B0604020202020204" pitchFamily="34" charset="0"/>
              </a:rPr>
              <a:t>resolution</a:t>
            </a:r>
            <a:r>
              <a:rPr lang="es-ES_tradnl" sz="1200" dirty="0">
                <a:latin typeface="Arial" panose="020B0604020202020204" pitchFamily="34" charset="0"/>
                <a:cs typeface="Arial" panose="020B0604020202020204" pitchFamily="34" charset="0"/>
              </a:rPr>
              <a:t> mayor a 50, se ha optado por usar de 20, ya que para este valor se obtiene un índice efectivo equivalente al del caso de estabilidad para valores mayores a 50 en el </a:t>
            </a:r>
            <a:r>
              <a:rPr lang="es-ES_tradnl" sz="1200" dirty="0" err="1">
                <a:latin typeface="Arial" panose="020B0604020202020204" pitchFamily="34" charset="0"/>
                <a:cs typeface="Arial" panose="020B0604020202020204" pitchFamily="34" charset="0"/>
              </a:rPr>
              <a:t>grid</a:t>
            </a:r>
            <a:r>
              <a:rPr lang="es-ES_tradnl" sz="1200" dirty="0">
                <a:latin typeface="Arial" panose="020B0604020202020204" pitchFamily="34" charset="0"/>
                <a:cs typeface="Arial" panose="020B0604020202020204" pitchFamily="34" charset="0"/>
              </a:rPr>
              <a:t> </a:t>
            </a:r>
            <a:r>
              <a:rPr lang="es-ES_tradnl" sz="1200" dirty="0" err="1">
                <a:latin typeface="Arial" panose="020B0604020202020204" pitchFamily="34" charset="0"/>
                <a:cs typeface="Arial" panose="020B0604020202020204" pitchFamily="34" charset="0"/>
              </a:rPr>
              <a:t>resolution</a:t>
            </a:r>
            <a:r>
              <a:rPr lang="es-ES_tradnl" sz="1200" dirty="0">
                <a:latin typeface="Arial" panose="020B0604020202020204" pitchFamily="34" charset="0"/>
                <a:cs typeface="Arial" panose="020B0604020202020204" pitchFamily="34" charset="0"/>
              </a:rPr>
              <a:t>, y con ello tendremos un menor coste computacional. En este caso vemos que se empieza a estabilizar en valores de </a:t>
            </a:r>
            <a:r>
              <a:rPr lang="es-ES_tradnl" sz="1200" dirty="0" err="1">
                <a:latin typeface="Arial" panose="020B0604020202020204" pitchFamily="34" charset="0"/>
                <a:cs typeface="Arial" panose="020B0604020202020204" pitchFamily="34" charset="0"/>
              </a:rPr>
              <a:t>max_grid_scaling</a:t>
            </a:r>
            <a:r>
              <a:rPr lang="es-ES_tradnl" sz="1200" dirty="0">
                <a:latin typeface="Arial" panose="020B0604020202020204" pitchFamily="34" charset="0"/>
                <a:cs typeface="Arial" panose="020B0604020202020204" pitchFamily="34" charset="0"/>
              </a:rPr>
              <a:t> mayores a 1.5.</a:t>
            </a:r>
          </a:p>
          <a:p>
            <a:pPr algn="just"/>
            <a:endParaRPr lang="es-ES_tradnl" sz="1200" dirty="0">
              <a:latin typeface="Arial" panose="020B0604020202020204" pitchFamily="34" charset="0"/>
              <a:cs typeface="Arial" panose="020B0604020202020204" pitchFamily="34" charset="0"/>
            </a:endParaRPr>
          </a:p>
          <a:p>
            <a:pPr algn="just"/>
            <a:r>
              <a:rPr lang="es-ES_tradnl" sz="1200" dirty="0">
                <a:latin typeface="Arial" panose="020B0604020202020204" pitchFamily="34" charset="0"/>
                <a:cs typeface="Arial" panose="020B0604020202020204" pitchFamily="34" charset="0"/>
              </a:rPr>
              <a:t>Finalmente, podemos concluir que para valores del </a:t>
            </a:r>
            <a:r>
              <a:rPr lang="es-ES_tradnl" sz="1200" dirty="0" err="1">
                <a:latin typeface="Arial" panose="020B0604020202020204" pitchFamily="34" charset="0"/>
                <a:cs typeface="Arial" panose="020B0604020202020204" pitchFamily="34" charset="0"/>
              </a:rPr>
              <a:t>grid</a:t>
            </a:r>
            <a:r>
              <a:rPr lang="es-ES_tradnl" sz="1200" dirty="0">
                <a:latin typeface="Arial" panose="020B0604020202020204" pitchFamily="34" charset="0"/>
                <a:cs typeface="Arial" panose="020B0604020202020204" pitchFamily="34" charset="0"/>
              </a:rPr>
              <a:t> </a:t>
            </a:r>
            <a:r>
              <a:rPr lang="es-ES_tradnl" sz="1200" dirty="0" err="1">
                <a:latin typeface="Arial" panose="020B0604020202020204" pitchFamily="34" charset="0"/>
                <a:cs typeface="Arial" panose="020B0604020202020204" pitchFamily="34" charset="0"/>
              </a:rPr>
              <a:t>resolution</a:t>
            </a:r>
            <a:r>
              <a:rPr lang="es-ES_tradnl" sz="1200" dirty="0">
                <a:latin typeface="Arial" panose="020B0604020202020204" pitchFamily="34" charset="0"/>
                <a:cs typeface="Arial" panose="020B0604020202020204" pitchFamily="34" charset="0"/>
              </a:rPr>
              <a:t> mayores de 50 y valores de </a:t>
            </a:r>
            <a:r>
              <a:rPr lang="es-ES_tradnl" sz="1200" dirty="0" err="1">
                <a:latin typeface="Arial" panose="020B0604020202020204" pitchFamily="34" charset="0"/>
                <a:cs typeface="Arial" panose="020B0604020202020204" pitchFamily="34" charset="0"/>
              </a:rPr>
              <a:t>max</a:t>
            </a:r>
            <a:r>
              <a:rPr lang="es-ES_tradnl" sz="1200" dirty="0">
                <a:latin typeface="Arial" panose="020B0604020202020204" pitchFamily="34" charset="0"/>
                <a:cs typeface="Arial" panose="020B0604020202020204" pitchFamily="34" charset="0"/>
              </a:rPr>
              <a:t> </a:t>
            </a:r>
            <a:r>
              <a:rPr lang="es-ES_tradnl" sz="1200" dirty="0" err="1">
                <a:latin typeface="Arial" panose="020B0604020202020204" pitchFamily="34" charset="0"/>
                <a:cs typeface="Arial" panose="020B0604020202020204" pitchFamily="34" charset="0"/>
              </a:rPr>
              <a:t>grid</a:t>
            </a:r>
            <a:r>
              <a:rPr lang="es-ES_tradnl" sz="1200" dirty="0">
                <a:latin typeface="Arial" panose="020B0604020202020204" pitchFamily="34" charset="0"/>
                <a:cs typeface="Arial" panose="020B0604020202020204" pitchFamily="34" charset="0"/>
              </a:rPr>
              <a:t> </a:t>
            </a:r>
            <a:r>
              <a:rPr lang="es-ES_tradnl" sz="1200" dirty="0" err="1">
                <a:latin typeface="Arial" panose="020B0604020202020204" pitchFamily="34" charset="0"/>
                <a:cs typeface="Arial" panose="020B0604020202020204" pitchFamily="34" charset="0"/>
              </a:rPr>
              <a:t>scaling</a:t>
            </a:r>
            <a:r>
              <a:rPr lang="es-ES_tradnl" sz="1200" dirty="0">
                <a:latin typeface="Arial" panose="020B0604020202020204" pitchFamily="34" charset="0"/>
                <a:cs typeface="Arial" panose="020B0604020202020204" pitchFamily="34" charset="0"/>
              </a:rPr>
              <a:t> mayores de 1.5 se obtienen valores estables del índice efectivo. Por lo tanto, estos serán los valores óptimos para obtener un valor de índice efectivo más cercano al real.</a:t>
            </a:r>
          </a:p>
        </p:txBody>
      </p:sp>
      <p:sp>
        <p:nvSpPr>
          <p:cNvPr id="2" name="Rectángulo 1">
            <a:extLst>
              <a:ext uri="{FF2B5EF4-FFF2-40B4-BE49-F238E27FC236}">
                <a16:creationId xmlns:a16="http://schemas.microsoft.com/office/drawing/2014/main" id="{029F2FF9-FEB4-7AA3-B3B4-EFA9CFA0E230}"/>
              </a:ext>
            </a:extLst>
          </p:cNvPr>
          <p:cNvSpPr/>
          <p:nvPr/>
        </p:nvSpPr>
        <p:spPr>
          <a:xfrm>
            <a:off x="6322853"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C2C94B57-6111-4070-F6BA-8C3B9C305618}"/>
              </a:ext>
            </a:extLst>
          </p:cNvPr>
          <p:cNvSpPr txBox="1"/>
          <p:nvPr/>
        </p:nvSpPr>
        <p:spPr>
          <a:xfrm>
            <a:off x="7488347" y="2709096"/>
            <a:ext cx="3646585" cy="1200329"/>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neff_TE0 vs </a:t>
            </a:r>
            <a:r>
              <a:rPr lang="en-US" dirty="0" err="1"/>
              <a:t>max_grid_scaling</a:t>
            </a:r>
            <a:r>
              <a:rPr lang="en-US" dirty="0"/>
              <a:t> plot here</a:t>
            </a:r>
          </a:p>
        </p:txBody>
      </p:sp>
      <p:pic>
        <p:nvPicPr>
          <p:cNvPr id="7" name="Imagen 6">
            <a:extLst>
              <a:ext uri="{FF2B5EF4-FFF2-40B4-BE49-F238E27FC236}">
                <a16:creationId xmlns:a16="http://schemas.microsoft.com/office/drawing/2014/main" id="{5C2838CE-B9D8-467E-8B84-5C454526BF6A}"/>
              </a:ext>
            </a:extLst>
          </p:cNvPr>
          <p:cNvPicPr>
            <a:picLocks noChangeAspect="1"/>
          </p:cNvPicPr>
          <p:nvPr/>
        </p:nvPicPr>
        <p:blipFill>
          <a:blip r:embed="rId5"/>
          <a:stretch>
            <a:fillRect/>
          </a:stretch>
        </p:blipFill>
        <p:spPr>
          <a:xfrm>
            <a:off x="1371860" y="1619947"/>
            <a:ext cx="3961720" cy="3081338"/>
          </a:xfrm>
          <a:prstGeom prst="rect">
            <a:avLst/>
          </a:prstGeom>
        </p:spPr>
      </p:pic>
      <p:pic>
        <p:nvPicPr>
          <p:cNvPr id="11" name="Imagen 10">
            <a:extLst>
              <a:ext uri="{FF2B5EF4-FFF2-40B4-BE49-F238E27FC236}">
                <a16:creationId xmlns:a16="http://schemas.microsoft.com/office/drawing/2014/main" id="{AAE13B25-34E2-4836-90D7-5F03ABB5FAAC}"/>
              </a:ext>
            </a:extLst>
          </p:cNvPr>
          <p:cNvPicPr>
            <a:picLocks noChangeAspect="1"/>
          </p:cNvPicPr>
          <p:nvPr/>
        </p:nvPicPr>
        <p:blipFill>
          <a:blip r:embed="rId6"/>
          <a:stretch>
            <a:fillRect/>
          </a:stretch>
        </p:blipFill>
        <p:spPr>
          <a:xfrm>
            <a:off x="7125476" y="1627875"/>
            <a:ext cx="3961721" cy="3039769"/>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165" y="6156884"/>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a:xfrm>
            <a:off x="609759" y="6257884"/>
            <a:ext cx="2743200" cy="184666"/>
          </a:xfrm>
        </p:spPr>
        <p:txBody>
          <a:bodyPr/>
          <a:lstStyle/>
          <a:p>
            <a:pPr marL="12700">
              <a:spcBef>
                <a:spcPts val="15"/>
              </a:spcBef>
            </a:pPr>
            <a:r>
              <a:rPr lang="es-ES" spc="-5" dirty="0"/>
              <a:t>LAB 0.1. MODESOLVER</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600" y="4412516"/>
            <a:ext cx="11199971" cy="2292935"/>
          </a:xfrm>
          <a:prstGeom prst="rect">
            <a:avLst/>
          </a:prstGeom>
          <a:solidFill>
            <a:schemeClr val="bg1">
              <a:lumMod val="95000"/>
            </a:schemeClr>
          </a:solidFill>
          <a:ln w="28575">
            <a:solidFill>
              <a:srgbClr val="E0700D"/>
            </a:solidFill>
          </a:ln>
        </p:spPr>
        <p:txBody>
          <a:bodyPr wrap="square" rtlCol="0">
            <a:spAutoFit/>
          </a:bodyPr>
          <a:lstStyle/>
          <a:p>
            <a:pPr algn="just"/>
            <a:r>
              <a:rPr lang="en-US" sz="1100" dirty="0">
                <a:latin typeface="Arial" panose="020B0604020202020204" pitchFamily="34" charset="0"/>
                <a:cs typeface="Arial" panose="020B0604020202020204" pitchFamily="34" charset="0"/>
              </a:rPr>
              <a:t>Comment results (neff changes this way with width, polarization behavior, </a:t>
            </a:r>
            <a:r>
              <a:rPr lang="en-US" sz="1100" dirty="0" err="1">
                <a:latin typeface="Arial" panose="020B0604020202020204" pitchFamily="34" charset="0"/>
                <a:cs typeface="Arial" panose="020B0604020202020204" pitchFamily="34" charset="0"/>
              </a:rPr>
              <a:t>etc</a:t>
            </a:r>
            <a:r>
              <a:rPr lang="en-US" sz="1100" dirty="0">
                <a:latin typeface="Arial" panose="020B0604020202020204" pitchFamily="34" charset="0"/>
                <a:cs typeface="Arial" panose="020B0604020202020204" pitchFamily="34" charset="0"/>
              </a:rPr>
              <a:t>…)</a:t>
            </a:r>
          </a:p>
          <a:p>
            <a:pPr algn="just"/>
            <a:endParaRPr lang="en-US" sz="1100" dirty="0">
              <a:latin typeface="Arial" panose="020B0604020202020204" pitchFamily="34" charset="0"/>
              <a:cs typeface="Arial" panose="020B0604020202020204" pitchFamily="34" charset="0"/>
            </a:endParaRPr>
          </a:p>
          <a:p>
            <a:pPr algn="just"/>
            <a:r>
              <a:rPr lang="en-US" sz="1100" dirty="0">
                <a:latin typeface="Arial" panose="020B0604020202020204" pitchFamily="34" charset="0"/>
                <a:cs typeface="Arial" panose="020B0604020202020204" pitchFamily="34" charset="0"/>
              </a:rPr>
              <a:t>En primer </a:t>
            </a:r>
            <a:r>
              <a:rPr lang="en-US" sz="1100" dirty="0" err="1">
                <a:latin typeface="Arial" panose="020B0604020202020204" pitchFamily="34" charset="0"/>
                <a:cs typeface="Arial" panose="020B0604020202020204" pitchFamily="34" charset="0"/>
              </a:rPr>
              <a:t>lugar</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podemos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observar</a:t>
            </a:r>
            <a:r>
              <a:rPr lang="en-US" sz="1100" dirty="0">
                <a:latin typeface="Arial" panose="020B0604020202020204" pitchFamily="34" charset="0"/>
                <a:cs typeface="Arial" panose="020B0604020202020204" pitchFamily="34" charset="0"/>
              </a:rPr>
              <a:t> que los </a:t>
            </a:r>
            <a:r>
              <a:rPr lang="en-US" sz="1100" dirty="0" err="1">
                <a:latin typeface="Arial" panose="020B0604020202020204" pitchFamily="34" charset="0"/>
                <a:cs typeface="Arial" panose="020B0604020202020204" pitchFamily="34" charset="0"/>
              </a:rPr>
              <a:t>modos</a:t>
            </a:r>
            <a:r>
              <a:rPr lang="en-US" sz="1100" dirty="0">
                <a:latin typeface="Arial" panose="020B0604020202020204" pitchFamily="34" charset="0"/>
                <a:cs typeface="Arial" panose="020B0604020202020204" pitchFamily="34" charset="0"/>
              </a:rPr>
              <a:t> 0 y 2 </a:t>
            </a:r>
            <a:r>
              <a:rPr lang="en-US" sz="1100" dirty="0" err="1">
                <a:latin typeface="Arial" panose="020B0604020202020204" pitchFamily="34" charset="0"/>
                <a:cs typeface="Arial" panose="020B0604020202020204" pitchFamily="34" charset="0"/>
              </a:rPr>
              <a:t>corresponden</a:t>
            </a:r>
            <a:r>
              <a:rPr lang="en-US" sz="1100" dirty="0">
                <a:latin typeface="Arial" panose="020B0604020202020204" pitchFamily="34" charset="0"/>
                <a:cs typeface="Arial" panose="020B0604020202020204" pitchFamily="34" charset="0"/>
              </a:rPr>
              <a:t> al modo TE0 y TE1 </a:t>
            </a:r>
            <a:r>
              <a:rPr lang="en-US" sz="1100" dirty="0" err="1">
                <a:latin typeface="Arial" panose="020B0604020202020204" pitchFamily="34" charset="0"/>
                <a:cs typeface="Arial" panose="020B0604020202020204" pitchFamily="34" charset="0"/>
              </a:rPr>
              <a:t>respectivamente</a:t>
            </a:r>
            <a:r>
              <a:rPr lang="en-US" sz="1100" dirty="0">
                <a:latin typeface="Arial" panose="020B0604020202020204" pitchFamily="34" charset="0"/>
                <a:cs typeface="Arial" panose="020B0604020202020204" pitchFamily="34" charset="0"/>
              </a:rPr>
              <a:t>, y los </a:t>
            </a:r>
            <a:r>
              <a:rPr lang="en-US" sz="1100" dirty="0" err="1">
                <a:latin typeface="Arial" panose="020B0604020202020204" pitchFamily="34" charset="0"/>
                <a:cs typeface="Arial" panose="020B0604020202020204" pitchFamily="34" charset="0"/>
              </a:rPr>
              <a:t>modos</a:t>
            </a:r>
            <a:r>
              <a:rPr lang="en-US" sz="1100" dirty="0">
                <a:latin typeface="Arial" panose="020B0604020202020204" pitchFamily="34" charset="0"/>
                <a:cs typeface="Arial" panose="020B0604020202020204" pitchFamily="34" charset="0"/>
              </a:rPr>
              <a:t> 1 y 3 a los </a:t>
            </a:r>
            <a:r>
              <a:rPr lang="en-US" sz="1100" dirty="0" err="1">
                <a:latin typeface="Arial" panose="020B0604020202020204" pitchFamily="34" charset="0"/>
                <a:cs typeface="Arial" panose="020B0604020202020204" pitchFamily="34" charset="0"/>
              </a:rPr>
              <a:t>modos</a:t>
            </a:r>
            <a:r>
              <a:rPr lang="en-US" sz="1100" dirty="0">
                <a:latin typeface="Arial" panose="020B0604020202020204" pitchFamily="34" charset="0"/>
                <a:cs typeface="Arial" panose="020B0604020202020204" pitchFamily="34" charset="0"/>
              </a:rPr>
              <a:t> TM0 y TM1 </a:t>
            </a:r>
            <a:r>
              <a:rPr lang="en-US" sz="1100" dirty="0" err="1">
                <a:latin typeface="Arial" panose="020B0604020202020204" pitchFamily="34" charset="0"/>
                <a:cs typeface="Arial" panose="020B0604020202020204" pitchFamily="34" charset="0"/>
              </a:rPr>
              <a:t>respectivamente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Adicionalmente</a:t>
            </a:r>
            <a:r>
              <a:rPr lang="en-US" sz="1100" dirty="0">
                <a:latin typeface="Arial" panose="020B0604020202020204" pitchFamily="34" charset="0"/>
                <a:cs typeface="Arial" panose="020B0604020202020204" pitchFamily="34" charset="0"/>
              </a:rPr>
              <a:t>, se </a:t>
            </a:r>
            <a:r>
              <a:rPr lang="en-US" sz="1100" dirty="0" err="1">
                <a:latin typeface="Arial" panose="020B0604020202020204" pitchFamily="34" charset="0"/>
                <a:cs typeface="Arial" panose="020B0604020202020204" pitchFamily="34" charset="0"/>
              </a:rPr>
              <a:t>puede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ver</a:t>
            </a:r>
            <a:r>
              <a:rPr lang="en-US" sz="1100" dirty="0">
                <a:latin typeface="Arial" panose="020B0604020202020204" pitchFamily="34" charset="0"/>
                <a:cs typeface="Arial" panose="020B0604020202020204" pitchFamily="34" charset="0"/>
              </a:rPr>
              <a:t> que no hay un </a:t>
            </a:r>
            <a:r>
              <a:rPr lang="en-US" sz="1100" dirty="0" err="1">
                <a:latin typeface="Arial" panose="020B0604020202020204" pitchFamily="34" charset="0"/>
                <a:cs typeface="Arial" panose="020B0604020202020204" pitchFamily="34" charset="0"/>
              </a:rPr>
              <a:t>cambio</a:t>
            </a:r>
            <a:r>
              <a:rPr lang="en-US" sz="1100" dirty="0">
                <a:latin typeface="Arial" panose="020B0604020202020204" pitchFamily="34" charset="0"/>
                <a:cs typeface="Arial" panose="020B0604020202020204" pitchFamily="34" charset="0"/>
              </a:rPr>
              <a:t> de </a:t>
            </a:r>
            <a:r>
              <a:rPr lang="en-US" sz="1100" dirty="0" err="1">
                <a:latin typeface="Arial" panose="020B0604020202020204" pitchFamily="34" charset="0"/>
                <a:cs typeface="Arial" panose="020B0604020202020204" pitchFamily="34" charset="0"/>
              </a:rPr>
              <a:t>fracción</a:t>
            </a:r>
            <a:r>
              <a:rPr lang="en-US" sz="1100" dirty="0">
                <a:latin typeface="Arial" panose="020B0604020202020204" pitchFamily="34" charset="0"/>
                <a:cs typeface="Arial" panose="020B0604020202020204" pitchFamily="34" charset="0"/>
              </a:rPr>
              <a:t> de </a:t>
            </a:r>
            <a:r>
              <a:rPr lang="en-US" sz="1100" dirty="0" err="1">
                <a:latin typeface="Arial" panose="020B0604020202020204" pitchFamily="34" charset="0"/>
                <a:cs typeface="Arial" panose="020B0604020202020204" pitchFamily="34" charset="0"/>
              </a:rPr>
              <a:t>polarización</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pronunciado</a:t>
            </a:r>
            <a:r>
              <a:rPr lang="en-US" sz="1100" dirty="0">
                <a:latin typeface="Arial" panose="020B0604020202020204" pitchFamily="34" charset="0"/>
                <a:cs typeface="Arial" panose="020B0604020202020204" pitchFamily="34" charset="0"/>
              </a:rPr>
              <a:t> para </a:t>
            </a:r>
            <a:r>
              <a:rPr lang="en-US" sz="1100" dirty="0" err="1">
                <a:latin typeface="Arial" panose="020B0604020202020204" pitchFamily="34" charset="0"/>
                <a:cs typeface="Arial" panose="020B0604020202020204" pitchFamily="34" charset="0"/>
              </a:rPr>
              <a:t>todos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los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modos</a:t>
            </a:r>
            <a:r>
              <a:rPr lang="en-US" sz="1100" dirty="0">
                <a:latin typeface="Arial" panose="020B0604020202020204" pitchFamily="34" charset="0"/>
                <a:cs typeface="Arial" panose="020B0604020202020204" pitchFamily="34" charset="0"/>
              </a:rPr>
              <a:t>.</a:t>
            </a:r>
          </a:p>
          <a:p>
            <a:pPr algn="just"/>
            <a:endParaRPr lang="en-US" sz="1100" dirty="0">
              <a:latin typeface="Arial" panose="020B0604020202020204" pitchFamily="34" charset="0"/>
              <a:cs typeface="Arial" panose="020B0604020202020204" pitchFamily="34" charset="0"/>
            </a:endParaRPr>
          </a:p>
          <a:p>
            <a:pPr algn="just"/>
            <a:r>
              <a:rPr lang="en-US" sz="1100" dirty="0">
                <a:latin typeface="Arial" panose="020B0604020202020204" pitchFamily="34" charset="0"/>
                <a:cs typeface="Arial" panose="020B0604020202020204" pitchFamily="34" charset="0"/>
              </a:rPr>
              <a:t>Por </a:t>
            </a:r>
            <a:r>
              <a:rPr lang="en-US" sz="1100" dirty="0" err="1">
                <a:latin typeface="Arial" panose="020B0604020202020204" pitchFamily="34" charset="0"/>
                <a:cs typeface="Arial" panose="020B0604020202020204" pitchFamily="34" charset="0"/>
              </a:rPr>
              <a:t>otro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lado</a:t>
            </a:r>
            <a:r>
              <a:rPr lang="en-US" sz="1100" dirty="0">
                <a:latin typeface="Arial" panose="020B0604020202020204" pitchFamily="34" charset="0"/>
                <a:cs typeface="Arial" panose="020B0604020202020204" pitchFamily="34" charset="0"/>
              </a:rPr>
              <a:t>, para saber </a:t>
            </a:r>
            <a:r>
              <a:rPr lang="en-US" sz="1100" dirty="0" err="1">
                <a:latin typeface="Arial" panose="020B0604020202020204" pitchFamily="34" charset="0"/>
                <a:cs typeface="Arial" panose="020B0604020202020204" pitchFamily="34" charset="0"/>
              </a:rPr>
              <a:t>si</a:t>
            </a:r>
            <a:r>
              <a:rPr lang="en-US" sz="1100" dirty="0">
                <a:latin typeface="Arial" panose="020B0604020202020204" pitchFamily="34" charset="0"/>
                <a:cs typeface="Arial" panose="020B0604020202020204" pitchFamily="34" charset="0"/>
              </a:rPr>
              <a:t> un modo se </a:t>
            </a:r>
            <a:r>
              <a:rPr lang="en-US" sz="1100" dirty="0" err="1">
                <a:latin typeface="Arial" panose="020B0604020202020204" pitchFamily="34" charset="0"/>
                <a:cs typeface="Arial" panose="020B0604020202020204" pitchFamily="34" charset="0"/>
              </a:rPr>
              <a:t>propaga</a:t>
            </a:r>
            <a:r>
              <a:rPr lang="en-US" sz="1100" dirty="0">
                <a:latin typeface="Arial" panose="020B0604020202020204" pitchFamily="34" charset="0"/>
                <a:cs typeface="Arial" panose="020B0604020202020204" pitchFamily="34" charset="0"/>
              </a:rPr>
              <a:t> o no </a:t>
            </a:r>
            <a:r>
              <a:rPr lang="en-US" sz="1100" dirty="0" err="1">
                <a:latin typeface="Arial" panose="020B0604020202020204" pitchFamily="34" charset="0"/>
                <a:cs typeface="Arial" panose="020B0604020202020204" pitchFamily="34" charset="0"/>
              </a:rPr>
              <a:t>en</a:t>
            </a:r>
            <a:r>
              <a:rPr lang="en-US" sz="1100" dirty="0">
                <a:latin typeface="Arial" panose="020B0604020202020204" pitchFamily="34" charset="0"/>
                <a:cs typeface="Arial" panose="020B0604020202020204" pitchFamily="34" charset="0"/>
              </a:rPr>
              <a:t> una </a:t>
            </a:r>
            <a:r>
              <a:rPr lang="en-US" sz="1100" dirty="0" err="1">
                <a:latin typeface="Arial" panose="020B0604020202020204" pitchFamily="34" charset="0"/>
                <a:cs typeface="Arial" panose="020B0604020202020204" pitchFamily="34" charset="0"/>
              </a:rPr>
              <a:t>guía</a:t>
            </a:r>
            <a:r>
              <a:rPr lang="en-US" sz="1100" dirty="0">
                <a:latin typeface="Arial" panose="020B0604020202020204" pitchFamily="34" charset="0"/>
                <a:cs typeface="Arial" panose="020B0604020202020204" pitchFamily="34" charset="0"/>
              </a:rPr>
              <a:t> de </a:t>
            </a:r>
            <a:r>
              <a:rPr lang="en-US" sz="1100" dirty="0" err="1">
                <a:latin typeface="Arial" panose="020B0604020202020204" pitchFamily="34" charset="0"/>
                <a:cs typeface="Arial" panose="020B0604020202020204" pitchFamily="34" charset="0"/>
              </a:rPr>
              <a:t>onda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tiene</a:t>
            </a:r>
            <a:r>
              <a:rPr lang="en-US" sz="1100" dirty="0">
                <a:latin typeface="Arial" panose="020B0604020202020204" pitchFamily="34" charset="0"/>
                <a:cs typeface="Arial" panose="020B0604020202020204" pitchFamily="34" charset="0"/>
              </a:rPr>
              <a:t> que </a:t>
            </a:r>
            <a:r>
              <a:rPr lang="en-US" sz="1100" dirty="0" err="1">
                <a:latin typeface="Arial" panose="020B0604020202020204" pitchFamily="34" charset="0"/>
                <a:cs typeface="Arial" panose="020B0604020202020204" pitchFamily="34" charset="0"/>
              </a:rPr>
              <a:t>tener</a:t>
            </a:r>
            <a:r>
              <a:rPr lang="en-US" sz="1100" dirty="0">
                <a:latin typeface="Arial" panose="020B0604020202020204" pitchFamily="34" charset="0"/>
                <a:cs typeface="Arial" panose="020B0604020202020204" pitchFamily="34" charset="0"/>
              </a:rPr>
              <a:t> un </a:t>
            </a:r>
            <a:r>
              <a:rPr lang="en-US" sz="1100" dirty="0" err="1">
                <a:latin typeface="Arial" panose="020B0604020202020204" pitchFamily="34" charset="0"/>
                <a:cs typeface="Arial" panose="020B0604020202020204" pitchFamily="34" charset="0"/>
              </a:rPr>
              <a:t>índice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efectivo</a:t>
            </a:r>
            <a:r>
              <a:rPr lang="en-US" sz="1100" dirty="0">
                <a:latin typeface="Arial" panose="020B0604020202020204" pitchFamily="34" charset="0"/>
                <a:cs typeface="Arial" panose="020B0604020202020204" pitchFamily="34" charset="0"/>
              </a:rPr>
              <a:t> mayor al del cladding (1.44, SiO2). </a:t>
            </a:r>
            <a:r>
              <a:rPr lang="en-US" sz="1100" dirty="0" err="1">
                <a:latin typeface="Arial" panose="020B0604020202020204" pitchFamily="34" charset="0"/>
                <a:cs typeface="Arial" panose="020B0604020202020204" pitchFamily="34" charset="0"/>
              </a:rPr>
              <a:t>En</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este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caso</a:t>
            </a:r>
            <a:r>
              <a:rPr lang="en-US" sz="1100" dirty="0">
                <a:latin typeface="Arial" panose="020B0604020202020204" pitchFamily="34" charset="0"/>
                <a:cs typeface="Arial" panose="020B0604020202020204" pitchFamily="34" charset="0"/>
              </a:rPr>
              <a:t>, se </a:t>
            </a:r>
            <a:r>
              <a:rPr lang="en-US" sz="1100" dirty="0" err="1">
                <a:latin typeface="Arial" panose="020B0604020202020204" pitchFamily="34" charset="0"/>
                <a:cs typeface="Arial" panose="020B0604020202020204" pitchFamily="34" charset="0"/>
              </a:rPr>
              <a:t>puede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apreciar</a:t>
            </a:r>
            <a:r>
              <a:rPr lang="en-US" sz="1100" dirty="0">
                <a:latin typeface="Arial" panose="020B0604020202020204" pitchFamily="34" charset="0"/>
                <a:cs typeface="Arial" panose="020B0604020202020204" pitchFamily="34" charset="0"/>
              </a:rPr>
              <a:t> que los </a:t>
            </a:r>
            <a:r>
              <a:rPr lang="en-US" sz="1100" dirty="0" err="1">
                <a:latin typeface="Arial" panose="020B0604020202020204" pitchFamily="34" charset="0"/>
                <a:cs typeface="Arial" panose="020B0604020202020204" pitchFamily="34" charset="0"/>
              </a:rPr>
              <a:t>los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únicos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modos</a:t>
            </a:r>
            <a:r>
              <a:rPr lang="en-US" sz="1100" dirty="0">
                <a:latin typeface="Arial" panose="020B0604020202020204" pitchFamily="34" charset="0"/>
                <a:cs typeface="Arial" panose="020B0604020202020204" pitchFamily="34" charset="0"/>
              </a:rPr>
              <a:t> que se </a:t>
            </a:r>
            <a:r>
              <a:rPr lang="en-US" sz="1100" dirty="0" err="1">
                <a:latin typeface="Arial" panose="020B0604020202020204" pitchFamily="34" charset="0"/>
                <a:cs typeface="Arial" panose="020B0604020202020204" pitchFamily="34" charset="0"/>
              </a:rPr>
              <a:t>propagan</a:t>
            </a:r>
            <a:r>
              <a:rPr lang="en-US" sz="1100" dirty="0">
                <a:latin typeface="Arial" panose="020B0604020202020204" pitchFamily="34" charset="0"/>
                <a:cs typeface="Arial" panose="020B0604020202020204" pitchFamily="34" charset="0"/>
              </a:rPr>
              <a:t> para </a:t>
            </a:r>
            <a:r>
              <a:rPr lang="en-US" sz="1100" dirty="0" err="1">
                <a:latin typeface="Arial" panose="020B0604020202020204" pitchFamily="34" charset="0"/>
                <a:cs typeface="Arial" panose="020B0604020202020204" pitchFamily="34" charset="0"/>
              </a:rPr>
              <a:t>todo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el</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rango</a:t>
            </a:r>
            <a:r>
              <a:rPr lang="en-US" sz="1100" dirty="0">
                <a:latin typeface="Arial" panose="020B0604020202020204" pitchFamily="34" charset="0"/>
                <a:cs typeface="Arial" panose="020B0604020202020204" pitchFamily="34" charset="0"/>
              </a:rPr>
              <a:t> de </a:t>
            </a:r>
            <a:r>
              <a:rPr lang="en-US" sz="1100" dirty="0" err="1">
                <a:latin typeface="Arial" panose="020B0604020202020204" pitchFamily="34" charset="0"/>
                <a:cs typeface="Arial" panose="020B0604020202020204" pitchFamily="34" charset="0"/>
              </a:rPr>
              <a:t>anchos</a:t>
            </a:r>
            <a:r>
              <a:rPr lang="en-US" sz="1100" dirty="0">
                <a:latin typeface="Arial" panose="020B0604020202020204" pitchFamily="34" charset="0"/>
                <a:cs typeface="Arial" panose="020B0604020202020204" pitchFamily="34" charset="0"/>
              </a:rPr>
              <a:t> de </a:t>
            </a:r>
            <a:r>
              <a:rPr lang="en-US" sz="1100" dirty="0" err="1">
                <a:latin typeface="Arial" panose="020B0604020202020204" pitchFamily="34" charset="0"/>
                <a:cs typeface="Arial" panose="020B0604020202020204" pitchFamily="34" charset="0"/>
              </a:rPr>
              <a:t>guía</a:t>
            </a:r>
            <a:r>
              <a:rPr lang="en-US" sz="1100" dirty="0">
                <a:latin typeface="Arial" panose="020B0604020202020204" pitchFamily="34" charset="0"/>
                <a:cs typeface="Arial" panose="020B0604020202020204" pitchFamily="34" charset="0"/>
              </a:rPr>
              <a:t> de </a:t>
            </a:r>
            <a:r>
              <a:rPr lang="en-US" sz="1100" dirty="0" err="1">
                <a:latin typeface="Arial" panose="020B0604020202020204" pitchFamily="34" charset="0"/>
                <a:cs typeface="Arial" panose="020B0604020202020204" pitchFamily="34" charset="0"/>
              </a:rPr>
              <a:t>onda</a:t>
            </a:r>
            <a:r>
              <a:rPr lang="en-US" sz="1100" dirty="0">
                <a:latin typeface="Arial" panose="020B0604020202020204" pitchFamily="34" charset="0"/>
                <a:cs typeface="Arial" panose="020B0604020202020204" pitchFamily="34" charset="0"/>
              </a:rPr>
              <a:t> son los </a:t>
            </a:r>
            <a:r>
              <a:rPr lang="en-US" sz="1100" dirty="0" err="1">
                <a:latin typeface="Arial" panose="020B0604020202020204" pitchFamily="34" charset="0"/>
                <a:cs typeface="Arial" panose="020B0604020202020204" pitchFamily="34" charset="0"/>
              </a:rPr>
              <a:t>modos</a:t>
            </a:r>
            <a:r>
              <a:rPr lang="en-US" sz="1100" dirty="0">
                <a:latin typeface="Arial" panose="020B0604020202020204" pitchFamily="34" charset="0"/>
                <a:cs typeface="Arial" panose="020B0604020202020204" pitchFamily="34" charset="0"/>
              </a:rPr>
              <a:t> 0 y 1, </a:t>
            </a:r>
            <a:r>
              <a:rPr lang="en-US" sz="1100" dirty="0" err="1">
                <a:latin typeface="Arial" panose="020B0604020202020204" pitchFamily="34" charset="0"/>
                <a:cs typeface="Arial" panose="020B0604020202020204" pitchFamily="34" charset="0"/>
              </a:rPr>
              <a:t>mientras</a:t>
            </a:r>
            <a:r>
              <a:rPr lang="en-US" sz="1100" dirty="0">
                <a:latin typeface="Arial" panose="020B0604020202020204" pitchFamily="34" charset="0"/>
                <a:cs typeface="Arial" panose="020B0604020202020204" pitchFamily="34" charset="0"/>
              </a:rPr>
              <a:t> que </a:t>
            </a:r>
            <a:r>
              <a:rPr lang="en-US" sz="1100" dirty="0" err="1">
                <a:latin typeface="Arial" panose="020B0604020202020204" pitchFamily="34" charset="0"/>
                <a:cs typeface="Arial" panose="020B0604020202020204" pitchFamily="34" charset="0"/>
              </a:rPr>
              <a:t>el</a:t>
            </a:r>
            <a:r>
              <a:rPr lang="en-US" sz="1100" dirty="0">
                <a:latin typeface="Arial" panose="020B0604020202020204" pitchFamily="34" charset="0"/>
                <a:cs typeface="Arial" panose="020B0604020202020204" pitchFamily="34" charset="0"/>
              </a:rPr>
              <a:t> modo 2 </a:t>
            </a:r>
            <a:r>
              <a:rPr lang="en-US" sz="1100" dirty="0" err="1">
                <a:latin typeface="Arial" panose="020B0604020202020204" pitchFamily="34" charset="0"/>
                <a:cs typeface="Arial" panose="020B0604020202020204" pitchFamily="34" charset="0"/>
              </a:rPr>
              <a:t>empezará</a:t>
            </a:r>
            <a:r>
              <a:rPr lang="en-US" sz="1100" dirty="0">
                <a:latin typeface="Arial" panose="020B0604020202020204" pitchFamily="34" charset="0"/>
                <a:cs typeface="Arial" panose="020B0604020202020204" pitchFamily="34" charset="0"/>
              </a:rPr>
              <a:t> a </a:t>
            </a:r>
            <a:r>
              <a:rPr lang="en-US" sz="1100" dirty="0" err="1">
                <a:latin typeface="Arial" panose="020B0604020202020204" pitchFamily="34" charset="0"/>
                <a:cs typeface="Arial" panose="020B0604020202020204" pitchFamily="34" charset="0"/>
              </a:rPr>
              <a:t>propagarse</a:t>
            </a:r>
            <a:r>
              <a:rPr lang="en-US" sz="1100" dirty="0">
                <a:latin typeface="Arial" panose="020B0604020202020204" pitchFamily="34" charset="0"/>
                <a:cs typeface="Arial" panose="020B0604020202020204" pitchFamily="34" charset="0"/>
              </a:rPr>
              <a:t> para </a:t>
            </a:r>
            <a:r>
              <a:rPr lang="en-US" sz="1100" dirty="0" err="1">
                <a:latin typeface="Arial" panose="020B0604020202020204" pitchFamily="34" charset="0"/>
                <a:cs typeface="Arial" panose="020B0604020202020204" pitchFamily="34" charset="0"/>
              </a:rPr>
              <a:t>anchos</a:t>
            </a:r>
            <a:r>
              <a:rPr lang="en-US" sz="1100" dirty="0">
                <a:latin typeface="Arial" panose="020B0604020202020204" pitchFamily="34" charset="0"/>
                <a:cs typeface="Arial" panose="020B0604020202020204" pitchFamily="34" charset="0"/>
              </a:rPr>
              <a:t> de </a:t>
            </a:r>
            <a:r>
              <a:rPr lang="en-US" sz="1100" dirty="0" err="1">
                <a:latin typeface="Arial" panose="020B0604020202020204" pitchFamily="34" charset="0"/>
                <a:cs typeface="Arial" panose="020B0604020202020204" pitchFamily="34" charset="0"/>
              </a:rPr>
              <a:t>guía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mayores</a:t>
            </a:r>
            <a:r>
              <a:rPr lang="en-US" sz="1100" dirty="0">
                <a:latin typeface="Arial" panose="020B0604020202020204" pitchFamily="34" charset="0"/>
                <a:cs typeface="Arial" panose="020B0604020202020204" pitchFamily="34" charset="0"/>
              </a:rPr>
              <a:t> a 1.3 um. Por contra, </a:t>
            </a:r>
            <a:r>
              <a:rPr lang="en-US" sz="1100" dirty="0" err="1">
                <a:latin typeface="Arial" panose="020B0604020202020204" pitchFamily="34" charset="0"/>
                <a:cs typeface="Arial" panose="020B0604020202020204" pitchFamily="34" charset="0"/>
              </a:rPr>
              <a:t>el</a:t>
            </a:r>
            <a:r>
              <a:rPr lang="en-US" sz="1100" dirty="0">
                <a:latin typeface="Arial" panose="020B0604020202020204" pitchFamily="34" charset="0"/>
                <a:cs typeface="Arial" panose="020B0604020202020204" pitchFamily="34" charset="0"/>
              </a:rPr>
              <a:t> modo 3 no se </a:t>
            </a:r>
            <a:r>
              <a:rPr lang="en-US" sz="1100" dirty="0" err="1">
                <a:latin typeface="Arial" panose="020B0604020202020204" pitchFamily="34" charset="0"/>
                <a:cs typeface="Arial" panose="020B0604020202020204" pitchFamily="34" charset="0"/>
              </a:rPr>
              <a:t>propagará</a:t>
            </a:r>
            <a:r>
              <a:rPr lang="en-US" sz="1100" dirty="0">
                <a:latin typeface="Arial" panose="020B0604020202020204" pitchFamily="34" charset="0"/>
                <a:cs typeface="Arial" panose="020B0604020202020204" pitchFamily="34" charset="0"/>
              </a:rPr>
              <a:t> para </a:t>
            </a:r>
            <a:r>
              <a:rPr lang="en-US" sz="1100" dirty="0" err="1">
                <a:latin typeface="Arial" panose="020B0604020202020204" pitchFamily="34" charset="0"/>
                <a:cs typeface="Arial" panose="020B0604020202020204" pitchFamily="34" charset="0"/>
              </a:rPr>
              <a:t>ningún</a:t>
            </a:r>
            <a:r>
              <a:rPr lang="en-US" sz="1100" dirty="0">
                <a:latin typeface="Arial" panose="020B0604020202020204" pitchFamily="34" charset="0"/>
                <a:cs typeface="Arial" panose="020B0604020202020204" pitchFamily="34" charset="0"/>
              </a:rPr>
              <a:t> ancho dentro del </a:t>
            </a:r>
            <a:r>
              <a:rPr lang="en-US" sz="1100" dirty="0" err="1">
                <a:latin typeface="Arial" panose="020B0604020202020204" pitchFamily="34" charset="0"/>
                <a:cs typeface="Arial" panose="020B0604020202020204" pitchFamily="34" charset="0"/>
              </a:rPr>
              <a:t>rango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propuesto</a:t>
            </a:r>
            <a:r>
              <a:rPr lang="en-US" sz="1100" dirty="0">
                <a:latin typeface="Arial" panose="020B0604020202020204" pitchFamily="34" charset="0"/>
                <a:cs typeface="Arial" panose="020B0604020202020204" pitchFamily="34" charset="0"/>
              </a:rPr>
              <a:t>, es </a:t>
            </a:r>
            <a:r>
              <a:rPr lang="en-US" sz="1100" dirty="0" err="1">
                <a:latin typeface="Arial" panose="020B0604020202020204" pitchFamily="34" charset="0"/>
                <a:cs typeface="Arial" panose="020B0604020202020204" pitchFamily="34" charset="0"/>
              </a:rPr>
              <a:t>decir</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este</a:t>
            </a:r>
            <a:r>
              <a:rPr lang="en-US" sz="1100" dirty="0">
                <a:latin typeface="Arial" panose="020B0604020202020204" pitchFamily="34" charset="0"/>
                <a:cs typeface="Arial" panose="020B0604020202020204" pitchFamily="34" charset="0"/>
              </a:rPr>
              <a:t> modo </a:t>
            </a:r>
            <a:r>
              <a:rPr lang="en-US" sz="1100" dirty="0" err="1">
                <a:latin typeface="Arial" panose="020B0604020202020204" pitchFamily="34" charset="0"/>
                <a:cs typeface="Arial" panose="020B0604020202020204" pitchFamily="34" charset="0"/>
              </a:rPr>
              <a:t>está</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en</a:t>
            </a:r>
            <a:r>
              <a:rPr lang="en-US" sz="1100" dirty="0">
                <a:latin typeface="Arial" panose="020B0604020202020204" pitchFamily="34" charset="0"/>
                <a:cs typeface="Arial" panose="020B0604020202020204" pitchFamily="34" charset="0"/>
              </a:rPr>
              <a:t> corte.</a:t>
            </a:r>
          </a:p>
          <a:p>
            <a:pPr algn="just"/>
            <a:endParaRPr lang="en-US" sz="1100" dirty="0">
              <a:latin typeface="Arial" panose="020B0604020202020204" pitchFamily="34" charset="0"/>
              <a:cs typeface="Arial" panose="020B0604020202020204" pitchFamily="34" charset="0"/>
            </a:endParaRPr>
          </a:p>
          <a:p>
            <a:pPr algn="just"/>
            <a:r>
              <a:rPr lang="en-US" sz="1100" dirty="0">
                <a:latin typeface="Arial" panose="020B0604020202020204" pitchFamily="34" charset="0"/>
                <a:cs typeface="Arial" panose="020B0604020202020204" pitchFamily="34" charset="0"/>
              </a:rPr>
              <a:t>También se </a:t>
            </a:r>
            <a:r>
              <a:rPr lang="en-US" sz="1100" dirty="0" err="1">
                <a:latin typeface="Arial" panose="020B0604020202020204" pitchFamily="34" charset="0"/>
                <a:cs typeface="Arial" panose="020B0604020202020204" pitchFamily="34" charset="0"/>
              </a:rPr>
              <a:t>observa</a:t>
            </a:r>
            <a:r>
              <a:rPr lang="en-US" sz="1100" dirty="0">
                <a:latin typeface="Arial" panose="020B0604020202020204" pitchFamily="34" charset="0"/>
                <a:cs typeface="Arial" panose="020B0604020202020204" pitchFamily="34" charset="0"/>
              </a:rPr>
              <a:t> que </a:t>
            </a:r>
            <a:r>
              <a:rPr lang="en-US" sz="1100" dirty="0" err="1">
                <a:latin typeface="Arial" panose="020B0604020202020204" pitchFamily="34" charset="0"/>
                <a:cs typeface="Arial" panose="020B0604020202020204" pitchFamily="34" charset="0"/>
              </a:rPr>
              <a:t>el</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índice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efectivo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aumenta</a:t>
            </a:r>
            <a:r>
              <a:rPr lang="en-US" sz="1100" dirty="0">
                <a:latin typeface="Arial" panose="020B0604020202020204" pitchFamily="34" charset="0"/>
                <a:cs typeface="Arial" panose="020B0604020202020204" pitchFamily="34" charset="0"/>
              </a:rPr>
              <a:t> a </a:t>
            </a:r>
            <a:r>
              <a:rPr lang="en-US" sz="1100" dirty="0" err="1">
                <a:latin typeface="Arial" panose="020B0604020202020204" pitchFamily="34" charset="0"/>
                <a:cs typeface="Arial" panose="020B0604020202020204" pitchFamily="34" charset="0"/>
              </a:rPr>
              <a:t>medida</a:t>
            </a:r>
            <a:r>
              <a:rPr lang="en-US" sz="1100" dirty="0">
                <a:latin typeface="Arial" panose="020B0604020202020204" pitchFamily="34" charset="0"/>
                <a:cs typeface="Arial" panose="020B0604020202020204" pitchFamily="34" charset="0"/>
              </a:rPr>
              <a:t> que </a:t>
            </a:r>
            <a:r>
              <a:rPr lang="en-US" sz="1100" dirty="0" err="1">
                <a:latin typeface="Arial" panose="020B0604020202020204" pitchFamily="34" charset="0"/>
                <a:cs typeface="Arial" panose="020B0604020202020204" pitchFamily="34" charset="0"/>
              </a:rPr>
              <a:t>ensanchamos</a:t>
            </a:r>
            <a:r>
              <a:rPr lang="en-US" sz="1100" dirty="0">
                <a:latin typeface="Arial" panose="020B0604020202020204" pitchFamily="34" charset="0"/>
                <a:cs typeface="Arial" panose="020B0604020202020204" pitchFamily="34" charset="0"/>
              </a:rPr>
              <a:t> la </a:t>
            </a:r>
            <a:r>
              <a:rPr lang="en-US" sz="1100" dirty="0" err="1">
                <a:latin typeface="Arial" panose="020B0604020202020204" pitchFamily="34" charset="0"/>
                <a:cs typeface="Arial" panose="020B0604020202020204" pitchFamily="34" charset="0"/>
              </a:rPr>
              <a:t>guía</a:t>
            </a:r>
            <a:r>
              <a:rPr lang="en-US" sz="1100" dirty="0">
                <a:latin typeface="Arial" panose="020B0604020202020204" pitchFamily="34" charset="0"/>
                <a:cs typeface="Arial" panose="020B0604020202020204" pitchFamily="34" charset="0"/>
              </a:rPr>
              <a:t> de </a:t>
            </a:r>
            <a:r>
              <a:rPr lang="en-US" sz="1100" dirty="0" err="1">
                <a:latin typeface="Arial" panose="020B0604020202020204" pitchFamily="34" charset="0"/>
                <a:cs typeface="Arial" panose="020B0604020202020204" pitchFamily="34" charset="0"/>
              </a:rPr>
              <a:t>onda</a:t>
            </a:r>
            <a:r>
              <a:rPr lang="en-US" sz="1100" dirty="0">
                <a:latin typeface="Arial" panose="020B0604020202020204" pitchFamily="34" charset="0"/>
                <a:cs typeface="Arial" panose="020B0604020202020204" pitchFamily="34" charset="0"/>
              </a:rPr>
              <a:t>. Esto es </a:t>
            </a:r>
            <a:r>
              <a:rPr lang="en-US" sz="1100" dirty="0" err="1">
                <a:latin typeface="Arial" panose="020B0604020202020204" pitchFamily="34" charset="0"/>
                <a:cs typeface="Arial" panose="020B0604020202020204" pitchFamily="34" charset="0"/>
              </a:rPr>
              <a:t>debido</a:t>
            </a:r>
            <a:r>
              <a:rPr lang="en-US" sz="1100" dirty="0">
                <a:latin typeface="Arial" panose="020B0604020202020204" pitchFamily="34" charset="0"/>
                <a:cs typeface="Arial" panose="020B0604020202020204" pitchFamily="34" charset="0"/>
              </a:rPr>
              <a:t> a que </a:t>
            </a:r>
            <a:r>
              <a:rPr lang="en-US" sz="1100" dirty="0" err="1">
                <a:latin typeface="Arial" panose="020B0604020202020204" pitchFamily="34" charset="0"/>
                <a:cs typeface="Arial" panose="020B0604020202020204" pitchFamily="34" charset="0"/>
              </a:rPr>
              <a:t>el</a:t>
            </a:r>
            <a:r>
              <a:rPr lang="en-US" sz="1100" dirty="0">
                <a:latin typeface="Arial" panose="020B0604020202020204" pitchFamily="34" charset="0"/>
                <a:cs typeface="Arial" panose="020B0604020202020204" pitchFamily="34" charset="0"/>
              </a:rPr>
              <a:t> modo </a:t>
            </a:r>
            <a:r>
              <a:rPr lang="en-US" sz="1100" dirty="0" err="1">
                <a:latin typeface="Arial" panose="020B0604020202020204" pitchFamily="34" charset="0"/>
                <a:cs typeface="Arial" panose="020B0604020202020204" pitchFamily="34" charset="0"/>
              </a:rPr>
              <a:t>óptico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queda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mejor</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confinado</a:t>
            </a:r>
            <a:r>
              <a:rPr lang="en-US" sz="1100" dirty="0">
                <a:latin typeface="Arial" panose="020B0604020202020204" pitchFamily="34" charset="0"/>
                <a:cs typeface="Arial" panose="020B0604020202020204" pitchFamily="34" charset="0"/>
              </a:rPr>
              <a:t>, y al </a:t>
            </a:r>
            <a:r>
              <a:rPr lang="en-US" sz="1100" dirty="0" err="1">
                <a:latin typeface="Arial" panose="020B0604020202020204" pitchFamily="34" charset="0"/>
                <a:cs typeface="Arial" panose="020B0604020202020204" pitchFamily="34" charset="0"/>
              </a:rPr>
              <a:t>viajar</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una</a:t>
            </a:r>
            <a:r>
              <a:rPr lang="en-US" sz="1100" dirty="0">
                <a:latin typeface="Arial" panose="020B0604020202020204" pitchFamily="34" charset="0"/>
                <a:cs typeface="Arial" panose="020B0604020202020204" pitchFamily="34" charset="0"/>
              </a:rPr>
              <a:t> mayor </a:t>
            </a:r>
            <a:r>
              <a:rPr lang="en-US" sz="1100" dirty="0" err="1">
                <a:latin typeface="Arial" panose="020B0604020202020204" pitchFamily="34" charset="0"/>
                <a:cs typeface="Arial" panose="020B0604020202020204" pitchFamily="34" charset="0"/>
              </a:rPr>
              <a:t>fracción</a:t>
            </a:r>
            <a:r>
              <a:rPr lang="en-US" sz="1100" dirty="0">
                <a:latin typeface="Arial" panose="020B0604020202020204" pitchFamily="34" charset="0"/>
                <a:cs typeface="Arial" panose="020B0604020202020204" pitchFamily="34" charset="0"/>
              </a:rPr>
              <a:t> de luz </a:t>
            </a:r>
            <a:r>
              <a:rPr lang="en-US" sz="1100" dirty="0" err="1">
                <a:latin typeface="Arial" panose="020B0604020202020204" pitchFamily="34" charset="0"/>
                <a:cs typeface="Arial" panose="020B0604020202020204" pitchFamily="34" charset="0"/>
              </a:rPr>
              <a:t>por</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el</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núcleo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cuyo</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índice</a:t>
            </a:r>
            <a:r>
              <a:rPr lang="en-US" sz="1100" dirty="0">
                <a:latin typeface="Arial" panose="020B0604020202020204" pitchFamily="34" charset="0"/>
                <a:cs typeface="Arial" panose="020B0604020202020204" pitchFamily="34" charset="0"/>
              </a:rPr>
              <a:t> de </a:t>
            </a:r>
            <a:r>
              <a:rPr lang="en-US" sz="1100" dirty="0" err="1">
                <a:latin typeface="Arial" panose="020B0604020202020204" pitchFamily="34" charset="0"/>
                <a:cs typeface="Arial" panose="020B0604020202020204" pitchFamily="34" charset="0"/>
              </a:rPr>
              <a:t>refracción</a:t>
            </a:r>
            <a:r>
              <a:rPr lang="en-US" sz="1100" dirty="0">
                <a:latin typeface="Arial" panose="020B0604020202020204" pitchFamily="34" charset="0"/>
                <a:cs typeface="Arial" panose="020B0604020202020204" pitchFamily="34" charset="0"/>
              </a:rPr>
              <a:t> es </a:t>
            </a:r>
            <a:r>
              <a:rPr lang="en-US" sz="1100" dirty="0" err="1">
                <a:latin typeface="Arial" panose="020B0604020202020204" pitchFamily="34" charset="0"/>
                <a:cs typeface="Arial" panose="020B0604020202020204" pitchFamily="34" charset="0"/>
              </a:rPr>
              <a:t>más</a:t>
            </a:r>
            <a:r>
              <a:rPr lang="en-US" sz="1100" dirty="0">
                <a:latin typeface="Arial" panose="020B0604020202020204" pitchFamily="34" charset="0"/>
                <a:cs typeface="Arial" panose="020B0604020202020204" pitchFamily="34" charset="0"/>
              </a:rPr>
              <a:t> alto), </a:t>
            </a:r>
            <a:r>
              <a:rPr lang="en-US" sz="1100" dirty="0" err="1">
                <a:latin typeface="Arial" panose="020B0604020202020204" pitchFamily="34" charset="0"/>
                <a:cs typeface="Arial" panose="020B0604020202020204" pitchFamily="34" charset="0"/>
              </a:rPr>
              <a:t>el</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índice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efectivo</a:t>
            </a:r>
            <a:r>
              <a:rPr lang="en-US" sz="1100" dirty="0">
                <a:latin typeface="Arial" panose="020B0604020202020204" pitchFamily="34" charset="0"/>
                <a:cs typeface="Arial" panose="020B0604020202020204" pitchFamily="34" charset="0"/>
              </a:rPr>
              <a:t> global del modo se </a:t>
            </a:r>
            <a:r>
              <a:rPr lang="en-US" sz="1100" dirty="0" err="1">
                <a:latin typeface="Arial" panose="020B0604020202020204" pitchFamily="34" charset="0"/>
                <a:cs typeface="Arial" panose="020B0604020202020204" pitchFamily="34" charset="0"/>
              </a:rPr>
              <a:t>incrementa</a:t>
            </a:r>
            <a:r>
              <a:rPr lang="en-US" sz="1100" dirty="0">
                <a:latin typeface="Arial" panose="020B0604020202020204" pitchFamily="34" charset="0"/>
                <a:cs typeface="Arial" panose="020B0604020202020204" pitchFamily="34" charset="0"/>
              </a:rPr>
              <a:t>. </a:t>
            </a:r>
          </a:p>
          <a:p>
            <a:pPr algn="just"/>
            <a:r>
              <a:rPr lang="en-US" sz="1100" dirty="0" err="1">
                <a:latin typeface="Arial" panose="020B0604020202020204" pitchFamily="34" charset="0"/>
                <a:cs typeface="Arial" panose="020B0604020202020204" pitchFamily="34" charset="0"/>
              </a:rPr>
              <a:t>Además</a:t>
            </a:r>
            <a:r>
              <a:rPr lang="en-US" sz="1100" dirty="0">
                <a:latin typeface="Arial" panose="020B0604020202020204" pitchFamily="34" charset="0"/>
                <a:cs typeface="Arial" panose="020B0604020202020204" pitchFamily="34" charset="0"/>
              </a:rPr>
              <a:t>, con </a:t>
            </a:r>
            <a:r>
              <a:rPr lang="en-US" sz="1100" dirty="0" err="1">
                <a:latin typeface="Arial" panose="020B0604020202020204" pitchFamily="34" charset="0"/>
                <a:cs typeface="Arial" panose="020B0604020202020204" pitchFamily="34" charset="0"/>
              </a:rPr>
              <a:t>el</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aumento</a:t>
            </a:r>
            <a:r>
              <a:rPr lang="en-US" sz="1100" dirty="0">
                <a:latin typeface="Arial" panose="020B0604020202020204" pitchFamily="34" charset="0"/>
                <a:cs typeface="Arial" panose="020B0604020202020204" pitchFamily="34" charset="0"/>
              </a:rPr>
              <a:t> del ancho de la </a:t>
            </a:r>
            <a:r>
              <a:rPr lang="en-US" sz="1100" dirty="0" err="1">
                <a:latin typeface="Arial" panose="020B0604020202020204" pitchFamily="34" charset="0"/>
                <a:cs typeface="Arial" panose="020B0604020202020204" pitchFamily="34" charset="0"/>
              </a:rPr>
              <a:t>guía</a:t>
            </a:r>
            <a:r>
              <a:rPr lang="en-US" sz="1100" dirty="0">
                <a:latin typeface="Arial" panose="020B0604020202020204" pitchFamily="34" charset="0"/>
                <a:cs typeface="Arial" panose="020B0604020202020204" pitchFamily="34" charset="0"/>
              </a:rPr>
              <a:t> también hay un </a:t>
            </a:r>
            <a:r>
              <a:rPr lang="en-US" sz="1100" dirty="0" err="1">
                <a:latin typeface="Arial" panose="020B0604020202020204" pitchFamily="34" charset="0"/>
                <a:cs typeface="Arial" panose="020B0604020202020204" pitchFamily="34" charset="0"/>
              </a:rPr>
              <a:t>aumento</a:t>
            </a:r>
            <a:r>
              <a:rPr lang="en-US" sz="1100" dirty="0">
                <a:latin typeface="Arial" panose="020B0604020202020204" pitchFamily="34" charset="0"/>
                <a:cs typeface="Arial" panose="020B0604020202020204" pitchFamily="34" charset="0"/>
              </a:rPr>
              <a:t> de los </a:t>
            </a:r>
            <a:r>
              <a:rPr lang="en-US" sz="1100" dirty="0" err="1">
                <a:latin typeface="Arial" panose="020B0604020202020204" pitchFamily="34" charset="0"/>
                <a:cs typeface="Arial" panose="020B0604020202020204" pitchFamily="34" charset="0"/>
              </a:rPr>
              <a:t>modos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propagados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ya</a:t>
            </a:r>
            <a:r>
              <a:rPr lang="en-US" sz="1100" dirty="0">
                <a:latin typeface="Arial" panose="020B0604020202020204" pitchFamily="34" charset="0"/>
                <a:cs typeface="Arial" panose="020B0604020202020204" pitchFamily="34" charset="0"/>
              </a:rPr>
              <a:t> que la luz </a:t>
            </a:r>
            <a:r>
              <a:rPr lang="en-US" sz="1100" dirty="0" err="1">
                <a:latin typeface="Arial" panose="020B0604020202020204" pitchFamily="34" charset="0"/>
                <a:cs typeface="Arial" panose="020B0604020202020204" pitchFamily="34" charset="0"/>
              </a:rPr>
              <a:t>tiene</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más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espacio</a:t>
            </a:r>
            <a:r>
              <a:rPr lang="en-US" sz="1100" dirty="0">
                <a:latin typeface="Arial" panose="020B0604020202020204" pitchFamily="34" charset="0"/>
                <a:cs typeface="Arial" panose="020B0604020202020204" pitchFamily="34" charset="0"/>
              </a:rPr>
              <a:t> para </a:t>
            </a:r>
            <a:r>
              <a:rPr lang="en-US" sz="1100" dirty="0" err="1">
                <a:latin typeface="Arial" panose="020B0604020202020204" pitchFamily="34" charset="0"/>
                <a:cs typeface="Arial" panose="020B0604020202020204" pitchFamily="34" charset="0"/>
              </a:rPr>
              <a:t>poder</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albergar</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mayores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patrones</a:t>
            </a:r>
            <a:r>
              <a:rPr lang="en-US" sz="1100" dirty="0">
                <a:latin typeface="Arial" panose="020B0604020202020204" pitchFamily="34" charset="0"/>
                <a:cs typeface="Arial" panose="020B0604020202020204" pitchFamily="34" charset="0"/>
              </a:rPr>
              <a:t> de luz </a:t>
            </a:r>
            <a:r>
              <a:rPr lang="en-US" sz="1100" dirty="0" err="1">
                <a:latin typeface="Arial" panose="020B0604020202020204" pitchFamily="34" charset="0"/>
                <a:cs typeface="Arial" panose="020B0604020202020204" pitchFamily="34" charset="0"/>
              </a:rPr>
              <a:t>permitidos</a:t>
            </a:r>
            <a:r>
              <a:rPr lang="en-US" sz="1100" dirty="0">
                <a:latin typeface="Arial" panose="020B0604020202020204" pitchFamily="34" charset="0"/>
                <a:cs typeface="Arial" panose="020B0604020202020204" pitchFamily="34" charset="0"/>
              </a:rPr>
              <a:t>.</a:t>
            </a:r>
          </a:p>
        </p:txBody>
      </p:sp>
      <p:sp>
        <p:nvSpPr>
          <p:cNvPr id="7" name="Rectángulo 6">
            <a:extLst>
              <a:ext uri="{FF2B5EF4-FFF2-40B4-BE49-F238E27FC236}">
                <a16:creationId xmlns:a16="http://schemas.microsoft.com/office/drawing/2014/main" id="{FBC7D187-267A-ADD4-764C-D3820B8ED302}"/>
              </a:ext>
            </a:extLst>
          </p:cNvPr>
          <p:cNvSpPr/>
          <p:nvPr/>
        </p:nvSpPr>
        <p:spPr>
          <a:xfrm>
            <a:off x="609600" y="1219200"/>
            <a:ext cx="11199971" cy="305357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159" y="247210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plot here</a:t>
            </a:r>
          </a:p>
        </p:txBody>
      </p:sp>
      <p:pic>
        <p:nvPicPr>
          <p:cNvPr id="5" name="Imagen 4">
            <a:extLst>
              <a:ext uri="{FF2B5EF4-FFF2-40B4-BE49-F238E27FC236}">
                <a16:creationId xmlns:a16="http://schemas.microsoft.com/office/drawing/2014/main" id="{1ADA4AE6-2692-46AD-BB4E-E25E2E65533B}"/>
              </a:ext>
            </a:extLst>
          </p:cNvPr>
          <p:cNvPicPr>
            <a:picLocks noChangeAspect="1"/>
          </p:cNvPicPr>
          <p:nvPr/>
        </p:nvPicPr>
        <p:blipFill>
          <a:blip r:embed="rId5"/>
          <a:stretch>
            <a:fillRect/>
          </a:stretch>
        </p:blipFill>
        <p:spPr>
          <a:xfrm>
            <a:off x="3656362" y="1313726"/>
            <a:ext cx="4978173" cy="2898008"/>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07125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Waveguide compact model</a:t>
                </a:r>
                <a:br>
                  <a:rPr lang="en-US" sz="2500" spc="-5" dirty="0">
                    <a:latin typeface="+mj-lt"/>
                    <a:cs typeface="Lucida Sans"/>
                  </a:rPr>
                </a:br>
                <a:r>
                  <a:rPr lang="en-US" b="0" dirty="0"/>
                  <a:t>Let’s model the waveguide using a second order polynomial: </a:t>
                </a:r>
                <a:br>
                  <a:rPr lang="en-US" b="0" dirty="0"/>
                </a:b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𝑒𝑓𝑓</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3</m:t>
                          </m:r>
                        </m:sub>
                      </m:sSub>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e>
                        <m:sup>
                          <m:r>
                            <a:rPr lang="es-ES" b="0" i="1" smtClean="0">
                              <a:latin typeface="Cambria Math" panose="02040503050406030204" pitchFamily="18" charset="0"/>
                            </a:rPr>
                            <m:t>2</m:t>
                          </m:r>
                        </m:sup>
                      </m:sSup>
                    </m:oMath>
                  </m:oMathPara>
                </a14:m>
                <a:br>
                  <a:rPr lang="en-US" b="0" dirty="0"/>
                </a:br>
                <a:endParaRPr lang="en-US" sz="2500" b="0" dirty="0">
                  <a:latin typeface="+mj-lt"/>
                  <a:cs typeface="Lucida Sans"/>
                </a:endParaRPr>
              </a:p>
            </p:txBody>
          </p:sp>
        </mc:Choice>
        <mc:Fallback xmlns="">
          <p:sp>
            <p:nvSpPr>
              <p:cNvPr id="16" name="object 16">
                <a:extLst>
                  <a:ext uri="{FF2B5EF4-FFF2-40B4-BE49-F238E27FC236}">
                    <a16:creationId xmlns:a16="http://schemas.microsoft.com/office/drawing/2014/main" id="{394400B4-EE16-8E85-AB54-E82FE3B29345}"/>
                  </a:ext>
                </a:extLst>
              </p:cNvPr>
              <p:cNvSpPr txBox="1">
                <a:spLocks noGrp="1" noRot="1" noChangeAspect="1" noMove="1" noResize="1" noEditPoints="1" noAdjustHandles="1" noChangeArrowheads="1" noChangeShapeType="1" noTextEdit="1"/>
              </p:cNvSpPr>
              <p:nvPr>
                <p:ph type="title"/>
              </p:nvPr>
            </p:nvSpPr>
            <p:spPr>
              <a:xfrm>
                <a:off x="685800" y="408883"/>
                <a:ext cx="10994410" cy="1071255"/>
              </a:xfrm>
              <a:prstGeom prst="rect">
                <a:avLst/>
              </a:prstGeom>
              <a:blipFill>
                <a:blip r:embed="rId3"/>
                <a:stretch>
                  <a:fillRect l="-1664" t="-7386" b="-4545"/>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29407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s-ES" sz="1200" b="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Comment on the results found for the TE0 and TM0 for both deep and shallow waveguides. </a:t>
                </a:r>
              </a:p>
            </p:txBody>
          </p:sp>
        </mc:Choice>
        <mc:Fallback>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1294072"/>
              </a:xfrm>
              <a:prstGeom prst="rect">
                <a:avLst/>
              </a:prstGeom>
              <a:blipFill>
                <a:blip r:embed="rId6"/>
                <a:stretch>
                  <a:fillRect b="-943"/>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609440" y="2709096"/>
                <a:ext cx="5486559" cy="1200329"/>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b="1" dirty="0"/>
                  <a:t>neff_TE0 vs </a:t>
                </a:r>
                <a14:m>
                  <m:oMath xmlns:m="http://schemas.openxmlformats.org/officeDocument/2006/math">
                    <m:r>
                      <a:rPr lang="es-ES" b="1" i="1" smtClean="0">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609440" y="2709096"/>
                <a:ext cx="5486559" cy="1200329"/>
              </a:xfrm>
              <a:prstGeom prst="rect">
                <a:avLst/>
              </a:prstGeom>
              <a:blipFill>
                <a:blip r:embed="rId7"/>
                <a:stretch>
                  <a:fillRect t="-2538" r="-556" b="-710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6321421" y="2709096"/>
                <a:ext cx="5486559"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b="1" dirty="0"/>
                  <a:t>neff_TE0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6321421" y="2709096"/>
                <a:ext cx="5486559" cy="1200329"/>
              </a:xfrm>
              <a:prstGeom prst="rect">
                <a:avLst/>
              </a:prstGeom>
              <a:blipFill>
                <a:blip r:embed="rId8"/>
                <a:stretch>
                  <a:fillRect t="-2538" r="-556" b="-7107"/>
                </a:stretch>
              </a:blipFill>
            </p:spPr>
            <p:txBody>
              <a:bodyPr/>
              <a:lstStyle/>
              <a:p>
                <a:r>
                  <a:rPr lang="es-E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054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ECAC86-693D-5AA1-319E-7BDC814F998A}"/>
              </a:ext>
            </a:extLst>
          </p:cNvPr>
          <p:cNvSpPr>
            <a:spLocks noGrp="1"/>
          </p:cNvSpPr>
          <p:nvPr>
            <p:ph type="title"/>
          </p:nvPr>
        </p:nvSpPr>
        <p:spPr>
          <a:xfrm>
            <a:off x="590550" y="206752"/>
            <a:ext cx="10991850" cy="369332"/>
          </a:xfrm>
        </p:spPr>
        <p:txBody>
          <a:bodyPr/>
          <a:lstStyle/>
          <a:p>
            <a:r>
              <a:rPr lang="en-US" sz="2400" dirty="0"/>
              <a:t>Learning outcome #3 – Waveguide compact model</a:t>
            </a:r>
            <a:endParaRPr lang="es-ES" sz="2400" dirty="0"/>
          </a:p>
        </p:txBody>
      </p:sp>
      <p:sp>
        <p:nvSpPr>
          <p:cNvPr id="3" name="Marcador de texto 2">
            <a:extLst>
              <a:ext uri="{FF2B5EF4-FFF2-40B4-BE49-F238E27FC236}">
                <a16:creationId xmlns:a16="http://schemas.microsoft.com/office/drawing/2014/main" id="{07C6FD61-A8A7-0DF1-CBCD-0AFE8E50AF48}"/>
              </a:ext>
            </a:extLst>
          </p:cNvPr>
          <p:cNvSpPr>
            <a:spLocks noGrp="1"/>
          </p:cNvSpPr>
          <p:nvPr>
            <p:ph type="body" idx="1"/>
          </p:nvPr>
        </p:nvSpPr>
        <p:spPr>
          <a:xfrm>
            <a:off x="628650" y="4509438"/>
            <a:ext cx="10972800" cy="1661993"/>
          </a:xfrm>
        </p:spPr>
        <p:txBody>
          <a:bodyPr/>
          <a:lstStyle/>
          <a:p>
            <a:pPr algn="just"/>
            <a:r>
              <a:rPr lang="es-ES_tradnl" sz="1200" dirty="0">
                <a:latin typeface="Arial" panose="020B0604020202020204" pitchFamily="34" charset="0"/>
                <a:cs typeface="Arial" panose="020B0604020202020204" pitchFamily="34" charset="0"/>
              </a:rPr>
              <a:t>En las guías </a:t>
            </a:r>
            <a:r>
              <a:rPr lang="es-ES_tradnl" sz="1200" dirty="0" err="1">
                <a:latin typeface="Arial" panose="020B0604020202020204" pitchFamily="34" charset="0"/>
                <a:cs typeface="Arial" panose="020B0604020202020204" pitchFamily="34" charset="0"/>
              </a:rPr>
              <a:t>deep</a:t>
            </a:r>
            <a:r>
              <a:rPr lang="es-ES_tradnl" sz="1200" dirty="0">
                <a:latin typeface="Arial" panose="020B0604020202020204" pitchFamily="34" charset="0"/>
                <a:cs typeface="Arial" panose="020B0604020202020204" pitchFamily="34" charset="0"/>
              </a:rPr>
              <a:t>, los índices de grupo son ligeramente superiores a las </a:t>
            </a:r>
            <a:r>
              <a:rPr lang="es-ES_tradnl" sz="1200" dirty="0" err="1">
                <a:latin typeface="Arial" panose="020B0604020202020204" pitchFamily="34" charset="0"/>
                <a:cs typeface="Arial" panose="020B0604020202020204" pitchFamily="34" charset="0"/>
              </a:rPr>
              <a:t>shallow</a:t>
            </a:r>
            <a:r>
              <a:rPr lang="es-ES_tradnl" sz="1200" dirty="0">
                <a:latin typeface="Arial" panose="020B0604020202020204" pitchFamily="34" charset="0"/>
                <a:cs typeface="Arial" panose="020B0604020202020204" pitchFamily="34" charset="0"/>
              </a:rPr>
              <a:t> para los dos modos. Esto se debe a que en las guías </a:t>
            </a:r>
            <a:r>
              <a:rPr lang="es-ES_tradnl" sz="1200" dirty="0" err="1">
                <a:latin typeface="Arial" panose="020B0604020202020204" pitchFamily="34" charset="0"/>
                <a:cs typeface="Arial" panose="020B0604020202020204" pitchFamily="34" charset="0"/>
              </a:rPr>
              <a:t>deep</a:t>
            </a:r>
            <a:r>
              <a:rPr lang="es-ES_tradnl" sz="1200" dirty="0">
                <a:latin typeface="Arial" panose="020B0604020202020204" pitchFamily="34" charset="0"/>
                <a:cs typeface="Arial" panose="020B0604020202020204" pitchFamily="34" charset="0"/>
              </a:rPr>
              <a:t> hay un mayor confinamiento en el núcleo ya que las paredes laterales están totalmente grabadas. Por otro lado, en ambos tipos de guía se puede observar que hay un mayor índice de grupo en los modos TE que en los TM. Esto es porque el modo TE viaja más lento debido a que tiene una mayor interacción con la geometría del núcleo, ya que tiene componente en la dirección del ancho de la guía, donde hay más cantidad de material de guía.</a:t>
            </a:r>
          </a:p>
          <a:p>
            <a:pPr algn="just"/>
            <a:endParaRPr lang="es-ES_tradnl" sz="1200" dirty="0">
              <a:latin typeface="Arial" panose="020B0604020202020204" pitchFamily="34" charset="0"/>
              <a:cs typeface="Arial" panose="020B0604020202020204" pitchFamily="34" charset="0"/>
            </a:endParaRPr>
          </a:p>
          <a:p>
            <a:pPr algn="just"/>
            <a:r>
              <a:rPr lang="es-ES_tradnl" sz="1200" dirty="0">
                <a:latin typeface="Arial" panose="020B0604020202020204" pitchFamily="34" charset="0"/>
                <a:cs typeface="Arial" panose="020B0604020202020204" pitchFamily="34" charset="0"/>
              </a:rPr>
              <a:t>Respecto a la dispersión, la guía </a:t>
            </a:r>
            <a:r>
              <a:rPr lang="es-ES_tradnl" sz="1200" dirty="0" err="1">
                <a:latin typeface="Arial" panose="020B0604020202020204" pitchFamily="34" charset="0"/>
                <a:cs typeface="Arial" panose="020B0604020202020204" pitchFamily="34" charset="0"/>
              </a:rPr>
              <a:t>deep</a:t>
            </a:r>
            <a:r>
              <a:rPr lang="es-ES_tradnl" sz="1200" dirty="0">
                <a:latin typeface="Arial" panose="020B0604020202020204" pitchFamily="34" charset="0"/>
                <a:cs typeface="Arial" panose="020B0604020202020204" pitchFamily="34" charset="0"/>
              </a:rPr>
              <a:t> tiene una D más negativa que la </a:t>
            </a:r>
            <a:r>
              <a:rPr lang="es-ES_tradnl" sz="1200" dirty="0" err="1">
                <a:latin typeface="Arial" panose="020B0604020202020204" pitchFamily="34" charset="0"/>
                <a:cs typeface="Arial" panose="020B0604020202020204" pitchFamily="34" charset="0"/>
              </a:rPr>
              <a:t>shallow</a:t>
            </a:r>
            <a:r>
              <a:rPr lang="es-ES_tradnl" sz="1200" dirty="0">
                <a:latin typeface="Arial" panose="020B0604020202020204" pitchFamily="34" charset="0"/>
                <a:cs typeface="Arial" panose="020B0604020202020204" pitchFamily="34" charset="0"/>
              </a:rPr>
              <a:t>. Esto se debe a que el grabado total de las paredes laterales de la guía </a:t>
            </a:r>
            <a:r>
              <a:rPr lang="es-ES_tradnl" sz="1200" dirty="0" err="1">
                <a:latin typeface="Arial" panose="020B0604020202020204" pitchFamily="34" charset="0"/>
                <a:cs typeface="Arial" panose="020B0604020202020204" pitchFamily="34" charset="0"/>
              </a:rPr>
              <a:t>deep</a:t>
            </a:r>
            <a:r>
              <a:rPr lang="es-ES_tradnl" sz="1200" dirty="0">
                <a:latin typeface="Arial" panose="020B0604020202020204" pitchFamily="34" charset="0"/>
                <a:cs typeface="Arial" panose="020B0604020202020204" pitchFamily="34" charset="0"/>
              </a:rPr>
              <a:t> hace que aumente la dispersión geometría, y como consecuencia aumenta la dispersión. Por otra parte, la guía </a:t>
            </a:r>
            <a:r>
              <a:rPr lang="es-ES_tradnl" sz="1200" dirty="0" err="1">
                <a:latin typeface="Arial" panose="020B0604020202020204" pitchFamily="34" charset="0"/>
                <a:cs typeface="Arial" panose="020B0604020202020204" pitchFamily="34" charset="0"/>
              </a:rPr>
              <a:t>shallow</a:t>
            </a:r>
            <a:r>
              <a:rPr lang="es-ES_tradnl" sz="1200" dirty="0">
                <a:latin typeface="Arial" panose="020B0604020202020204" pitchFamily="34" charset="0"/>
                <a:cs typeface="Arial" panose="020B0604020202020204" pitchFamily="34" charset="0"/>
              </a:rPr>
              <a:t>, al tener un </a:t>
            </a:r>
            <a:r>
              <a:rPr lang="es-ES_tradnl" sz="1200" dirty="0" err="1">
                <a:latin typeface="Arial" panose="020B0604020202020204" pitchFamily="34" charset="0"/>
                <a:cs typeface="Arial" panose="020B0604020202020204" pitchFamily="34" charset="0"/>
              </a:rPr>
              <a:t>slab</a:t>
            </a:r>
            <a:r>
              <a:rPr lang="es-ES_tradnl" sz="1200" dirty="0">
                <a:latin typeface="Arial" panose="020B0604020202020204" pitchFamily="34" charset="0"/>
                <a:cs typeface="Arial" panose="020B0604020202020204" pitchFamily="34" charset="0"/>
              </a:rPr>
              <a:t>, tiene una dispersión un poco más pequeña, ya que el </a:t>
            </a:r>
            <a:r>
              <a:rPr lang="es-ES_tradnl" sz="1200" dirty="0" err="1">
                <a:latin typeface="Arial" panose="020B0604020202020204" pitchFamily="34" charset="0"/>
                <a:cs typeface="Arial" panose="020B0604020202020204" pitchFamily="34" charset="0"/>
              </a:rPr>
              <a:t>slab</a:t>
            </a:r>
            <a:r>
              <a:rPr lang="es-ES_tradnl" sz="1200" dirty="0">
                <a:latin typeface="Arial" panose="020B0604020202020204" pitchFamily="34" charset="0"/>
                <a:cs typeface="Arial" panose="020B0604020202020204" pitchFamily="34" charset="0"/>
              </a:rPr>
              <a:t> hace que parte del campo se extienda lateralmente. Como consecuencia, la variación de índice efectivo se suaviza con la longitud de onda.</a:t>
            </a:r>
          </a:p>
        </p:txBody>
      </p:sp>
      <p:sp>
        <p:nvSpPr>
          <p:cNvPr id="4" name="Marcador de pie de página 3">
            <a:extLst>
              <a:ext uri="{FF2B5EF4-FFF2-40B4-BE49-F238E27FC236}">
                <a16:creationId xmlns:a16="http://schemas.microsoft.com/office/drawing/2014/main" id="{7E37F831-37DE-EC4E-C80A-AD5641BF89E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2333D34F-D87A-D3B6-EACD-EAF65EB069AB}"/>
              </a:ext>
            </a:extLst>
          </p:cNvPr>
          <p:cNvSpPr>
            <a:spLocks noGrp="1"/>
          </p:cNvSpPr>
          <p:nvPr>
            <p:ph type="sldNum" sz="quarter" idx="7"/>
          </p:nvPr>
        </p:nvSpPr>
        <p:spPr/>
        <p:txBody>
          <a:bodyPr/>
          <a:lstStyle/>
          <a:p>
            <a:fld id="{B6F15528-21DE-4FAA-801E-634DDDAF4B2B}" type="slidenum">
              <a:rPr lang="es-ES" smtClean="0"/>
              <a:t>6</a:t>
            </a:fld>
            <a:endParaRPr lang="es-ES"/>
          </a:p>
        </p:txBody>
      </p:sp>
      <p:pic>
        <p:nvPicPr>
          <p:cNvPr id="6" name="Imagen 5">
            <a:extLst>
              <a:ext uri="{FF2B5EF4-FFF2-40B4-BE49-F238E27FC236}">
                <a16:creationId xmlns:a16="http://schemas.microsoft.com/office/drawing/2014/main" id="{2788F4D0-5351-B696-8717-38FA725F5F91}"/>
              </a:ext>
            </a:extLst>
          </p:cNvPr>
          <p:cNvPicPr>
            <a:picLocks noChangeAspect="1"/>
          </p:cNvPicPr>
          <p:nvPr/>
        </p:nvPicPr>
        <p:blipFill>
          <a:blip r:embed="rId2"/>
          <a:srcRect t="1103" b="55150"/>
          <a:stretch/>
        </p:blipFill>
        <p:spPr>
          <a:xfrm>
            <a:off x="762000" y="3677557"/>
            <a:ext cx="4800600" cy="627731"/>
          </a:xfrm>
          <a:prstGeom prst="rect">
            <a:avLst/>
          </a:prstGeom>
        </p:spPr>
      </p:pic>
      <p:pic>
        <p:nvPicPr>
          <p:cNvPr id="7" name="Imagen 6">
            <a:extLst>
              <a:ext uri="{FF2B5EF4-FFF2-40B4-BE49-F238E27FC236}">
                <a16:creationId xmlns:a16="http://schemas.microsoft.com/office/drawing/2014/main" id="{FF976AA6-C02E-0ECD-3228-6E427C90DA13}"/>
              </a:ext>
            </a:extLst>
          </p:cNvPr>
          <p:cNvPicPr>
            <a:picLocks noChangeAspect="1"/>
          </p:cNvPicPr>
          <p:nvPr/>
        </p:nvPicPr>
        <p:blipFill>
          <a:blip r:embed="rId2"/>
          <a:srcRect t="47704"/>
          <a:stretch/>
        </p:blipFill>
        <p:spPr>
          <a:xfrm>
            <a:off x="6309341" y="3609823"/>
            <a:ext cx="4800600" cy="750405"/>
          </a:xfrm>
          <a:prstGeom prst="rect">
            <a:avLst/>
          </a:prstGeom>
        </p:spPr>
      </p:pic>
      <p:pic>
        <p:nvPicPr>
          <p:cNvPr id="1026" name="Picture 2">
            <a:extLst>
              <a:ext uri="{FF2B5EF4-FFF2-40B4-BE49-F238E27FC236}">
                <a16:creationId xmlns:a16="http://schemas.microsoft.com/office/drawing/2014/main" id="{983B254C-7F47-E79E-7E50-51DAB25BF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725294"/>
            <a:ext cx="3657600" cy="2899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541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Bend waveguide radius vs. loss – deep</a:t>
            </a:r>
            <a:br>
              <a:rPr lang="en-US" sz="2500" dirty="0"/>
            </a:br>
            <a:r>
              <a:rPr lang="en-US" b="0" dirty="0"/>
              <a:t>Find  neff_TE0 for </a:t>
            </a:r>
            <a:r>
              <a:rPr lang="en-US" b="0" dirty="0" err="1"/>
              <a:t>wvl</a:t>
            </a:r>
            <a:r>
              <a:rPr lang="en-US" b="0" dirty="0"/>
              <a:t> 1.55 µm, width 1.0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u="sng"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09FBBBB-69CA-B7E5-7176-8227F2788CF5}"/>
                  </a:ext>
                </a:extLst>
              </p:cNvPr>
              <p:cNvSpPr txBox="1"/>
              <p:nvPr/>
            </p:nvSpPr>
            <p:spPr>
              <a:xfrm>
                <a:off x="9941529" y="4179383"/>
                <a:ext cx="1856534" cy="439608"/>
              </a:xfrm>
              <a:prstGeom prst="rect">
                <a:avLst/>
              </a:prstGeom>
              <a:noFill/>
            </p:spPr>
            <p:txBody>
              <a:bodyPr wrap="none" lIns="0" tIns="0" rIns="0" bIns="0" rtlCol="0">
                <a:spAutoFit/>
              </a:bodyPr>
              <a:lstStyle/>
              <a:p>
                <a14:m>
                  <m:oMath xmlns:m="http://schemas.openxmlformats.org/officeDocument/2006/math">
                    <m:r>
                      <a:rPr lang="es-ES" sz="1800" b="0" i="1" smtClean="0">
                        <a:latin typeface="Cambria Math" panose="02040503050406030204" pitchFamily="18" charset="0"/>
                      </a:rPr>
                      <m:t>𝛼</m:t>
                    </m:r>
                    <m:d>
                      <m:dPr>
                        <m:begChr m:val="["/>
                        <m:endChr m:val="]"/>
                        <m:ctrlPr>
                          <a:rPr lang="es-ES" sz="1800" b="0" i="1" smtClean="0">
                            <a:latin typeface="Cambria Math" panose="02040503050406030204" pitchFamily="18" charset="0"/>
                          </a:rPr>
                        </m:ctrlPr>
                      </m:dPr>
                      <m:e>
                        <m:f>
                          <m:fPr>
                            <m:ctrlPr>
                              <a:rPr lang="es-ES" sz="1800" b="0" i="1" smtClean="0">
                                <a:latin typeface="Cambria Math" panose="02040503050406030204" pitchFamily="18" charset="0"/>
                              </a:rPr>
                            </m:ctrlPr>
                          </m:fPr>
                          <m:num>
                            <m:r>
                              <a:rPr lang="es-ES" sz="1800" b="0" i="1" smtClean="0">
                                <a:latin typeface="Cambria Math" panose="02040503050406030204" pitchFamily="18" charset="0"/>
                              </a:rPr>
                              <m:t>𝑑𝐵</m:t>
                            </m:r>
                          </m:num>
                          <m:den>
                            <m:r>
                              <a:rPr lang="es-ES" sz="1800" b="0" i="1" smtClean="0">
                                <a:latin typeface="Cambria Math" panose="02040503050406030204" pitchFamily="18" charset="0"/>
                              </a:rPr>
                              <m:t>90</m:t>
                            </m:r>
                            <m:r>
                              <a:rPr lang="es-ES" sz="1800" b="0" i="1" smtClean="0">
                                <a:latin typeface="Cambria Math" panose="02040503050406030204" pitchFamily="18" charset="0"/>
                                <a:ea typeface="Cambria Math" panose="02040503050406030204" pitchFamily="18" charset="0"/>
                              </a:rPr>
                              <m:t>°</m:t>
                            </m:r>
                          </m:den>
                        </m:f>
                      </m:e>
                    </m:d>
                    <m:r>
                      <a:rPr lang="es-ES" sz="1800" b="0" i="1" smtClean="0">
                        <a:latin typeface="Cambria Math" panose="02040503050406030204" pitchFamily="18" charset="0"/>
                      </a:rPr>
                      <m:t>=</m:t>
                    </m:r>
                  </m:oMath>
                </a14:m>
                <a:r>
                  <a:rPr lang="es-ES" sz="1800" dirty="0"/>
                  <a:t> </a:t>
                </a:r>
                <a14:m>
                  <m:oMath xmlns:m="http://schemas.openxmlformats.org/officeDocument/2006/math">
                    <m:r>
                      <m:rPr>
                        <m:sty m:val="p"/>
                      </m:rPr>
                      <a:rPr lang="es-ES" sz="1800" b="0" i="0" smtClean="0">
                        <a:latin typeface="Cambria Math" panose="02040503050406030204" pitchFamily="18" charset="0"/>
                      </a:rPr>
                      <m:t>R</m:t>
                    </m:r>
                    <m:f>
                      <m:fPr>
                        <m:ctrlPr>
                          <a:rPr lang="es-ES" sz="1800" b="0" i="1" smtClean="0">
                            <a:latin typeface="Cambria Math" panose="02040503050406030204" pitchFamily="18" charset="0"/>
                          </a:rPr>
                        </m:ctrlPr>
                      </m:fPr>
                      <m:num>
                        <m:r>
                          <a:rPr lang="es-ES" sz="1800" b="0" i="1" smtClean="0">
                            <a:latin typeface="Cambria Math" panose="02040503050406030204" pitchFamily="18" charset="0"/>
                          </a:rPr>
                          <m:t>𝜋</m:t>
                        </m:r>
                      </m:num>
                      <m:den>
                        <m:r>
                          <a:rPr lang="es-ES" sz="1800" b="0" i="1" smtClean="0">
                            <a:latin typeface="Cambria Math" panose="02040503050406030204" pitchFamily="18" charset="0"/>
                          </a:rPr>
                          <m:t>2</m:t>
                        </m:r>
                      </m:den>
                    </m:f>
                    <m:r>
                      <a:rPr lang="es-ES" sz="1800" i="1">
                        <a:latin typeface="Cambria Math" panose="02040503050406030204" pitchFamily="18" charset="0"/>
                      </a:rPr>
                      <m:t>𝛼</m:t>
                    </m:r>
                    <m:d>
                      <m:dPr>
                        <m:begChr m:val="["/>
                        <m:endChr m:val="]"/>
                        <m:ctrlPr>
                          <a:rPr lang="es-ES" sz="1800" i="1">
                            <a:latin typeface="Cambria Math" panose="02040503050406030204" pitchFamily="18" charset="0"/>
                          </a:rPr>
                        </m:ctrlPr>
                      </m:dPr>
                      <m:e>
                        <m:f>
                          <m:fPr>
                            <m:ctrlPr>
                              <a:rPr lang="es-ES" sz="1800" i="1">
                                <a:latin typeface="Cambria Math" panose="02040503050406030204" pitchFamily="18" charset="0"/>
                              </a:rPr>
                            </m:ctrlPr>
                          </m:fPr>
                          <m:num>
                            <m:r>
                              <a:rPr lang="es-ES" sz="1800" i="1">
                                <a:latin typeface="Cambria Math" panose="02040503050406030204" pitchFamily="18" charset="0"/>
                              </a:rPr>
                              <m:t>𝑑𝐵</m:t>
                            </m:r>
                          </m:num>
                          <m:den>
                            <m:r>
                              <a:rPr lang="es-ES" sz="1800" i="1">
                                <a:latin typeface="Cambria Math" panose="02040503050406030204" pitchFamily="18" charset="0"/>
                              </a:rPr>
                              <m:t>µ</m:t>
                            </m:r>
                            <m:r>
                              <a:rPr lang="es-ES" sz="1800" i="1">
                                <a:latin typeface="Cambria Math" panose="02040503050406030204" pitchFamily="18" charset="0"/>
                              </a:rPr>
                              <m:t>𝑚</m:t>
                            </m:r>
                          </m:den>
                        </m:f>
                      </m:e>
                    </m:d>
                  </m:oMath>
                </a14:m>
                <a:endParaRPr lang="en-US" sz="1800" dirty="0"/>
              </a:p>
            </p:txBody>
          </p:sp>
        </mc:Choice>
        <mc:Fallback xmlns="">
          <p:sp>
            <p:nvSpPr>
              <p:cNvPr id="6" name="CuadroTexto 5">
                <a:extLst>
                  <a:ext uri="{FF2B5EF4-FFF2-40B4-BE49-F238E27FC236}">
                    <a16:creationId xmlns:a16="http://schemas.microsoft.com/office/drawing/2014/main" id="{409FBBBB-69CA-B7E5-7176-8227F2788CF5}"/>
                  </a:ext>
                </a:extLst>
              </p:cNvPr>
              <p:cNvSpPr txBox="1">
                <a:spLocks noRot="1" noChangeAspect="1" noMove="1" noResize="1" noEditPoints="1" noAdjustHandles="1" noChangeArrowheads="1" noChangeShapeType="1" noTextEdit="1"/>
              </p:cNvSpPr>
              <p:nvPr/>
            </p:nvSpPr>
            <p:spPr>
              <a:xfrm>
                <a:off x="9941529" y="4179383"/>
                <a:ext cx="1856534" cy="439608"/>
              </a:xfrm>
              <a:prstGeom prst="rect">
                <a:avLst/>
              </a:prstGeom>
              <a:blipFill>
                <a:blip r:embed="rId5"/>
                <a:stretch>
                  <a:fillRect l="-3289" b="-13889"/>
                </a:stretch>
              </a:blipFill>
            </p:spPr>
            <p:txBody>
              <a:bodyPr/>
              <a:lstStyle/>
              <a:p>
                <a:r>
                  <a:rPr lang="es-ES">
                    <a:noFill/>
                  </a:rPr>
                  <a:t> </a:t>
                </a:r>
              </a:p>
            </p:txBody>
          </p:sp>
        </mc:Fallback>
      </mc:AlternateContent>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2978141" y="2784355"/>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dB/90º neff_TE0 &amp; neff_TM0 vs R</a:t>
            </a:r>
          </a:p>
        </p:txBody>
      </p:sp>
    </p:spTree>
    <p:extLst>
      <p:ext uri="{BB962C8B-B14F-4D97-AF65-F5344CB8AC3E}">
        <p14:creationId xmlns:p14="http://schemas.microsoft.com/office/powerpoint/2010/main" val="3660438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12587</TotalTime>
  <Words>1044</Words>
  <Application>Microsoft Macintosh PowerPoint</Application>
  <PresentationFormat>Panorámica</PresentationFormat>
  <Paragraphs>95</Paragraphs>
  <Slides>8</Slides>
  <Notes>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8</vt:i4>
      </vt:variant>
    </vt:vector>
  </HeadingPairs>
  <TitlesOfParts>
    <vt:vector size="1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Convergence tests DE waveguide, w = 1.2 µm, neff_TE0, wvl 1.55 µm. </vt:lpstr>
      <vt:lpstr>Learning outcome #2 – Width dependence Width 0.6 - 1.6 µm (step 0.1 µm) – Wavelength 1.55 µm </vt:lpstr>
      <vt:lpstr>Learning outcome #3 – Waveguide compact model Let’s model the waveguide using a second order polynomial:  n_eff (λ)=n_1+n_2 (λ-λ_0 )+n_3 (λ-λ_0 )^2 </vt:lpstr>
      <vt:lpstr>Learning outcome #3 – Waveguide compact model</vt:lpstr>
      <vt:lpstr>Learning outcome #4 – Bend waveguide radius vs. loss – deep Find  neff_TE0 for wvl 1.55 µm, width 1.0 µm for R=25,50,75,100, 125,150 µm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Sergi Nacher Muñoz</cp:lastModifiedBy>
  <cp:revision>19</cp:revision>
  <dcterms:created xsi:type="dcterms:W3CDTF">2025-01-27T02:46:57Z</dcterms:created>
  <dcterms:modified xsi:type="dcterms:W3CDTF">2026-03-03T14:49:57Z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