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6"/>
  </p:notesMasterIdLst>
  <p:handoutMasterIdLst>
    <p:handoutMasterId r:id="rId17"/>
  </p:handoutMasterIdLst>
  <p:sldIdLst>
    <p:sldId id="256" r:id="rId2"/>
    <p:sldId id="295" r:id="rId3"/>
    <p:sldId id="290" r:id="rId4"/>
    <p:sldId id="292" r:id="rId5"/>
    <p:sldId id="297" r:id="rId6"/>
    <p:sldId id="298" r:id="rId7"/>
    <p:sldId id="293" r:id="rId8"/>
    <p:sldId id="299" r:id="rId9"/>
    <p:sldId id="300" r:id="rId10"/>
    <p:sldId id="301" r:id="rId11"/>
    <p:sldId id="302" r:id="rId12"/>
    <p:sldId id="303" r:id="rId13"/>
    <p:sldId id="304" r:id="rId14"/>
    <p:sldId id="288" r:id="rId1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98" autoAdjust="0"/>
    <p:restoredTop sz="95033" autoAdjust="0"/>
  </p:normalViewPr>
  <p:slideViewPr>
    <p:cSldViewPr>
      <p:cViewPr varScale="1">
        <p:scale>
          <a:sx n="150" d="100"/>
          <a:sy n="150" d="100"/>
        </p:scale>
        <p:origin x="600" y="17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5/3/26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5/3/26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70.png"/><Relationship Id="rId7" Type="http://schemas.openxmlformats.org/officeDocument/2006/relationships/image" Target="NUL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6.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1.2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6" name="Rectángulo 5">
            <a:extLst>
              <a:ext uri="{FF2B5EF4-FFF2-40B4-BE49-F238E27FC236}">
                <a16:creationId xmlns:a16="http://schemas.microsoft.com/office/drawing/2014/main" id="{067C6D40-33EE-D9BE-7F58-8D96221D0D59}"/>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53A5ECC9-91D2-2918-1681-822F99EB31CD}"/>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p:sp>
        <p:nvSpPr>
          <p:cNvPr id="10" name="CuadroTexto 9">
            <a:extLst>
              <a:ext uri="{FF2B5EF4-FFF2-40B4-BE49-F238E27FC236}">
                <a16:creationId xmlns:a16="http://schemas.microsoft.com/office/drawing/2014/main" id="{C814CDD6-2B59-8488-4EB8-82801B4D3F22}"/>
              </a:ext>
            </a:extLst>
          </p:cNvPr>
          <p:cNvSpPr txBox="1"/>
          <p:nvPr/>
        </p:nvSpPr>
        <p:spPr>
          <a:xfrm>
            <a:off x="609441" y="4860334"/>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determine above which grid value the effective index calculation does not change significantly</a:t>
            </a:r>
          </a:p>
          <a:p>
            <a:pPr algn="just"/>
            <a:endParaRPr lang="en-US" sz="1200" dirty="0">
              <a:latin typeface="Arial" panose="020B0604020202020204" pitchFamily="34" charset="0"/>
              <a:cs typeface="Arial" panose="020B0604020202020204" pitchFamily="34" charset="0"/>
            </a:endParaRPr>
          </a:p>
          <a:p>
            <a:pPr algn="just"/>
            <a:r>
              <a:rPr lang="es-ES_tradnl" sz="1200" dirty="0">
                <a:latin typeface="Arial" panose="020B0604020202020204" pitchFamily="34" charset="0"/>
                <a:cs typeface="Arial" panose="020B0604020202020204" pitchFamily="34" charset="0"/>
              </a:rPr>
              <a:t>Si observamos la primera gráfica, vemos que el valor del índice efectivo se estabiliza para valores de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mayores a 50.</a:t>
            </a:r>
          </a:p>
          <a:p>
            <a:pPr algn="just"/>
            <a:r>
              <a:rPr lang="es-ES_tradnl" sz="1200" dirty="0">
                <a:latin typeface="Arial" panose="020B0604020202020204" pitchFamily="34" charset="0"/>
                <a:cs typeface="Arial" panose="020B0604020202020204" pitchFamily="34" charset="0"/>
              </a:rPr>
              <a:t>Para crear la gráfica para el caso de análisis de </a:t>
            </a:r>
            <a:r>
              <a:rPr lang="es-ES_tradnl" sz="1200" dirty="0" err="1">
                <a:latin typeface="Arial" panose="020B0604020202020204" pitchFamily="34" charset="0"/>
                <a:cs typeface="Arial" panose="020B0604020202020204" pitchFamily="34" charset="0"/>
              </a:rPr>
              <a:t>max_grid_scaling</a:t>
            </a:r>
            <a:r>
              <a:rPr lang="es-ES_tradnl" sz="1200" dirty="0">
                <a:latin typeface="Arial" panose="020B0604020202020204" pitchFamily="34" charset="0"/>
                <a:cs typeface="Arial" panose="020B0604020202020204" pitchFamily="34" charset="0"/>
              </a:rPr>
              <a:t> en vez de usar un valor de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mayor a 50, se ha optado por usar de 20, ya que para este valor se obtiene un índice efectivo equivalente al del caso de estabilidad para valores mayores a 50 en el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y con ello tendremos un menor coste computacional. En este caso vemos que se empieza a estabilizar en valores de </a:t>
            </a:r>
            <a:r>
              <a:rPr lang="es-ES_tradnl" sz="1200" dirty="0" err="1">
                <a:latin typeface="Arial" panose="020B0604020202020204" pitchFamily="34" charset="0"/>
                <a:cs typeface="Arial" panose="020B0604020202020204" pitchFamily="34" charset="0"/>
              </a:rPr>
              <a:t>max_grid_scaling</a:t>
            </a:r>
            <a:r>
              <a:rPr lang="es-ES_tradnl" sz="1200" dirty="0">
                <a:latin typeface="Arial" panose="020B0604020202020204" pitchFamily="34" charset="0"/>
                <a:cs typeface="Arial" panose="020B0604020202020204" pitchFamily="34" charset="0"/>
              </a:rPr>
              <a:t> mayores a 1.5.</a:t>
            </a:r>
          </a:p>
          <a:p>
            <a:pPr algn="just"/>
            <a:endParaRPr lang="es-ES_tradnl" sz="1200" dirty="0">
              <a:latin typeface="Arial" panose="020B0604020202020204" pitchFamily="34" charset="0"/>
              <a:cs typeface="Arial" panose="020B0604020202020204" pitchFamily="34" charset="0"/>
            </a:endParaRPr>
          </a:p>
          <a:p>
            <a:pPr algn="just"/>
            <a:r>
              <a:rPr lang="es-ES_tradnl" sz="1200" dirty="0">
                <a:latin typeface="Arial" panose="020B0604020202020204" pitchFamily="34" charset="0"/>
                <a:cs typeface="Arial" panose="020B0604020202020204" pitchFamily="34" charset="0"/>
              </a:rPr>
              <a:t>Finalmente, podemos concluir que para valores del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resolution</a:t>
            </a:r>
            <a:r>
              <a:rPr lang="es-ES_tradnl" sz="1200" dirty="0">
                <a:latin typeface="Arial" panose="020B0604020202020204" pitchFamily="34" charset="0"/>
                <a:cs typeface="Arial" panose="020B0604020202020204" pitchFamily="34" charset="0"/>
              </a:rPr>
              <a:t> mayores de 50 y valores de </a:t>
            </a:r>
            <a:r>
              <a:rPr lang="es-ES_tradnl" sz="1200" dirty="0" err="1">
                <a:latin typeface="Arial" panose="020B0604020202020204" pitchFamily="34" charset="0"/>
                <a:cs typeface="Arial" panose="020B0604020202020204" pitchFamily="34" charset="0"/>
              </a:rPr>
              <a:t>max</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grid</a:t>
            </a:r>
            <a:r>
              <a:rPr lang="es-ES_tradnl" sz="1200" dirty="0">
                <a:latin typeface="Arial" panose="020B0604020202020204" pitchFamily="34" charset="0"/>
                <a:cs typeface="Arial" panose="020B0604020202020204" pitchFamily="34" charset="0"/>
              </a:rPr>
              <a:t> </a:t>
            </a:r>
            <a:r>
              <a:rPr lang="es-ES_tradnl" sz="1200" dirty="0" err="1">
                <a:latin typeface="Arial" panose="020B0604020202020204" pitchFamily="34" charset="0"/>
                <a:cs typeface="Arial" panose="020B0604020202020204" pitchFamily="34" charset="0"/>
              </a:rPr>
              <a:t>scaling</a:t>
            </a:r>
            <a:r>
              <a:rPr lang="es-ES_tradnl" sz="1200" dirty="0">
                <a:latin typeface="Arial" panose="020B0604020202020204" pitchFamily="34" charset="0"/>
                <a:cs typeface="Arial" panose="020B0604020202020204" pitchFamily="34" charset="0"/>
              </a:rPr>
              <a:t> mayores de 1.5 se obtienen valores estables del índice efectivo. Por lo tanto, estos serán los valores óptimos para obtener un valor de índice efectivo más cercano al real.</a:t>
            </a:r>
          </a:p>
        </p:txBody>
      </p:sp>
      <p:sp>
        <p:nvSpPr>
          <p:cNvPr id="2" name="Rectángulo 1">
            <a:extLst>
              <a:ext uri="{FF2B5EF4-FFF2-40B4-BE49-F238E27FC236}">
                <a16:creationId xmlns:a16="http://schemas.microsoft.com/office/drawing/2014/main" id="{029F2FF9-FEB4-7AA3-B3B4-EFA9CFA0E230}"/>
              </a:ext>
            </a:extLst>
          </p:cNvPr>
          <p:cNvSpPr/>
          <p:nvPr/>
        </p:nvSpPr>
        <p:spPr>
          <a:xfrm>
            <a:off x="6322853"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C2C94B57-6111-4070-F6BA-8C3B9C305618}"/>
              </a:ext>
            </a:extLst>
          </p:cNvPr>
          <p:cNvSpPr txBox="1"/>
          <p:nvPr/>
        </p:nvSpPr>
        <p:spPr>
          <a:xfrm>
            <a:off x="7488347" y="2709096"/>
            <a:ext cx="3646585"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pic>
        <p:nvPicPr>
          <p:cNvPr id="7" name="Imagen 6">
            <a:extLst>
              <a:ext uri="{FF2B5EF4-FFF2-40B4-BE49-F238E27FC236}">
                <a16:creationId xmlns:a16="http://schemas.microsoft.com/office/drawing/2014/main" id="{5C2838CE-B9D8-467E-8B84-5C454526BF6A}"/>
              </a:ext>
            </a:extLst>
          </p:cNvPr>
          <p:cNvPicPr>
            <a:picLocks noChangeAspect="1"/>
          </p:cNvPicPr>
          <p:nvPr/>
        </p:nvPicPr>
        <p:blipFill>
          <a:blip r:embed="rId5"/>
          <a:stretch>
            <a:fillRect/>
          </a:stretch>
        </p:blipFill>
        <p:spPr>
          <a:xfrm>
            <a:off x="1371860" y="1619947"/>
            <a:ext cx="3961720" cy="3081338"/>
          </a:xfrm>
          <a:prstGeom prst="rect">
            <a:avLst/>
          </a:prstGeom>
        </p:spPr>
      </p:pic>
      <p:pic>
        <p:nvPicPr>
          <p:cNvPr id="11" name="Imagen 10">
            <a:extLst>
              <a:ext uri="{FF2B5EF4-FFF2-40B4-BE49-F238E27FC236}">
                <a16:creationId xmlns:a16="http://schemas.microsoft.com/office/drawing/2014/main" id="{AAE13B25-34E2-4836-90D7-5F03ABB5FAAC}"/>
              </a:ext>
            </a:extLst>
          </p:cNvPr>
          <p:cNvPicPr>
            <a:picLocks noChangeAspect="1"/>
          </p:cNvPicPr>
          <p:nvPr/>
        </p:nvPicPr>
        <p:blipFill>
          <a:blip r:embed="rId6"/>
          <a:stretch>
            <a:fillRect/>
          </a:stretch>
        </p:blipFill>
        <p:spPr>
          <a:xfrm>
            <a:off x="7125476" y="1627875"/>
            <a:ext cx="3961721" cy="3039769"/>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165" y="6156884"/>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a:xfrm>
            <a:off x="609759" y="6257884"/>
            <a:ext cx="2743200" cy="184666"/>
          </a:xfrm>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600" y="4412516"/>
            <a:ext cx="11199971" cy="2292935"/>
          </a:xfrm>
          <a:prstGeom prst="rect">
            <a:avLst/>
          </a:prstGeom>
          <a:solidFill>
            <a:schemeClr val="bg1">
              <a:lumMod val="95000"/>
            </a:schemeClr>
          </a:solidFill>
          <a:ln w="28575">
            <a:solidFill>
              <a:srgbClr val="E0700D"/>
            </a:solidFill>
          </a:ln>
        </p:spPr>
        <p:txBody>
          <a:bodyPr wrap="square" rtlCol="0">
            <a:spAutoFit/>
          </a:bodyPr>
          <a:lstStyle/>
          <a:p>
            <a:pPr algn="just"/>
            <a:r>
              <a:rPr lang="en-US" sz="1100" dirty="0">
                <a:latin typeface="Arial" panose="020B0604020202020204" pitchFamily="34" charset="0"/>
                <a:cs typeface="Arial" panose="020B0604020202020204" pitchFamily="34" charset="0"/>
              </a:rPr>
              <a:t>Comment results (neff changes this way with width, polarization behavior, </a:t>
            </a:r>
            <a:r>
              <a:rPr lang="en-US" sz="1100" dirty="0" err="1">
                <a:latin typeface="Arial" panose="020B0604020202020204" pitchFamily="34" charset="0"/>
                <a:cs typeface="Arial" panose="020B0604020202020204" pitchFamily="34" charset="0"/>
              </a:rPr>
              <a:t>etc</a:t>
            </a:r>
            <a:r>
              <a:rPr lang="en-US" sz="1100" dirty="0">
                <a:latin typeface="Arial" panose="020B0604020202020204" pitchFamily="34" charset="0"/>
                <a:cs typeface="Arial" panose="020B0604020202020204" pitchFamily="34" charset="0"/>
              </a:rPr>
              <a:t>…)</a:t>
            </a:r>
          </a:p>
          <a:p>
            <a:pPr algn="just"/>
            <a:endParaRPr lang="en-US" sz="1100" dirty="0">
              <a:latin typeface="Arial" panose="020B0604020202020204" pitchFamily="34" charset="0"/>
              <a:cs typeface="Arial" panose="020B0604020202020204" pitchFamily="34" charset="0"/>
            </a:endParaRPr>
          </a:p>
          <a:p>
            <a:pPr algn="just"/>
            <a:r>
              <a:rPr lang="en-US" sz="1100" dirty="0">
                <a:latin typeface="Arial" panose="020B0604020202020204" pitchFamily="34" charset="0"/>
                <a:cs typeface="Arial" panose="020B0604020202020204" pitchFamily="34" charset="0"/>
              </a:rPr>
              <a:t>En primer </a:t>
            </a:r>
            <a:r>
              <a:rPr lang="en-US" sz="1100" dirty="0" err="1">
                <a:latin typeface="Arial" panose="020B0604020202020204" pitchFamily="34" charset="0"/>
                <a:cs typeface="Arial" panose="020B0604020202020204" pitchFamily="34" charset="0"/>
              </a:rPr>
              <a:t>lugar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podemos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observar</a:t>
            </a:r>
            <a:r>
              <a:rPr lang="en-US" sz="1100" dirty="0">
                <a:latin typeface="Arial" panose="020B0604020202020204" pitchFamily="34" charset="0"/>
                <a:cs typeface="Arial" panose="020B0604020202020204" pitchFamily="34" charset="0"/>
              </a:rPr>
              <a:t> que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0 y 2 </a:t>
            </a:r>
            <a:r>
              <a:rPr lang="en-US" sz="1100" dirty="0" err="1">
                <a:latin typeface="Arial" panose="020B0604020202020204" pitchFamily="34" charset="0"/>
                <a:cs typeface="Arial" panose="020B0604020202020204" pitchFamily="34" charset="0"/>
              </a:rPr>
              <a:t>corresponden</a:t>
            </a:r>
            <a:r>
              <a:rPr lang="en-US" sz="1100" dirty="0">
                <a:latin typeface="Arial" panose="020B0604020202020204" pitchFamily="34" charset="0"/>
                <a:cs typeface="Arial" panose="020B0604020202020204" pitchFamily="34" charset="0"/>
              </a:rPr>
              <a:t> al modo TE0 y TE1 </a:t>
            </a:r>
            <a:r>
              <a:rPr lang="en-US" sz="1100" dirty="0" err="1">
                <a:latin typeface="Arial" panose="020B0604020202020204" pitchFamily="34" charset="0"/>
                <a:cs typeface="Arial" panose="020B0604020202020204" pitchFamily="34" charset="0"/>
              </a:rPr>
              <a:t>respectivamente</a:t>
            </a:r>
            <a:r>
              <a:rPr lang="en-US" sz="1100" dirty="0">
                <a:latin typeface="Arial" panose="020B0604020202020204" pitchFamily="34" charset="0"/>
                <a:cs typeface="Arial" panose="020B0604020202020204" pitchFamily="34" charset="0"/>
              </a:rPr>
              <a:t>, y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1 y 3 a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TM0 y TM1 </a:t>
            </a:r>
            <a:r>
              <a:rPr lang="en-US" sz="1100" dirty="0" err="1">
                <a:latin typeface="Arial" panose="020B0604020202020204" pitchFamily="34" charset="0"/>
                <a:cs typeface="Arial" panose="020B0604020202020204" pitchFamily="34" charset="0"/>
              </a:rPr>
              <a:t>respectivamente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Adicionalmente</a:t>
            </a:r>
            <a:r>
              <a:rPr lang="en-US" sz="1100" dirty="0">
                <a:latin typeface="Arial" panose="020B0604020202020204" pitchFamily="34" charset="0"/>
                <a:cs typeface="Arial" panose="020B0604020202020204" pitchFamily="34" charset="0"/>
              </a:rPr>
              <a:t>, se </a:t>
            </a:r>
            <a:r>
              <a:rPr lang="en-US" sz="1100" dirty="0" err="1">
                <a:latin typeface="Arial" panose="020B0604020202020204" pitchFamily="34" charset="0"/>
                <a:cs typeface="Arial" panose="020B0604020202020204" pitchFamily="34" charset="0"/>
              </a:rPr>
              <a:t>puede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ver</a:t>
            </a:r>
            <a:r>
              <a:rPr lang="en-US" sz="1100" dirty="0">
                <a:latin typeface="Arial" panose="020B0604020202020204" pitchFamily="34" charset="0"/>
                <a:cs typeface="Arial" panose="020B0604020202020204" pitchFamily="34" charset="0"/>
              </a:rPr>
              <a:t> que no hay un </a:t>
            </a:r>
            <a:r>
              <a:rPr lang="en-US" sz="1100" dirty="0" err="1">
                <a:latin typeface="Arial" panose="020B0604020202020204" pitchFamily="34" charset="0"/>
                <a:cs typeface="Arial" panose="020B0604020202020204" pitchFamily="34" charset="0"/>
              </a:rPr>
              <a:t>cambio</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fracción</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polarización</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pronunciado</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todos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los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a:t>
            </a:r>
          </a:p>
          <a:p>
            <a:pPr algn="just"/>
            <a:endParaRPr lang="en-US" sz="1100" dirty="0">
              <a:latin typeface="Arial" panose="020B0604020202020204" pitchFamily="34" charset="0"/>
              <a:cs typeface="Arial" panose="020B0604020202020204" pitchFamily="34" charset="0"/>
            </a:endParaRPr>
          </a:p>
          <a:p>
            <a:pPr algn="just"/>
            <a:r>
              <a:rPr lang="en-US" sz="1100" dirty="0">
                <a:latin typeface="Arial" panose="020B0604020202020204" pitchFamily="34" charset="0"/>
                <a:cs typeface="Arial" panose="020B0604020202020204" pitchFamily="34" charset="0"/>
              </a:rPr>
              <a:t>Por </a:t>
            </a:r>
            <a:r>
              <a:rPr lang="en-US" sz="1100" dirty="0" err="1">
                <a:latin typeface="Arial" panose="020B0604020202020204" pitchFamily="34" charset="0"/>
                <a:cs typeface="Arial" panose="020B0604020202020204" pitchFamily="34" charset="0"/>
              </a:rPr>
              <a:t>otro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lado</a:t>
            </a:r>
            <a:r>
              <a:rPr lang="en-US" sz="1100" dirty="0">
                <a:latin typeface="Arial" panose="020B0604020202020204" pitchFamily="34" charset="0"/>
                <a:cs typeface="Arial" panose="020B0604020202020204" pitchFamily="34" charset="0"/>
              </a:rPr>
              <a:t>, para saber </a:t>
            </a:r>
            <a:r>
              <a:rPr lang="en-US" sz="1100" dirty="0" err="1">
                <a:latin typeface="Arial" panose="020B0604020202020204" pitchFamily="34" charset="0"/>
                <a:cs typeface="Arial" panose="020B0604020202020204" pitchFamily="34" charset="0"/>
              </a:rPr>
              <a:t>si</a:t>
            </a:r>
            <a:r>
              <a:rPr lang="en-US" sz="1100" dirty="0">
                <a:latin typeface="Arial" panose="020B0604020202020204" pitchFamily="34" charset="0"/>
                <a:cs typeface="Arial" panose="020B0604020202020204" pitchFamily="34" charset="0"/>
              </a:rPr>
              <a:t> un modo se </a:t>
            </a:r>
            <a:r>
              <a:rPr lang="en-US" sz="1100" dirty="0" err="1">
                <a:latin typeface="Arial" panose="020B0604020202020204" pitchFamily="34" charset="0"/>
                <a:cs typeface="Arial" panose="020B0604020202020204" pitchFamily="34" charset="0"/>
              </a:rPr>
              <a:t>propaga</a:t>
            </a:r>
            <a:r>
              <a:rPr lang="en-US" sz="1100" dirty="0">
                <a:latin typeface="Arial" panose="020B0604020202020204" pitchFamily="34" charset="0"/>
                <a:cs typeface="Arial" panose="020B0604020202020204" pitchFamily="34" charset="0"/>
              </a:rPr>
              <a:t> o no </a:t>
            </a:r>
            <a:r>
              <a:rPr lang="en-US" sz="1100" dirty="0" err="1">
                <a:latin typeface="Arial" panose="020B0604020202020204" pitchFamily="34" charset="0"/>
                <a:cs typeface="Arial" panose="020B0604020202020204" pitchFamily="34" charset="0"/>
              </a:rPr>
              <a:t>en</a:t>
            </a:r>
            <a:r>
              <a:rPr lang="en-US" sz="1100" dirty="0">
                <a:latin typeface="Arial" panose="020B0604020202020204" pitchFamily="34" charset="0"/>
                <a:cs typeface="Arial" panose="020B0604020202020204" pitchFamily="34" charset="0"/>
              </a:rPr>
              <a:t> una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onda</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tiene</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tener</a:t>
            </a:r>
            <a:r>
              <a:rPr lang="en-US" sz="1100" dirty="0">
                <a:latin typeface="Arial" panose="020B0604020202020204" pitchFamily="34" charset="0"/>
                <a:cs typeface="Arial" panose="020B0604020202020204" pitchFamily="34" charset="0"/>
              </a:rPr>
              <a:t> un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efectivo</a:t>
            </a:r>
            <a:r>
              <a:rPr lang="en-US" sz="1100" dirty="0">
                <a:latin typeface="Arial" panose="020B0604020202020204" pitchFamily="34" charset="0"/>
                <a:cs typeface="Arial" panose="020B0604020202020204" pitchFamily="34" charset="0"/>
              </a:rPr>
              <a:t> mayor al del cladding (1.44, SiO2). </a:t>
            </a:r>
            <a:r>
              <a:rPr lang="en-US" sz="1100" dirty="0" err="1">
                <a:latin typeface="Arial" panose="020B0604020202020204" pitchFamily="34" charset="0"/>
                <a:cs typeface="Arial" panose="020B0604020202020204" pitchFamily="34" charset="0"/>
              </a:rPr>
              <a:t>En</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este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caso</a:t>
            </a:r>
            <a:r>
              <a:rPr lang="en-US" sz="1100" dirty="0">
                <a:latin typeface="Arial" panose="020B0604020202020204" pitchFamily="34" charset="0"/>
                <a:cs typeface="Arial" panose="020B0604020202020204" pitchFamily="34" charset="0"/>
              </a:rPr>
              <a:t>, se </a:t>
            </a:r>
            <a:r>
              <a:rPr lang="en-US" sz="1100" dirty="0" err="1">
                <a:latin typeface="Arial" panose="020B0604020202020204" pitchFamily="34" charset="0"/>
                <a:cs typeface="Arial" panose="020B0604020202020204" pitchFamily="34" charset="0"/>
              </a:rPr>
              <a:t>puede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apreciar</a:t>
            </a:r>
            <a:r>
              <a:rPr lang="en-US" sz="1100" dirty="0">
                <a:latin typeface="Arial" panose="020B0604020202020204" pitchFamily="34" charset="0"/>
                <a:cs typeface="Arial" panose="020B0604020202020204" pitchFamily="34" charset="0"/>
              </a:rPr>
              <a:t> que los </a:t>
            </a:r>
            <a:r>
              <a:rPr lang="en-US" sz="1100" dirty="0" err="1">
                <a:latin typeface="Arial" panose="020B0604020202020204" pitchFamily="34" charset="0"/>
                <a:cs typeface="Arial" panose="020B0604020202020204" pitchFamily="34" charset="0"/>
              </a:rPr>
              <a:t>los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únicos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que se </a:t>
            </a:r>
            <a:r>
              <a:rPr lang="en-US" sz="1100" dirty="0" err="1">
                <a:latin typeface="Arial" panose="020B0604020202020204" pitchFamily="34" charset="0"/>
                <a:cs typeface="Arial" panose="020B0604020202020204" pitchFamily="34" charset="0"/>
              </a:rPr>
              <a:t>propagan</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todo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rango</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anchos</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onda</a:t>
            </a:r>
            <a:r>
              <a:rPr lang="en-US" sz="1100" dirty="0">
                <a:latin typeface="Arial" panose="020B0604020202020204" pitchFamily="34" charset="0"/>
                <a:cs typeface="Arial" panose="020B0604020202020204" pitchFamily="34" charset="0"/>
              </a:rPr>
              <a:t> son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0 y 1, </a:t>
            </a:r>
            <a:r>
              <a:rPr lang="en-US" sz="1100" dirty="0" err="1">
                <a:latin typeface="Arial" panose="020B0604020202020204" pitchFamily="34" charset="0"/>
                <a:cs typeface="Arial" panose="020B0604020202020204" pitchFamily="34" charset="0"/>
              </a:rPr>
              <a:t>mientras</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modo 2 </a:t>
            </a:r>
            <a:r>
              <a:rPr lang="en-US" sz="1100" dirty="0" err="1">
                <a:latin typeface="Arial" panose="020B0604020202020204" pitchFamily="34" charset="0"/>
                <a:cs typeface="Arial" panose="020B0604020202020204" pitchFamily="34" charset="0"/>
              </a:rPr>
              <a:t>empezará</a:t>
            </a:r>
            <a:r>
              <a:rPr lang="en-US" sz="1100" dirty="0">
                <a:latin typeface="Arial" panose="020B0604020202020204" pitchFamily="34" charset="0"/>
                <a:cs typeface="Arial" panose="020B0604020202020204" pitchFamily="34" charset="0"/>
              </a:rPr>
              <a:t> a </a:t>
            </a:r>
            <a:r>
              <a:rPr lang="en-US" sz="1100" dirty="0" err="1">
                <a:latin typeface="Arial" panose="020B0604020202020204" pitchFamily="34" charset="0"/>
                <a:cs typeface="Arial" panose="020B0604020202020204" pitchFamily="34" charset="0"/>
              </a:rPr>
              <a:t>propagarse</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anchos</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mayores</a:t>
            </a:r>
            <a:r>
              <a:rPr lang="en-US" sz="1100" dirty="0">
                <a:latin typeface="Arial" panose="020B0604020202020204" pitchFamily="34" charset="0"/>
                <a:cs typeface="Arial" panose="020B0604020202020204" pitchFamily="34" charset="0"/>
              </a:rPr>
              <a:t> a 1.3 um. Por contra,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modo 3 no se </a:t>
            </a:r>
            <a:r>
              <a:rPr lang="en-US" sz="1100" dirty="0" err="1">
                <a:latin typeface="Arial" panose="020B0604020202020204" pitchFamily="34" charset="0"/>
                <a:cs typeface="Arial" panose="020B0604020202020204" pitchFamily="34" charset="0"/>
              </a:rPr>
              <a:t>propagará</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ningún</a:t>
            </a:r>
            <a:r>
              <a:rPr lang="en-US" sz="1100" dirty="0">
                <a:latin typeface="Arial" panose="020B0604020202020204" pitchFamily="34" charset="0"/>
                <a:cs typeface="Arial" panose="020B0604020202020204" pitchFamily="34" charset="0"/>
              </a:rPr>
              <a:t> ancho dentro del </a:t>
            </a:r>
            <a:r>
              <a:rPr lang="en-US" sz="1100" dirty="0" err="1">
                <a:latin typeface="Arial" panose="020B0604020202020204" pitchFamily="34" charset="0"/>
                <a:cs typeface="Arial" panose="020B0604020202020204" pitchFamily="34" charset="0"/>
              </a:rPr>
              <a:t>rango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propuesto</a:t>
            </a:r>
            <a:r>
              <a:rPr lang="en-US" sz="1100" dirty="0">
                <a:latin typeface="Arial" panose="020B0604020202020204" pitchFamily="34" charset="0"/>
                <a:cs typeface="Arial" panose="020B0604020202020204" pitchFamily="34" charset="0"/>
              </a:rPr>
              <a:t>, es </a:t>
            </a:r>
            <a:r>
              <a:rPr lang="en-US" sz="1100" dirty="0" err="1">
                <a:latin typeface="Arial" panose="020B0604020202020204" pitchFamily="34" charset="0"/>
                <a:cs typeface="Arial" panose="020B0604020202020204" pitchFamily="34" charset="0"/>
              </a:rPr>
              <a:t>decir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este</a:t>
            </a:r>
            <a:r>
              <a:rPr lang="en-US" sz="1100" dirty="0">
                <a:latin typeface="Arial" panose="020B0604020202020204" pitchFamily="34" charset="0"/>
                <a:cs typeface="Arial" panose="020B0604020202020204" pitchFamily="34" charset="0"/>
              </a:rPr>
              <a:t> modo </a:t>
            </a:r>
            <a:r>
              <a:rPr lang="en-US" sz="1100" dirty="0" err="1">
                <a:latin typeface="Arial" panose="020B0604020202020204" pitchFamily="34" charset="0"/>
                <a:cs typeface="Arial" panose="020B0604020202020204" pitchFamily="34" charset="0"/>
              </a:rPr>
              <a:t>está</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en</a:t>
            </a:r>
            <a:r>
              <a:rPr lang="en-US" sz="1100" dirty="0">
                <a:latin typeface="Arial" panose="020B0604020202020204" pitchFamily="34" charset="0"/>
                <a:cs typeface="Arial" panose="020B0604020202020204" pitchFamily="34" charset="0"/>
              </a:rPr>
              <a:t> corte.</a:t>
            </a:r>
          </a:p>
          <a:p>
            <a:pPr algn="just"/>
            <a:endParaRPr lang="en-US" sz="1100" dirty="0">
              <a:latin typeface="Arial" panose="020B0604020202020204" pitchFamily="34" charset="0"/>
              <a:cs typeface="Arial" panose="020B0604020202020204" pitchFamily="34" charset="0"/>
            </a:endParaRPr>
          </a:p>
          <a:p>
            <a:pPr algn="just"/>
            <a:r>
              <a:rPr lang="en-US" sz="1100" dirty="0">
                <a:latin typeface="Arial" panose="020B0604020202020204" pitchFamily="34" charset="0"/>
                <a:cs typeface="Arial" panose="020B0604020202020204" pitchFamily="34" charset="0"/>
              </a:rPr>
              <a:t>También se </a:t>
            </a:r>
            <a:r>
              <a:rPr lang="en-US" sz="1100" dirty="0" err="1">
                <a:latin typeface="Arial" panose="020B0604020202020204" pitchFamily="34" charset="0"/>
                <a:cs typeface="Arial" panose="020B0604020202020204" pitchFamily="34" charset="0"/>
              </a:rPr>
              <a:t>observa</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efectivo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aumenta</a:t>
            </a:r>
            <a:r>
              <a:rPr lang="en-US" sz="1100" dirty="0">
                <a:latin typeface="Arial" panose="020B0604020202020204" pitchFamily="34" charset="0"/>
                <a:cs typeface="Arial" panose="020B0604020202020204" pitchFamily="34" charset="0"/>
              </a:rPr>
              <a:t> a </a:t>
            </a:r>
            <a:r>
              <a:rPr lang="en-US" sz="1100" dirty="0" err="1">
                <a:latin typeface="Arial" panose="020B0604020202020204" pitchFamily="34" charset="0"/>
                <a:cs typeface="Arial" panose="020B0604020202020204" pitchFamily="34" charset="0"/>
              </a:rPr>
              <a:t>medida</a:t>
            </a:r>
            <a:r>
              <a:rPr lang="en-US" sz="1100" dirty="0">
                <a:latin typeface="Arial" panose="020B0604020202020204" pitchFamily="34" charset="0"/>
                <a:cs typeface="Arial" panose="020B0604020202020204" pitchFamily="34" charset="0"/>
              </a:rPr>
              <a:t> que </a:t>
            </a:r>
            <a:r>
              <a:rPr lang="en-US" sz="1100" dirty="0" err="1">
                <a:latin typeface="Arial" panose="020B0604020202020204" pitchFamily="34" charset="0"/>
                <a:cs typeface="Arial" panose="020B0604020202020204" pitchFamily="34" charset="0"/>
              </a:rPr>
              <a:t>ensanchamos</a:t>
            </a:r>
            <a:r>
              <a:rPr lang="en-US" sz="1100" dirty="0">
                <a:latin typeface="Arial" panose="020B0604020202020204" pitchFamily="34" charset="0"/>
                <a:cs typeface="Arial" panose="020B0604020202020204" pitchFamily="34" charset="0"/>
              </a:rPr>
              <a:t> la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onda</a:t>
            </a:r>
            <a:r>
              <a:rPr lang="en-US" sz="1100" dirty="0">
                <a:latin typeface="Arial" panose="020B0604020202020204" pitchFamily="34" charset="0"/>
                <a:cs typeface="Arial" panose="020B0604020202020204" pitchFamily="34" charset="0"/>
              </a:rPr>
              <a:t>. Esto es </a:t>
            </a:r>
            <a:r>
              <a:rPr lang="en-US" sz="1100" dirty="0" err="1">
                <a:latin typeface="Arial" panose="020B0604020202020204" pitchFamily="34" charset="0"/>
                <a:cs typeface="Arial" panose="020B0604020202020204" pitchFamily="34" charset="0"/>
              </a:rPr>
              <a:t>debido</a:t>
            </a:r>
            <a:r>
              <a:rPr lang="en-US" sz="1100" dirty="0">
                <a:latin typeface="Arial" panose="020B0604020202020204" pitchFamily="34" charset="0"/>
                <a:cs typeface="Arial" panose="020B0604020202020204" pitchFamily="34" charset="0"/>
              </a:rPr>
              <a:t> a que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modo </a:t>
            </a:r>
            <a:r>
              <a:rPr lang="en-US" sz="1100" dirty="0" err="1">
                <a:latin typeface="Arial" panose="020B0604020202020204" pitchFamily="34" charset="0"/>
                <a:cs typeface="Arial" panose="020B0604020202020204" pitchFamily="34" charset="0"/>
              </a:rPr>
              <a:t>óptico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queda</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mejor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confinado</a:t>
            </a:r>
            <a:r>
              <a:rPr lang="en-US" sz="1100" dirty="0">
                <a:latin typeface="Arial" panose="020B0604020202020204" pitchFamily="34" charset="0"/>
                <a:cs typeface="Arial" panose="020B0604020202020204" pitchFamily="34" charset="0"/>
              </a:rPr>
              <a:t>, y al </a:t>
            </a:r>
            <a:r>
              <a:rPr lang="en-US" sz="1100" dirty="0" err="1">
                <a:latin typeface="Arial" panose="020B0604020202020204" pitchFamily="34" charset="0"/>
                <a:cs typeface="Arial" panose="020B0604020202020204" pitchFamily="34" charset="0"/>
              </a:rPr>
              <a:t>viajar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una</a:t>
            </a:r>
            <a:r>
              <a:rPr lang="en-US" sz="1100" dirty="0">
                <a:latin typeface="Arial" panose="020B0604020202020204" pitchFamily="34" charset="0"/>
                <a:cs typeface="Arial" panose="020B0604020202020204" pitchFamily="34" charset="0"/>
              </a:rPr>
              <a:t> mayor </a:t>
            </a:r>
            <a:r>
              <a:rPr lang="en-US" sz="1100" dirty="0" err="1">
                <a:latin typeface="Arial" panose="020B0604020202020204" pitchFamily="34" charset="0"/>
                <a:cs typeface="Arial" panose="020B0604020202020204" pitchFamily="34" charset="0"/>
              </a:rPr>
              <a:t>fracción</a:t>
            </a:r>
            <a:r>
              <a:rPr lang="en-US" sz="1100" dirty="0">
                <a:latin typeface="Arial" panose="020B0604020202020204" pitchFamily="34" charset="0"/>
                <a:cs typeface="Arial" panose="020B0604020202020204" pitchFamily="34" charset="0"/>
              </a:rPr>
              <a:t> de luz </a:t>
            </a:r>
            <a:r>
              <a:rPr lang="en-US" sz="1100" dirty="0" err="1">
                <a:latin typeface="Arial" panose="020B0604020202020204" pitchFamily="34" charset="0"/>
                <a:cs typeface="Arial" panose="020B0604020202020204" pitchFamily="34" charset="0"/>
              </a:rPr>
              <a:t>por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núcleo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cuyo</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de </a:t>
            </a:r>
            <a:r>
              <a:rPr lang="en-US" sz="1100" dirty="0" err="1">
                <a:latin typeface="Arial" panose="020B0604020202020204" pitchFamily="34" charset="0"/>
                <a:cs typeface="Arial" panose="020B0604020202020204" pitchFamily="34" charset="0"/>
              </a:rPr>
              <a:t>refracción</a:t>
            </a:r>
            <a:r>
              <a:rPr lang="en-US" sz="1100" dirty="0">
                <a:latin typeface="Arial" panose="020B0604020202020204" pitchFamily="34" charset="0"/>
                <a:cs typeface="Arial" panose="020B0604020202020204" pitchFamily="34" charset="0"/>
              </a:rPr>
              <a:t> es </a:t>
            </a:r>
            <a:r>
              <a:rPr lang="en-US" sz="1100" dirty="0" err="1">
                <a:latin typeface="Arial" panose="020B0604020202020204" pitchFamily="34" charset="0"/>
                <a:cs typeface="Arial" panose="020B0604020202020204" pitchFamily="34" charset="0"/>
              </a:rPr>
              <a:t>más</a:t>
            </a:r>
            <a:r>
              <a:rPr lang="en-US" sz="1100" dirty="0">
                <a:latin typeface="Arial" panose="020B0604020202020204" pitchFamily="34" charset="0"/>
                <a:cs typeface="Arial" panose="020B0604020202020204" pitchFamily="34" charset="0"/>
              </a:rPr>
              <a:t> alto),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índice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efectivo</a:t>
            </a:r>
            <a:r>
              <a:rPr lang="en-US" sz="1100" dirty="0">
                <a:latin typeface="Arial" panose="020B0604020202020204" pitchFamily="34" charset="0"/>
                <a:cs typeface="Arial" panose="020B0604020202020204" pitchFamily="34" charset="0"/>
              </a:rPr>
              <a:t> global del modo se </a:t>
            </a:r>
            <a:r>
              <a:rPr lang="en-US" sz="1100" dirty="0" err="1">
                <a:latin typeface="Arial" panose="020B0604020202020204" pitchFamily="34" charset="0"/>
                <a:cs typeface="Arial" panose="020B0604020202020204" pitchFamily="34" charset="0"/>
              </a:rPr>
              <a:t>incrementa</a:t>
            </a:r>
            <a:r>
              <a:rPr lang="en-US" sz="1100" dirty="0">
                <a:latin typeface="Arial" panose="020B0604020202020204" pitchFamily="34" charset="0"/>
                <a:cs typeface="Arial" panose="020B0604020202020204" pitchFamily="34" charset="0"/>
              </a:rPr>
              <a:t>. </a:t>
            </a:r>
          </a:p>
          <a:p>
            <a:pPr algn="just"/>
            <a:r>
              <a:rPr lang="en-US" sz="1100" dirty="0" err="1">
                <a:latin typeface="Arial" panose="020B0604020202020204" pitchFamily="34" charset="0"/>
                <a:cs typeface="Arial" panose="020B0604020202020204" pitchFamily="34" charset="0"/>
              </a:rPr>
              <a:t>Además</a:t>
            </a:r>
            <a:r>
              <a:rPr lang="en-US" sz="1100" dirty="0">
                <a:latin typeface="Arial" panose="020B0604020202020204" pitchFamily="34" charset="0"/>
                <a:cs typeface="Arial" panose="020B0604020202020204" pitchFamily="34" charset="0"/>
              </a:rPr>
              <a:t>, con </a:t>
            </a:r>
            <a:r>
              <a:rPr lang="en-US" sz="1100" dirty="0" err="1">
                <a:latin typeface="Arial" panose="020B0604020202020204" pitchFamily="34" charset="0"/>
                <a:cs typeface="Arial" panose="020B0604020202020204" pitchFamily="34" charset="0"/>
              </a:rPr>
              <a:t>el</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aumento</a:t>
            </a:r>
            <a:r>
              <a:rPr lang="en-US" sz="1100" dirty="0">
                <a:latin typeface="Arial" panose="020B0604020202020204" pitchFamily="34" charset="0"/>
                <a:cs typeface="Arial" panose="020B0604020202020204" pitchFamily="34" charset="0"/>
              </a:rPr>
              <a:t> del ancho de la </a:t>
            </a:r>
            <a:r>
              <a:rPr lang="en-US" sz="1100" dirty="0" err="1">
                <a:latin typeface="Arial" panose="020B0604020202020204" pitchFamily="34" charset="0"/>
                <a:cs typeface="Arial" panose="020B0604020202020204" pitchFamily="34" charset="0"/>
              </a:rPr>
              <a:t>guía</a:t>
            </a:r>
            <a:r>
              <a:rPr lang="en-US" sz="1100" dirty="0">
                <a:latin typeface="Arial" panose="020B0604020202020204" pitchFamily="34" charset="0"/>
                <a:cs typeface="Arial" panose="020B0604020202020204" pitchFamily="34" charset="0"/>
              </a:rPr>
              <a:t> también hay un </a:t>
            </a:r>
            <a:r>
              <a:rPr lang="en-US" sz="1100" dirty="0" err="1">
                <a:latin typeface="Arial" panose="020B0604020202020204" pitchFamily="34" charset="0"/>
                <a:cs typeface="Arial" panose="020B0604020202020204" pitchFamily="34" charset="0"/>
              </a:rPr>
              <a:t>aumento</a:t>
            </a:r>
            <a:r>
              <a:rPr lang="en-US" sz="1100" dirty="0">
                <a:latin typeface="Arial" panose="020B0604020202020204" pitchFamily="34" charset="0"/>
                <a:cs typeface="Arial" panose="020B0604020202020204" pitchFamily="34" charset="0"/>
              </a:rPr>
              <a:t> de los </a:t>
            </a:r>
            <a:r>
              <a:rPr lang="en-US" sz="1100" dirty="0" err="1">
                <a:latin typeface="Arial" panose="020B0604020202020204" pitchFamily="34" charset="0"/>
                <a:cs typeface="Arial" panose="020B0604020202020204" pitchFamily="34" charset="0"/>
              </a:rPr>
              <a:t>modos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propagados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ya</a:t>
            </a:r>
            <a:r>
              <a:rPr lang="en-US" sz="1100" dirty="0">
                <a:latin typeface="Arial" panose="020B0604020202020204" pitchFamily="34" charset="0"/>
                <a:cs typeface="Arial" panose="020B0604020202020204" pitchFamily="34" charset="0"/>
              </a:rPr>
              <a:t> que la luz </a:t>
            </a:r>
            <a:r>
              <a:rPr lang="en-US" sz="1100" dirty="0" err="1">
                <a:latin typeface="Arial" panose="020B0604020202020204" pitchFamily="34" charset="0"/>
                <a:cs typeface="Arial" panose="020B0604020202020204" pitchFamily="34" charset="0"/>
              </a:rPr>
              <a:t>tiene</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más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espacio</a:t>
            </a:r>
            <a:r>
              <a:rPr lang="en-US" sz="1100" dirty="0">
                <a:latin typeface="Arial" panose="020B0604020202020204" pitchFamily="34" charset="0"/>
                <a:cs typeface="Arial" panose="020B0604020202020204" pitchFamily="34" charset="0"/>
              </a:rPr>
              <a:t> para </a:t>
            </a:r>
            <a:r>
              <a:rPr lang="en-US" sz="1100" dirty="0" err="1">
                <a:latin typeface="Arial" panose="020B0604020202020204" pitchFamily="34" charset="0"/>
                <a:cs typeface="Arial" panose="020B0604020202020204" pitchFamily="34" charset="0"/>
              </a:rPr>
              <a:t>poder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albergar</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mayores</a:t>
            </a:r>
            <a:r>
              <a:rPr lang="en-US" sz="1100" dirty="0">
                <a:latin typeface="Arial" panose="020B0604020202020204" pitchFamily="34" charset="0"/>
                <a:cs typeface="Arial" panose="020B0604020202020204" pitchFamily="34" charset="0"/>
              </a:rPr>
              <a:t> </a:t>
            </a:r>
            <a:r>
              <a:rPr lang="en-US" sz="1100" dirty="0" err="1">
                <a:latin typeface="Arial" panose="020B0604020202020204" pitchFamily="34" charset="0"/>
                <a:cs typeface="Arial" panose="020B0604020202020204" pitchFamily="34" charset="0"/>
              </a:rPr>
              <a:t>patrones</a:t>
            </a:r>
            <a:r>
              <a:rPr lang="en-US" sz="1100" dirty="0">
                <a:latin typeface="Arial" panose="020B0604020202020204" pitchFamily="34" charset="0"/>
                <a:cs typeface="Arial" panose="020B0604020202020204" pitchFamily="34" charset="0"/>
              </a:rPr>
              <a:t> de luz </a:t>
            </a:r>
            <a:r>
              <a:rPr lang="en-US" sz="1100" dirty="0" err="1">
                <a:latin typeface="Arial" panose="020B0604020202020204" pitchFamily="34" charset="0"/>
                <a:cs typeface="Arial" panose="020B0604020202020204" pitchFamily="34" charset="0"/>
              </a:rPr>
              <a:t>permitidos</a:t>
            </a:r>
            <a:r>
              <a:rPr lang="en-US" sz="1100" dirty="0">
                <a:latin typeface="Arial" panose="020B0604020202020204" pitchFamily="34" charset="0"/>
                <a:cs typeface="Arial" panose="020B0604020202020204" pitchFamily="34" charset="0"/>
              </a:rPr>
              <a:t>.</a:t>
            </a:r>
          </a:p>
        </p:txBody>
      </p:sp>
      <p:sp>
        <p:nvSpPr>
          <p:cNvPr id="7" name="Rectángulo 6">
            <a:extLst>
              <a:ext uri="{FF2B5EF4-FFF2-40B4-BE49-F238E27FC236}">
                <a16:creationId xmlns:a16="http://schemas.microsoft.com/office/drawing/2014/main" id="{FBC7D187-267A-ADD4-764C-D3820B8ED302}"/>
              </a:ext>
            </a:extLst>
          </p:cNvPr>
          <p:cNvSpPr/>
          <p:nvPr/>
        </p:nvSpPr>
        <p:spPr>
          <a:xfrm>
            <a:off x="609600" y="1219200"/>
            <a:ext cx="11199971" cy="3053573"/>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159" y="247210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5" name="Imagen 4">
            <a:extLst>
              <a:ext uri="{FF2B5EF4-FFF2-40B4-BE49-F238E27FC236}">
                <a16:creationId xmlns:a16="http://schemas.microsoft.com/office/drawing/2014/main" id="{1ADA4AE6-2692-46AD-BB4E-E25E2E65533B}"/>
              </a:ext>
            </a:extLst>
          </p:cNvPr>
          <p:cNvPicPr>
            <a:picLocks noChangeAspect="1"/>
          </p:cNvPicPr>
          <p:nvPr/>
        </p:nvPicPr>
        <p:blipFill>
          <a:blip r:embed="rId5"/>
          <a:stretch>
            <a:fillRect/>
          </a:stretch>
        </p:blipFill>
        <p:spPr>
          <a:xfrm>
            <a:off x="3656362" y="1313726"/>
            <a:ext cx="4978173" cy="2898008"/>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3"/>
                <a:stretch>
                  <a:fillRect l="-1664" t="-7386" b="-4545"/>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294072"/>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Comment on the results found for the TE0 and TM0 for both deep and shallow waveguides. </a:t>
                </a: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294072"/>
              </a:xfrm>
              <a:prstGeom prst="rect">
                <a:avLst/>
              </a:prstGeom>
              <a:blipFill>
                <a:blip r:embed="rId6"/>
                <a:stretch>
                  <a:fillRect b="-943"/>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05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9ECAC86-693D-5AA1-319E-7BDC814F998A}"/>
              </a:ext>
            </a:extLst>
          </p:cNvPr>
          <p:cNvSpPr>
            <a:spLocks noGrp="1"/>
          </p:cNvSpPr>
          <p:nvPr>
            <p:ph type="title"/>
          </p:nvPr>
        </p:nvSpPr>
        <p:spPr>
          <a:xfrm>
            <a:off x="590550" y="206752"/>
            <a:ext cx="10991850" cy="369332"/>
          </a:xfrm>
        </p:spPr>
        <p:txBody>
          <a:bodyPr/>
          <a:lstStyle/>
          <a:p>
            <a:r>
              <a:rPr lang="en-US" sz="2400" dirty="0"/>
              <a:t>Learning outcome #3 – Waveguide compact model</a:t>
            </a:r>
            <a:endParaRPr lang="es-ES" sz="2400" dirty="0"/>
          </a:p>
        </p:txBody>
      </p:sp>
      <p:sp>
        <p:nvSpPr>
          <p:cNvPr id="3" name="Marcador de texto 2">
            <a:extLst>
              <a:ext uri="{FF2B5EF4-FFF2-40B4-BE49-F238E27FC236}">
                <a16:creationId xmlns:a16="http://schemas.microsoft.com/office/drawing/2014/main" id="{07C6FD61-A8A7-0DF1-CBCD-0AFE8E50AF48}"/>
              </a:ext>
            </a:extLst>
          </p:cNvPr>
          <p:cNvSpPr>
            <a:spLocks noGrp="1"/>
          </p:cNvSpPr>
          <p:nvPr>
            <p:ph type="body" idx="1"/>
          </p:nvPr>
        </p:nvSpPr>
        <p:spPr>
          <a:xfrm>
            <a:off x="628650" y="4509438"/>
            <a:ext cx="10972800" cy="1661993"/>
          </a:xfrm>
        </p:spPr>
        <p:txBody>
          <a:bodyPr/>
          <a:lstStyle/>
          <a:p>
            <a:pPr algn="just"/>
            <a:r>
              <a:rPr lang="es-ES_tradnl" sz="1200" dirty="0">
                <a:latin typeface="Arial" panose="020B0604020202020204" pitchFamily="34" charset="0"/>
                <a:cs typeface="Arial" panose="020B0604020202020204" pitchFamily="34" charset="0"/>
              </a:rPr>
              <a:t>En las guías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los índices de grupo son ligeramente superiores a las </a:t>
            </a:r>
            <a:r>
              <a:rPr lang="es-ES_tradnl" sz="1200" dirty="0" err="1">
                <a:latin typeface="Arial" panose="020B0604020202020204" pitchFamily="34" charset="0"/>
                <a:cs typeface="Arial" panose="020B0604020202020204" pitchFamily="34" charset="0"/>
              </a:rPr>
              <a:t>shallow</a:t>
            </a:r>
            <a:r>
              <a:rPr lang="es-ES_tradnl" sz="1200" dirty="0">
                <a:latin typeface="Arial" panose="020B0604020202020204" pitchFamily="34" charset="0"/>
                <a:cs typeface="Arial" panose="020B0604020202020204" pitchFamily="34" charset="0"/>
              </a:rPr>
              <a:t> para los dos modos. Esto se debe a que en las guías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hay un mayor confinamiento en el núcleo ya que las paredes laterales están totalmente grabadas. Por otro lado, en ambos tipos de guía se puede observar que hay un mayor índice de grupo en los modos TE que en los TM. Esto es porque el modo TE viaja más lento debido a que tiene una mayor interacción con la geometría del núcleo, ya que tiene componente en la dirección del ancho de la guía, donde hay más cantidad de material de guía.</a:t>
            </a:r>
          </a:p>
          <a:p>
            <a:pPr algn="just"/>
            <a:endParaRPr lang="es-ES_tradnl" sz="1200" dirty="0">
              <a:latin typeface="Arial" panose="020B0604020202020204" pitchFamily="34" charset="0"/>
              <a:cs typeface="Arial" panose="020B0604020202020204" pitchFamily="34" charset="0"/>
            </a:endParaRPr>
          </a:p>
          <a:p>
            <a:pPr algn="just"/>
            <a:r>
              <a:rPr lang="es-ES_tradnl" sz="1200" dirty="0">
                <a:latin typeface="Arial" panose="020B0604020202020204" pitchFamily="34" charset="0"/>
                <a:cs typeface="Arial" panose="020B0604020202020204" pitchFamily="34" charset="0"/>
              </a:rPr>
              <a:t>Respecto a la dispersión, la guía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tiene una D más negativa que la </a:t>
            </a:r>
            <a:r>
              <a:rPr lang="es-ES_tradnl" sz="1200" dirty="0" err="1">
                <a:latin typeface="Arial" panose="020B0604020202020204" pitchFamily="34" charset="0"/>
                <a:cs typeface="Arial" panose="020B0604020202020204" pitchFamily="34" charset="0"/>
              </a:rPr>
              <a:t>shallow</a:t>
            </a:r>
            <a:r>
              <a:rPr lang="es-ES_tradnl" sz="1200" dirty="0">
                <a:latin typeface="Arial" panose="020B0604020202020204" pitchFamily="34" charset="0"/>
                <a:cs typeface="Arial" panose="020B0604020202020204" pitchFamily="34" charset="0"/>
              </a:rPr>
              <a:t>. Esto se debe a que el grabado total de las paredes laterales de la guía </a:t>
            </a:r>
            <a:r>
              <a:rPr lang="es-ES_tradnl" sz="1200" dirty="0" err="1">
                <a:latin typeface="Arial" panose="020B0604020202020204" pitchFamily="34" charset="0"/>
                <a:cs typeface="Arial" panose="020B0604020202020204" pitchFamily="34" charset="0"/>
              </a:rPr>
              <a:t>deep</a:t>
            </a:r>
            <a:r>
              <a:rPr lang="es-ES_tradnl" sz="1200" dirty="0">
                <a:latin typeface="Arial" panose="020B0604020202020204" pitchFamily="34" charset="0"/>
                <a:cs typeface="Arial" panose="020B0604020202020204" pitchFamily="34" charset="0"/>
              </a:rPr>
              <a:t> hace que aumente la dispersión geometría, y como consecuencia aumenta la dispersión. Por otra parte, la guía </a:t>
            </a:r>
            <a:r>
              <a:rPr lang="es-ES_tradnl" sz="1200" dirty="0" err="1">
                <a:latin typeface="Arial" panose="020B0604020202020204" pitchFamily="34" charset="0"/>
                <a:cs typeface="Arial" panose="020B0604020202020204" pitchFamily="34" charset="0"/>
              </a:rPr>
              <a:t>shallow</a:t>
            </a:r>
            <a:r>
              <a:rPr lang="es-ES_tradnl" sz="1200" dirty="0">
                <a:latin typeface="Arial" panose="020B0604020202020204" pitchFamily="34" charset="0"/>
                <a:cs typeface="Arial" panose="020B0604020202020204" pitchFamily="34" charset="0"/>
              </a:rPr>
              <a:t>, al tener un </a:t>
            </a:r>
            <a:r>
              <a:rPr lang="es-ES_tradnl" sz="1200" dirty="0" err="1">
                <a:latin typeface="Arial" panose="020B0604020202020204" pitchFamily="34" charset="0"/>
                <a:cs typeface="Arial" panose="020B0604020202020204" pitchFamily="34" charset="0"/>
              </a:rPr>
              <a:t>slab</a:t>
            </a:r>
            <a:r>
              <a:rPr lang="es-ES_tradnl" sz="1200" dirty="0">
                <a:latin typeface="Arial" panose="020B0604020202020204" pitchFamily="34" charset="0"/>
                <a:cs typeface="Arial" panose="020B0604020202020204" pitchFamily="34" charset="0"/>
              </a:rPr>
              <a:t>, tiene una dispersión un poco más pequeña, ya que el </a:t>
            </a:r>
            <a:r>
              <a:rPr lang="es-ES_tradnl" sz="1200" dirty="0" err="1">
                <a:latin typeface="Arial" panose="020B0604020202020204" pitchFamily="34" charset="0"/>
                <a:cs typeface="Arial" panose="020B0604020202020204" pitchFamily="34" charset="0"/>
              </a:rPr>
              <a:t>slab</a:t>
            </a:r>
            <a:r>
              <a:rPr lang="es-ES_tradnl" sz="1200" dirty="0">
                <a:latin typeface="Arial" panose="020B0604020202020204" pitchFamily="34" charset="0"/>
                <a:cs typeface="Arial" panose="020B0604020202020204" pitchFamily="34" charset="0"/>
              </a:rPr>
              <a:t> hace que parte del campo se extienda lateralmente. Como consecuencia, la variación de índice efectivo se suaviza con la longitud de onda.</a:t>
            </a:r>
          </a:p>
        </p:txBody>
      </p:sp>
      <p:sp>
        <p:nvSpPr>
          <p:cNvPr id="4" name="Marcador de pie de página 3">
            <a:extLst>
              <a:ext uri="{FF2B5EF4-FFF2-40B4-BE49-F238E27FC236}">
                <a16:creationId xmlns:a16="http://schemas.microsoft.com/office/drawing/2014/main" id="{7E37F831-37DE-EC4E-C80A-AD5641BF89E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2333D34F-D87A-D3B6-EACD-EAF65EB069A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6" name="Imagen 5">
            <a:extLst>
              <a:ext uri="{FF2B5EF4-FFF2-40B4-BE49-F238E27FC236}">
                <a16:creationId xmlns:a16="http://schemas.microsoft.com/office/drawing/2014/main" id="{2788F4D0-5351-B696-8717-38FA725F5F91}"/>
              </a:ext>
            </a:extLst>
          </p:cNvPr>
          <p:cNvPicPr>
            <a:picLocks noChangeAspect="1"/>
          </p:cNvPicPr>
          <p:nvPr/>
        </p:nvPicPr>
        <p:blipFill>
          <a:blip r:embed="rId2"/>
          <a:srcRect t="1103" b="55150"/>
          <a:stretch/>
        </p:blipFill>
        <p:spPr>
          <a:xfrm>
            <a:off x="762000" y="3677557"/>
            <a:ext cx="4800600" cy="627731"/>
          </a:xfrm>
          <a:prstGeom prst="rect">
            <a:avLst/>
          </a:prstGeom>
        </p:spPr>
      </p:pic>
      <p:pic>
        <p:nvPicPr>
          <p:cNvPr id="7" name="Imagen 6">
            <a:extLst>
              <a:ext uri="{FF2B5EF4-FFF2-40B4-BE49-F238E27FC236}">
                <a16:creationId xmlns:a16="http://schemas.microsoft.com/office/drawing/2014/main" id="{FF976AA6-C02E-0ECD-3228-6E427C90DA13}"/>
              </a:ext>
            </a:extLst>
          </p:cNvPr>
          <p:cNvPicPr>
            <a:picLocks noChangeAspect="1"/>
          </p:cNvPicPr>
          <p:nvPr/>
        </p:nvPicPr>
        <p:blipFill>
          <a:blip r:embed="rId2"/>
          <a:srcRect t="47704"/>
          <a:stretch/>
        </p:blipFill>
        <p:spPr>
          <a:xfrm>
            <a:off x="6309341" y="3609823"/>
            <a:ext cx="4800600" cy="750405"/>
          </a:xfrm>
          <a:prstGeom prst="rect">
            <a:avLst/>
          </a:prstGeom>
        </p:spPr>
      </p:pic>
      <p:pic>
        <p:nvPicPr>
          <p:cNvPr id="9" name="Imagen 8">
            <a:extLst>
              <a:ext uri="{FF2B5EF4-FFF2-40B4-BE49-F238E27FC236}">
                <a16:creationId xmlns:a16="http://schemas.microsoft.com/office/drawing/2014/main" id="{5422221C-F3D4-43E2-9AED-FD3F6BD48214}"/>
              </a:ext>
            </a:extLst>
          </p:cNvPr>
          <p:cNvPicPr>
            <a:picLocks noChangeAspect="1"/>
          </p:cNvPicPr>
          <p:nvPr/>
        </p:nvPicPr>
        <p:blipFill>
          <a:blip r:embed="rId3"/>
          <a:stretch>
            <a:fillRect/>
          </a:stretch>
        </p:blipFill>
        <p:spPr>
          <a:xfrm>
            <a:off x="1219200" y="780234"/>
            <a:ext cx="3429000" cy="2718327"/>
          </a:xfrm>
          <a:prstGeom prst="rect">
            <a:avLst/>
          </a:prstGeom>
        </p:spPr>
      </p:pic>
      <p:pic>
        <p:nvPicPr>
          <p:cNvPr id="11" name="Imagen 10">
            <a:extLst>
              <a:ext uri="{FF2B5EF4-FFF2-40B4-BE49-F238E27FC236}">
                <a16:creationId xmlns:a16="http://schemas.microsoft.com/office/drawing/2014/main" id="{A71245E8-3970-4E6D-9FED-5632CC5B067E}"/>
              </a:ext>
            </a:extLst>
          </p:cNvPr>
          <p:cNvPicPr>
            <a:picLocks noChangeAspect="1"/>
          </p:cNvPicPr>
          <p:nvPr/>
        </p:nvPicPr>
        <p:blipFill>
          <a:blip r:embed="rId4"/>
          <a:stretch>
            <a:fillRect/>
          </a:stretch>
        </p:blipFill>
        <p:spPr>
          <a:xfrm>
            <a:off x="6995141" y="780234"/>
            <a:ext cx="3429000" cy="2718326"/>
          </a:xfrm>
          <a:prstGeom prst="rect">
            <a:avLst/>
          </a:prstGeom>
        </p:spPr>
      </p:pic>
    </p:spTree>
    <p:extLst>
      <p:ext uri="{BB962C8B-B14F-4D97-AF65-F5344CB8AC3E}">
        <p14:creationId xmlns:p14="http://schemas.microsoft.com/office/powerpoint/2010/main" val="1670541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br>
              <a:rPr lang="en-US" sz="2500" dirty="0"/>
            </a:br>
            <a:r>
              <a:rPr lang="en-US" b="0" dirty="0"/>
              <a:t>Find  neff_TE0 for </a:t>
            </a:r>
            <a:r>
              <a:rPr lang="en-US" b="0" dirty="0" err="1"/>
              <a:t>wvl</a:t>
            </a:r>
            <a:r>
              <a:rPr lang="en-US" b="0" dirty="0"/>
              <a:t> 1.55 µm, width 1.0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09FBBBB-69CA-B7E5-7176-8227F2788CF5}"/>
                  </a:ext>
                </a:extLst>
              </p:cNvPr>
              <p:cNvSpPr txBox="1"/>
              <p:nvPr/>
            </p:nvSpPr>
            <p:spPr>
              <a:xfrm>
                <a:off x="9941529" y="4179383"/>
                <a:ext cx="1856534" cy="439608"/>
              </a:xfrm>
              <a:prstGeom prst="rect">
                <a:avLst/>
              </a:prstGeom>
              <a:noFill/>
            </p:spPr>
            <p:txBody>
              <a:bodyPr wrap="none" lIns="0" tIns="0" rIns="0" bIns="0" rtlCol="0">
                <a:spAutoFit/>
              </a:bodyPr>
              <a:lstStyle/>
              <a:p>
                <a14:m>
                  <m:oMath xmlns:m="http://schemas.openxmlformats.org/officeDocument/2006/math">
                    <m:r>
                      <a:rPr lang="es-ES" sz="1800" b="0" i="1" smtClean="0">
                        <a:latin typeface="Cambria Math" panose="02040503050406030204" pitchFamily="18" charset="0"/>
                      </a:rPr>
                      <m:t>𝛼</m:t>
                    </m:r>
                    <m:d>
                      <m:dPr>
                        <m:begChr m:val="["/>
                        <m:endChr m:val="]"/>
                        <m:ctrlPr>
                          <a:rPr lang="es-ES" sz="1800" b="0" i="1" smtClean="0">
                            <a:latin typeface="Cambria Math" panose="02040503050406030204" pitchFamily="18" charset="0"/>
                          </a:rPr>
                        </m:ctrlPr>
                      </m:dPr>
                      <m:e>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𝑑𝐵</m:t>
                            </m:r>
                          </m:num>
                          <m:den>
                            <m:r>
                              <a:rPr lang="es-ES" sz="1800" b="0" i="1" smtClean="0">
                                <a:latin typeface="Cambria Math" panose="02040503050406030204" pitchFamily="18" charset="0"/>
                              </a:rPr>
                              <m:t>90</m:t>
                            </m:r>
                            <m:r>
                              <a:rPr lang="es-ES" sz="1800" b="0" i="1" smtClean="0">
                                <a:latin typeface="Cambria Math" panose="02040503050406030204" pitchFamily="18" charset="0"/>
                                <a:ea typeface="Cambria Math" panose="02040503050406030204" pitchFamily="18" charset="0"/>
                              </a:rPr>
                              <m:t>°</m:t>
                            </m:r>
                          </m:den>
                        </m:f>
                      </m:e>
                    </m:d>
                    <m:r>
                      <a:rPr lang="es-ES" sz="1800" b="0" i="1" smtClean="0">
                        <a:latin typeface="Cambria Math" panose="02040503050406030204" pitchFamily="18" charset="0"/>
                      </a:rPr>
                      <m:t>=</m:t>
                    </m:r>
                  </m:oMath>
                </a14:m>
                <a:r>
                  <a:rPr lang="es-ES" sz="1800" dirty="0"/>
                  <a:t> </a:t>
                </a:r>
                <a14:m>
                  <m:oMath xmlns:m="http://schemas.openxmlformats.org/officeDocument/2006/math">
                    <m:r>
                      <m:rPr>
                        <m:sty m:val="p"/>
                      </m:rPr>
                      <a:rPr lang="es-ES" sz="1800" b="0" i="0" smtClean="0">
                        <a:latin typeface="Cambria Math" panose="02040503050406030204" pitchFamily="18" charset="0"/>
                      </a:rPr>
                      <m:t>R</m:t>
                    </m:r>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𝜋</m:t>
                        </m:r>
                      </m:num>
                      <m:den>
                        <m:r>
                          <a:rPr lang="es-ES" sz="1800" b="0" i="1" smtClean="0">
                            <a:latin typeface="Cambria Math" panose="02040503050406030204" pitchFamily="18" charset="0"/>
                          </a:rPr>
                          <m:t>2</m:t>
                        </m:r>
                      </m:den>
                    </m:f>
                    <m:r>
                      <a:rPr lang="es-ES" sz="1800" i="1">
                        <a:latin typeface="Cambria Math" panose="02040503050406030204" pitchFamily="18" charset="0"/>
                      </a:rPr>
                      <m:t>𝛼</m:t>
                    </m:r>
                    <m:d>
                      <m:dPr>
                        <m:begChr m:val="["/>
                        <m:endChr m:val="]"/>
                        <m:ctrlPr>
                          <a:rPr lang="es-ES" sz="1800" i="1">
                            <a:latin typeface="Cambria Math" panose="02040503050406030204" pitchFamily="18" charset="0"/>
                          </a:rPr>
                        </m:ctrlPr>
                      </m:dPr>
                      <m:e>
                        <m:f>
                          <m:fPr>
                            <m:ctrlPr>
                              <a:rPr lang="es-ES" sz="1800" i="1">
                                <a:latin typeface="Cambria Math" panose="02040503050406030204" pitchFamily="18" charset="0"/>
                              </a:rPr>
                            </m:ctrlPr>
                          </m:fPr>
                          <m:num>
                            <m:r>
                              <a:rPr lang="es-ES" sz="1800" i="1">
                                <a:latin typeface="Cambria Math" panose="02040503050406030204" pitchFamily="18" charset="0"/>
                              </a:rPr>
                              <m:t>𝑑𝐵</m:t>
                            </m:r>
                          </m:num>
                          <m:den>
                            <m:r>
                              <a:rPr lang="es-ES" sz="1800" i="1">
                                <a:latin typeface="Cambria Math" panose="02040503050406030204" pitchFamily="18" charset="0"/>
                              </a:rPr>
                              <m:t>µ</m:t>
                            </m:r>
                            <m:r>
                              <a:rPr lang="es-ES" sz="1800" i="1">
                                <a:latin typeface="Cambria Math" panose="02040503050406030204" pitchFamily="18" charset="0"/>
                              </a:rPr>
                              <m:t>𝑚</m:t>
                            </m:r>
                          </m:den>
                        </m:f>
                      </m:e>
                    </m:d>
                  </m:oMath>
                </a14:m>
                <a:endParaRPr lang="en-US" sz="1800" dirty="0"/>
              </a:p>
            </p:txBody>
          </p:sp>
        </mc:Choice>
        <mc:Fallback xmlns="">
          <p:sp>
            <p:nvSpPr>
              <p:cNvPr id="6" name="CuadroTexto 5">
                <a:extLst>
                  <a:ext uri="{FF2B5EF4-FFF2-40B4-BE49-F238E27FC236}">
                    <a16:creationId xmlns:a16="http://schemas.microsoft.com/office/drawing/2014/main" id="{409FBBBB-69CA-B7E5-7176-8227F2788CF5}"/>
                  </a:ext>
                </a:extLst>
              </p:cNvPr>
              <p:cNvSpPr txBox="1">
                <a:spLocks noRot="1" noChangeAspect="1" noMove="1" noResize="1" noEditPoints="1" noAdjustHandles="1" noChangeArrowheads="1" noChangeShapeType="1" noTextEdit="1"/>
              </p:cNvSpPr>
              <p:nvPr/>
            </p:nvSpPr>
            <p:spPr>
              <a:xfrm>
                <a:off x="9941529" y="4179383"/>
                <a:ext cx="1856534" cy="439608"/>
              </a:xfrm>
              <a:prstGeom prst="rect">
                <a:avLst/>
              </a:prstGeom>
              <a:blipFill>
                <a:blip r:embed="rId5"/>
                <a:stretch>
                  <a:fillRect l="-3289" b="-13889"/>
                </a:stretch>
              </a:blipFill>
            </p:spPr>
            <p:txBody>
              <a:bodyPr/>
              <a:lstStyle/>
              <a:p>
                <a:r>
                  <a:rPr lang="es-ES">
                    <a:noFill/>
                  </a:rPr>
                  <a:t> </a:t>
                </a:r>
              </a:p>
            </p:txBody>
          </p:sp>
        </mc:Fallback>
      </mc:AlternateContent>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dB/90º neff_TE0 &amp; neff_TM0 vs R</a:t>
            </a:r>
          </a:p>
        </p:txBody>
      </p:sp>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5989B-EC37-4F64-96CC-43C44129BF0A}"/>
              </a:ext>
            </a:extLst>
          </p:cNvPr>
          <p:cNvSpPr>
            <a:spLocks noGrp="1"/>
          </p:cNvSpPr>
          <p:nvPr>
            <p:ph type="title"/>
          </p:nvPr>
        </p:nvSpPr>
        <p:spPr>
          <a:xfrm>
            <a:off x="590550" y="206752"/>
            <a:ext cx="10991850" cy="307777"/>
          </a:xfrm>
        </p:spPr>
        <p:txBody>
          <a:bodyPr/>
          <a:lstStyle/>
          <a:p>
            <a:r>
              <a:rPr lang="en-US" sz="2000" dirty="0"/>
              <a:t>Learning outcome #4 – Bend waveguide radius vs. loss – deep</a:t>
            </a:r>
            <a:endParaRPr lang="es-ES" dirty="0"/>
          </a:p>
        </p:txBody>
      </p:sp>
      <p:sp>
        <p:nvSpPr>
          <p:cNvPr id="3" name="Marcador de texto 2">
            <a:extLst>
              <a:ext uri="{FF2B5EF4-FFF2-40B4-BE49-F238E27FC236}">
                <a16:creationId xmlns:a16="http://schemas.microsoft.com/office/drawing/2014/main" id="{1A9C6F30-2C1A-453E-8E40-61C22FF1F397}"/>
              </a:ext>
            </a:extLst>
          </p:cNvPr>
          <p:cNvSpPr>
            <a:spLocks noGrp="1"/>
          </p:cNvSpPr>
          <p:nvPr>
            <p:ph type="body" idx="1"/>
          </p:nvPr>
        </p:nvSpPr>
        <p:spPr>
          <a:xfrm>
            <a:off x="6086475" y="2675930"/>
            <a:ext cx="5419725" cy="1002268"/>
          </a:xfrm>
        </p:spPr>
        <p:txBody>
          <a:bodyPr/>
          <a:lstStyle/>
          <a:p>
            <a:r>
              <a:rPr lang="es-ES" sz="1200" dirty="0"/>
              <a:t>En la gráfica que muestra el índice efectivo frente al radio de curvatura se puede observar que para el modo TE0 el índice se mantiene prácticamente constante e independiente del radio de curvatura (aprox. 1.59), lo que demuestra la gran estabilidad y el fuerte confinamiento de la luz en la guía </a:t>
            </a:r>
            <a:r>
              <a:rPr lang="es-ES" sz="1200" i="1" dirty="0" err="1"/>
              <a:t>deep</a:t>
            </a:r>
            <a:r>
              <a:rPr lang="es-ES" sz="1200" dirty="0"/>
              <a:t>. Por el contrario, el modo TM0 sufre una caída drástica en 25 µm, indicando una deformación severa del modo. </a:t>
            </a:r>
          </a:p>
        </p:txBody>
      </p:sp>
      <p:sp>
        <p:nvSpPr>
          <p:cNvPr id="4" name="Marcador de pie de página 3">
            <a:extLst>
              <a:ext uri="{FF2B5EF4-FFF2-40B4-BE49-F238E27FC236}">
                <a16:creationId xmlns:a16="http://schemas.microsoft.com/office/drawing/2014/main" id="{77B520AA-6A00-4259-A6FE-F826A76F321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386C9D40-BFCD-4E7B-A72F-34A171AD259C}"/>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a:extLst>
              <a:ext uri="{FF2B5EF4-FFF2-40B4-BE49-F238E27FC236}">
                <a16:creationId xmlns:a16="http://schemas.microsoft.com/office/drawing/2014/main" id="{AFA37951-1C73-4E76-B943-19DEDC10DA9A}"/>
              </a:ext>
            </a:extLst>
          </p:cNvPr>
          <p:cNvPicPr>
            <a:picLocks noChangeAspect="1"/>
          </p:cNvPicPr>
          <p:nvPr/>
        </p:nvPicPr>
        <p:blipFill>
          <a:blip r:embed="rId2"/>
          <a:stretch>
            <a:fillRect/>
          </a:stretch>
        </p:blipFill>
        <p:spPr>
          <a:xfrm>
            <a:off x="838200" y="1418099"/>
            <a:ext cx="4453467" cy="3517930"/>
          </a:xfrm>
          <a:prstGeom prst="rect">
            <a:avLst/>
          </a:prstGeom>
        </p:spPr>
      </p:pic>
    </p:spTree>
    <p:extLst>
      <p:ext uri="{BB962C8B-B14F-4D97-AF65-F5344CB8AC3E}">
        <p14:creationId xmlns:p14="http://schemas.microsoft.com/office/powerpoint/2010/main" val="1094044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5989B-EC37-4F64-96CC-43C44129BF0A}"/>
              </a:ext>
            </a:extLst>
          </p:cNvPr>
          <p:cNvSpPr>
            <a:spLocks noGrp="1"/>
          </p:cNvSpPr>
          <p:nvPr>
            <p:ph type="title"/>
          </p:nvPr>
        </p:nvSpPr>
        <p:spPr>
          <a:xfrm>
            <a:off x="590550" y="206752"/>
            <a:ext cx="10991850" cy="307777"/>
          </a:xfrm>
        </p:spPr>
        <p:txBody>
          <a:bodyPr/>
          <a:lstStyle/>
          <a:p>
            <a:r>
              <a:rPr lang="en-US" sz="2000" dirty="0"/>
              <a:t>Learning outcome #4 – Bend waveguide radius vs. loss – deep</a:t>
            </a:r>
            <a:endParaRPr lang="es-ES" dirty="0"/>
          </a:p>
        </p:txBody>
      </p:sp>
      <p:sp>
        <p:nvSpPr>
          <p:cNvPr id="4" name="Marcador de pie de página 3">
            <a:extLst>
              <a:ext uri="{FF2B5EF4-FFF2-40B4-BE49-F238E27FC236}">
                <a16:creationId xmlns:a16="http://schemas.microsoft.com/office/drawing/2014/main" id="{77B520AA-6A00-4259-A6FE-F826A76F321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386C9D40-BFCD-4E7B-A72F-34A171AD259C}"/>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10" name="Marcador de texto 2">
            <a:extLst>
              <a:ext uri="{FF2B5EF4-FFF2-40B4-BE49-F238E27FC236}">
                <a16:creationId xmlns:a16="http://schemas.microsoft.com/office/drawing/2014/main" id="{82705104-5DF5-473B-9FE2-0429FB31E93C}"/>
              </a:ext>
            </a:extLst>
          </p:cNvPr>
          <p:cNvSpPr txBox="1">
            <a:spLocks/>
          </p:cNvSpPr>
          <p:nvPr/>
        </p:nvSpPr>
        <p:spPr>
          <a:xfrm>
            <a:off x="6133991" y="1612665"/>
            <a:ext cx="4960620" cy="1107996"/>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s-ES" sz="1200" kern="0" dirty="0">
                <a:solidFill>
                  <a:sysClr val="windowText" lastClr="000000"/>
                </a:solidFill>
              </a:rPr>
              <a:t>Respecto a la gráfica de las perdidas para diferentes curvaturas para el modo TE, podemos observar que  </a:t>
            </a:r>
            <a:r>
              <a:rPr lang="es-ES" sz="1200" dirty="0"/>
              <a:t>el radio de 25 µm supera el límite de pérdidas aceptable (&gt; 0.1 dB) debido al alto </a:t>
            </a:r>
            <a:r>
              <a:rPr lang="es-ES" sz="1200" i="1" dirty="0" err="1"/>
              <a:t>mismatch</a:t>
            </a:r>
            <a:r>
              <a:rPr lang="es-ES" sz="1200" dirty="0"/>
              <a:t>. Sin embargo, a partir de 50 µm, la pérdida total cae drásticamente a valores seguros (~0.04 dB), estableciendo este como el radio mínimo seguro donde las pérdidas por propagación son despreciables.</a:t>
            </a:r>
            <a:endParaRPr lang="es-ES" sz="1200" kern="0" dirty="0">
              <a:solidFill>
                <a:sysClr val="windowText" lastClr="000000"/>
              </a:solidFill>
            </a:endParaRPr>
          </a:p>
        </p:txBody>
      </p:sp>
      <p:pic>
        <p:nvPicPr>
          <p:cNvPr id="16" name="Imagen 15">
            <a:extLst>
              <a:ext uri="{FF2B5EF4-FFF2-40B4-BE49-F238E27FC236}">
                <a16:creationId xmlns:a16="http://schemas.microsoft.com/office/drawing/2014/main" id="{CEF01B9A-780C-4F6B-AA81-6AF195AE7CD4}"/>
              </a:ext>
            </a:extLst>
          </p:cNvPr>
          <p:cNvPicPr>
            <a:picLocks noChangeAspect="1"/>
          </p:cNvPicPr>
          <p:nvPr/>
        </p:nvPicPr>
        <p:blipFill>
          <a:blip r:embed="rId2"/>
          <a:stretch>
            <a:fillRect/>
          </a:stretch>
        </p:blipFill>
        <p:spPr>
          <a:xfrm>
            <a:off x="1135380" y="836429"/>
            <a:ext cx="3962400" cy="2660469"/>
          </a:xfrm>
          <a:prstGeom prst="rect">
            <a:avLst/>
          </a:prstGeom>
        </p:spPr>
      </p:pic>
      <p:pic>
        <p:nvPicPr>
          <p:cNvPr id="8" name="Imagen 7">
            <a:extLst>
              <a:ext uri="{FF2B5EF4-FFF2-40B4-BE49-F238E27FC236}">
                <a16:creationId xmlns:a16="http://schemas.microsoft.com/office/drawing/2014/main" id="{8BD00B6F-61C5-4C92-92A1-8E9FF40389F6}"/>
              </a:ext>
            </a:extLst>
          </p:cNvPr>
          <p:cNvPicPr>
            <a:picLocks noChangeAspect="1"/>
          </p:cNvPicPr>
          <p:nvPr/>
        </p:nvPicPr>
        <p:blipFill>
          <a:blip r:embed="rId3"/>
          <a:stretch>
            <a:fillRect/>
          </a:stretch>
        </p:blipFill>
        <p:spPr>
          <a:xfrm>
            <a:off x="1135380" y="3715265"/>
            <a:ext cx="3962399" cy="2679608"/>
          </a:xfrm>
          <a:prstGeom prst="rect">
            <a:avLst/>
          </a:prstGeom>
        </p:spPr>
      </p:pic>
      <p:sp>
        <p:nvSpPr>
          <p:cNvPr id="9" name="CuadroTexto 8">
            <a:extLst>
              <a:ext uri="{FF2B5EF4-FFF2-40B4-BE49-F238E27FC236}">
                <a16:creationId xmlns:a16="http://schemas.microsoft.com/office/drawing/2014/main" id="{4E6FFA97-BEF9-465D-9837-BFF2C3E8D676}"/>
              </a:ext>
            </a:extLst>
          </p:cNvPr>
          <p:cNvSpPr txBox="1"/>
          <p:nvPr/>
        </p:nvSpPr>
        <p:spPr>
          <a:xfrm>
            <a:off x="6108590" y="4343400"/>
            <a:ext cx="4960621" cy="1200329"/>
          </a:xfrm>
          <a:prstGeom prst="rect">
            <a:avLst/>
          </a:prstGeom>
          <a:noFill/>
        </p:spPr>
        <p:txBody>
          <a:bodyPr wrap="square">
            <a:spAutoFit/>
          </a:bodyPr>
          <a:lstStyle/>
          <a:p>
            <a:r>
              <a:rPr lang="es-ES" sz="1200" dirty="0"/>
              <a:t>Por otro lado, el modo TM muestra una sensibilidad crítica a la curvatura. En R=25 µm, la pérdida es muy alta (&gt; 250 dB), indicando que el modo sufre radiación total o corte. Sin embargo, en R=50 µm, la guía recupera su funcionamiento óptimo con pérdidas casi nulas. Por tanto, el radio seguro global del diseño se fija en 50 µm, condicionado por la estabilidad de esta polarización</a:t>
            </a:r>
          </a:p>
        </p:txBody>
      </p:sp>
    </p:spTree>
    <p:extLst>
      <p:ext uri="{BB962C8B-B14F-4D97-AF65-F5344CB8AC3E}">
        <p14:creationId xmlns:p14="http://schemas.microsoft.com/office/powerpoint/2010/main" val="28885537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DF7315-348C-4DEC-B0BE-A6990045DA6D}"/>
              </a:ext>
            </a:extLst>
          </p:cNvPr>
          <p:cNvSpPr>
            <a:spLocks noGrp="1"/>
          </p:cNvSpPr>
          <p:nvPr>
            <p:ph type="title"/>
          </p:nvPr>
        </p:nvSpPr>
        <p:spPr>
          <a:xfrm>
            <a:off x="590550" y="206752"/>
            <a:ext cx="10991850" cy="307777"/>
          </a:xfrm>
        </p:spPr>
        <p:txBody>
          <a:bodyPr/>
          <a:lstStyle/>
          <a:p>
            <a:r>
              <a:rPr lang="en-US" u="sng" dirty="0"/>
              <a:t>EXTRA EXERCISES</a:t>
            </a:r>
            <a:endParaRPr lang="es-ES" u="sng" dirty="0"/>
          </a:p>
        </p:txBody>
      </p:sp>
      <p:sp>
        <p:nvSpPr>
          <p:cNvPr id="4" name="Marcador de pie de página 3">
            <a:extLst>
              <a:ext uri="{FF2B5EF4-FFF2-40B4-BE49-F238E27FC236}">
                <a16:creationId xmlns:a16="http://schemas.microsoft.com/office/drawing/2014/main" id="{7CB309BB-93C1-466F-B99A-12BF31408A9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9C197467-2935-49B4-A909-C9E9BFEE333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10" name="Título 1">
            <a:extLst>
              <a:ext uri="{FF2B5EF4-FFF2-40B4-BE49-F238E27FC236}">
                <a16:creationId xmlns:a16="http://schemas.microsoft.com/office/drawing/2014/main" id="{767FE45B-5CEE-45CD-AC79-25FB89879217}"/>
              </a:ext>
            </a:extLst>
          </p:cNvPr>
          <p:cNvSpPr txBox="1">
            <a:spLocks/>
          </p:cNvSpPr>
          <p:nvPr/>
        </p:nvSpPr>
        <p:spPr>
          <a:xfrm>
            <a:off x="590550" y="560189"/>
            <a:ext cx="1099185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n-US" kern="0" dirty="0"/>
              <a:t>1. Repeat the LO.1. wavelength behavior simulations, considering the updated materials and dimensions. </a:t>
            </a:r>
            <a:endParaRPr lang="es-ES" kern="0" dirty="0"/>
          </a:p>
        </p:txBody>
      </p:sp>
      <p:pic>
        <p:nvPicPr>
          <p:cNvPr id="12" name="Imagen 11">
            <a:extLst>
              <a:ext uri="{FF2B5EF4-FFF2-40B4-BE49-F238E27FC236}">
                <a16:creationId xmlns:a16="http://schemas.microsoft.com/office/drawing/2014/main" id="{E3822B9E-A299-47F4-A8D7-6E324A496E38}"/>
              </a:ext>
            </a:extLst>
          </p:cNvPr>
          <p:cNvPicPr>
            <a:picLocks noChangeAspect="1"/>
          </p:cNvPicPr>
          <p:nvPr/>
        </p:nvPicPr>
        <p:blipFill>
          <a:blip r:embed="rId2"/>
          <a:stretch>
            <a:fillRect/>
          </a:stretch>
        </p:blipFill>
        <p:spPr>
          <a:xfrm>
            <a:off x="6840086" y="1603200"/>
            <a:ext cx="2994280" cy="2365273"/>
          </a:xfrm>
          <a:prstGeom prst="rect">
            <a:avLst/>
          </a:prstGeom>
        </p:spPr>
      </p:pic>
      <p:pic>
        <p:nvPicPr>
          <p:cNvPr id="14" name="Imagen 13">
            <a:extLst>
              <a:ext uri="{FF2B5EF4-FFF2-40B4-BE49-F238E27FC236}">
                <a16:creationId xmlns:a16="http://schemas.microsoft.com/office/drawing/2014/main" id="{8160718F-5644-4C8A-AACE-FDAA995FB504}"/>
              </a:ext>
            </a:extLst>
          </p:cNvPr>
          <p:cNvPicPr>
            <a:picLocks noChangeAspect="1"/>
          </p:cNvPicPr>
          <p:nvPr/>
        </p:nvPicPr>
        <p:blipFill>
          <a:blip r:embed="rId3"/>
          <a:stretch>
            <a:fillRect/>
          </a:stretch>
        </p:blipFill>
        <p:spPr>
          <a:xfrm>
            <a:off x="6840086" y="3827024"/>
            <a:ext cx="2994280" cy="2365273"/>
          </a:xfrm>
          <a:prstGeom prst="rect">
            <a:avLst/>
          </a:prstGeom>
        </p:spPr>
      </p:pic>
      <p:pic>
        <p:nvPicPr>
          <p:cNvPr id="15" name="Imagen 14">
            <a:extLst>
              <a:ext uri="{FF2B5EF4-FFF2-40B4-BE49-F238E27FC236}">
                <a16:creationId xmlns:a16="http://schemas.microsoft.com/office/drawing/2014/main" id="{93ED8E60-C140-4C24-BA5C-39FF14A1E412}"/>
              </a:ext>
            </a:extLst>
          </p:cNvPr>
          <p:cNvPicPr>
            <a:picLocks noChangeAspect="1"/>
          </p:cNvPicPr>
          <p:nvPr/>
        </p:nvPicPr>
        <p:blipFill>
          <a:blip r:embed="rId4"/>
          <a:stretch>
            <a:fillRect/>
          </a:stretch>
        </p:blipFill>
        <p:spPr>
          <a:xfrm>
            <a:off x="1922914" y="1603200"/>
            <a:ext cx="2953886" cy="2297467"/>
          </a:xfrm>
          <a:prstGeom prst="rect">
            <a:avLst/>
          </a:prstGeom>
        </p:spPr>
      </p:pic>
      <p:pic>
        <p:nvPicPr>
          <p:cNvPr id="16" name="Imagen 15">
            <a:extLst>
              <a:ext uri="{FF2B5EF4-FFF2-40B4-BE49-F238E27FC236}">
                <a16:creationId xmlns:a16="http://schemas.microsoft.com/office/drawing/2014/main" id="{2DD75B9B-6D09-40E6-9CA2-A453F5727E3B}"/>
              </a:ext>
            </a:extLst>
          </p:cNvPr>
          <p:cNvPicPr>
            <a:picLocks noChangeAspect="1"/>
          </p:cNvPicPr>
          <p:nvPr/>
        </p:nvPicPr>
        <p:blipFill>
          <a:blip r:embed="rId5"/>
          <a:stretch>
            <a:fillRect/>
          </a:stretch>
        </p:blipFill>
        <p:spPr>
          <a:xfrm>
            <a:off x="1849938" y="3844400"/>
            <a:ext cx="2994281" cy="2297467"/>
          </a:xfrm>
          <a:prstGeom prst="rect">
            <a:avLst/>
          </a:prstGeom>
        </p:spPr>
      </p:pic>
      <p:sp>
        <p:nvSpPr>
          <p:cNvPr id="19" name="CuadroTexto 18">
            <a:extLst>
              <a:ext uri="{FF2B5EF4-FFF2-40B4-BE49-F238E27FC236}">
                <a16:creationId xmlns:a16="http://schemas.microsoft.com/office/drawing/2014/main" id="{E1CED8DD-47FB-44FE-9165-B8AD37A784AF}"/>
              </a:ext>
            </a:extLst>
          </p:cNvPr>
          <p:cNvSpPr txBox="1"/>
          <p:nvPr/>
        </p:nvSpPr>
        <p:spPr>
          <a:xfrm>
            <a:off x="3042385" y="1127298"/>
            <a:ext cx="714943" cy="369332"/>
          </a:xfrm>
          <a:prstGeom prst="rect">
            <a:avLst/>
          </a:prstGeom>
          <a:noFill/>
        </p:spPr>
        <p:txBody>
          <a:bodyPr wrap="square" rtlCol="0">
            <a:spAutoFit/>
          </a:bodyPr>
          <a:lstStyle/>
          <a:p>
            <a:pPr algn="ctr"/>
            <a:r>
              <a:rPr lang="es-ES" b="1" dirty="0" err="1"/>
              <a:t>SiNx</a:t>
            </a:r>
            <a:endParaRPr lang="es-ES" b="1" dirty="0"/>
          </a:p>
        </p:txBody>
      </p:sp>
      <p:sp>
        <p:nvSpPr>
          <p:cNvPr id="20" name="CuadroTexto 19">
            <a:extLst>
              <a:ext uri="{FF2B5EF4-FFF2-40B4-BE49-F238E27FC236}">
                <a16:creationId xmlns:a16="http://schemas.microsoft.com/office/drawing/2014/main" id="{6FFA4C21-0303-4CD2-AFBA-587E5CD85F8C}"/>
              </a:ext>
            </a:extLst>
          </p:cNvPr>
          <p:cNvSpPr txBox="1"/>
          <p:nvPr/>
        </p:nvSpPr>
        <p:spPr>
          <a:xfrm>
            <a:off x="7979754" y="1127298"/>
            <a:ext cx="714943" cy="369332"/>
          </a:xfrm>
          <a:prstGeom prst="rect">
            <a:avLst/>
          </a:prstGeom>
          <a:noFill/>
        </p:spPr>
        <p:txBody>
          <a:bodyPr wrap="square" rtlCol="0">
            <a:spAutoFit/>
          </a:bodyPr>
          <a:lstStyle/>
          <a:p>
            <a:pPr algn="ctr"/>
            <a:r>
              <a:rPr lang="es-ES" b="1" dirty="0"/>
              <a:t>SOI</a:t>
            </a:r>
          </a:p>
        </p:txBody>
      </p:sp>
    </p:spTree>
    <p:extLst>
      <p:ext uri="{BB962C8B-B14F-4D97-AF65-F5344CB8AC3E}">
        <p14:creationId xmlns:p14="http://schemas.microsoft.com/office/powerpoint/2010/main" val="28699633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56BE25-EC0B-4C94-B233-66A1360E4571}"/>
              </a:ext>
            </a:extLst>
          </p:cNvPr>
          <p:cNvSpPr>
            <a:spLocks noGrp="1"/>
          </p:cNvSpPr>
          <p:nvPr>
            <p:ph type="title"/>
          </p:nvPr>
        </p:nvSpPr>
        <p:spPr/>
        <p:txBody>
          <a:bodyPr/>
          <a:lstStyle/>
          <a:p>
            <a:r>
              <a:rPr lang="en-US" dirty="0"/>
              <a:t>2. Repeat the LO.2. width dependence analysis, now sweeping in a 300nm - 1um range. </a:t>
            </a:r>
            <a:endParaRPr lang="es-ES" dirty="0"/>
          </a:p>
        </p:txBody>
      </p:sp>
      <p:sp>
        <p:nvSpPr>
          <p:cNvPr id="4" name="Marcador de pie de página 3">
            <a:extLst>
              <a:ext uri="{FF2B5EF4-FFF2-40B4-BE49-F238E27FC236}">
                <a16:creationId xmlns:a16="http://schemas.microsoft.com/office/drawing/2014/main" id="{46A970DD-A35D-460C-A5FA-862864B2C6D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F18F8E7C-FF2C-4C50-99EA-809558B785D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6" name="Imagen 5">
            <a:extLst>
              <a:ext uri="{FF2B5EF4-FFF2-40B4-BE49-F238E27FC236}">
                <a16:creationId xmlns:a16="http://schemas.microsoft.com/office/drawing/2014/main" id="{89EB951E-B859-42C0-846A-EE8B11364D3A}"/>
              </a:ext>
            </a:extLst>
          </p:cNvPr>
          <p:cNvPicPr>
            <a:picLocks noChangeAspect="1"/>
          </p:cNvPicPr>
          <p:nvPr/>
        </p:nvPicPr>
        <p:blipFill>
          <a:blip r:embed="rId2"/>
          <a:stretch>
            <a:fillRect/>
          </a:stretch>
        </p:blipFill>
        <p:spPr>
          <a:xfrm>
            <a:off x="749073" y="1972246"/>
            <a:ext cx="5270728" cy="3068316"/>
          </a:xfrm>
          <a:prstGeom prst="rect">
            <a:avLst/>
          </a:prstGeom>
        </p:spPr>
      </p:pic>
      <p:pic>
        <p:nvPicPr>
          <p:cNvPr id="10" name="Imagen 9">
            <a:extLst>
              <a:ext uri="{FF2B5EF4-FFF2-40B4-BE49-F238E27FC236}">
                <a16:creationId xmlns:a16="http://schemas.microsoft.com/office/drawing/2014/main" id="{4305327A-1C7C-4DD3-8B62-0A5C4E080F09}"/>
              </a:ext>
            </a:extLst>
          </p:cNvPr>
          <p:cNvPicPr>
            <a:picLocks noChangeAspect="1"/>
          </p:cNvPicPr>
          <p:nvPr/>
        </p:nvPicPr>
        <p:blipFill>
          <a:blip r:embed="rId3"/>
          <a:stretch>
            <a:fillRect/>
          </a:stretch>
        </p:blipFill>
        <p:spPr>
          <a:xfrm>
            <a:off x="6330723" y="1972246"/>
            <a:ext cx="5270728" cy="3068316"/>
          </a:xfrm>
          <a:prstGeom prst="rect">
            <a:avLst/>
          </a:prstGeom>
        </p:spPr>
      </p:pic>
      <p:sp>
        <p:nvSpPr>
          <p:cNvPr id="11" name="CuadroTexto 10">
            <a:extLst>
              <a:ext uri="{FF2B5EF4-FFF2-40B4-BE49-F238E27FC236}">
                <a16:creationId xmlns:a16="http://schemas.microsoft.com/office/drawing/2014/main" id="{19325A31-46A6-4398-81D6-885EBAD863FD}"/>
              </a:ext>
            </a:extLst>
          </p:cNvPr>
          <p:cNvSpPr txBox="1"/>
          <p:nvPr/>
        </p:nvSpPr>
        <p:spPr>
          <a:xfrm>
            <a:off x="2745186" y="1373955"/>
            <a:ext cx="714943" cy="369332"/>
          </a:xfrm>
          <a:prstGeom prst="rect">
            <a:avLst/>
          </a:prstGeom>
          <a:noFill/>
        </p:spPr>
        <p:txBody>
          <a:bodyPr wrap="square" rtlCol="0">
            <a:spAutoFit/>
          </a:bodyPr>
          <a:lstStyle/>
          <a:p>
            <a:pPr algn="ctr"/>
            <a:r>
              <a:rPr lang="es-ES" b="1" dirty="0" err="1"/>
              <a:t>SiNx</a:t>
            </a:r>
            <a:endParaRPr lang="es-ES" b="1" dirty="0"/>
          </a:p>
        </p:txBody>
      </p:sp>
      <p:sp>
        <p:nvSpPr>
          <p:cNvPr id="12" name="CuadroTexto 11">
            <a:extLst>
              <a:ext uri="{FF2B5EF4-FFF2-40B4-BE49-F238E27FC236}">
                <a16:creationId xmlns:a16="http://schemas.microsoft.com/office/drawing/2014/main" id="{BF85ECDB-7570-49A2-8C15-330B84627778}"/>
              </a:ext>
            </a:extLst>
          </p:cNvPr>
          <p:cNvSpPr txBox="1"/>
          <p:nvPr/>
        </p:nvSpPr>
        <p:spPr>
          <a:xfrm>
            <a:off x="8534400" y="1371600"/>
            <a:ext cx="714943" cy="369332"/>
          </a:xfrm>
          <a:prstGeom prst="rect">
            <a:avLst/>
          </a:prstGeom>
          <a:noFill/>
        </p:spPr>
        <p:txBody>
          <a:bodyPr wrap="square" rtlCol="0">
            <a:spAutoFit/>
          </a:bodyPr>
          <a:lstStyle/>
          <a:p>
            <a:pPr algn="ctr"/>
            <a:r>
              <a:rPr lang="es-ES" b="1" dirty="0"/>
              <a:t>SOI</a:t>
            </a:r>
          </a:p>
        </p:txBody>
      </p:sp>
    </p:spTree>
    <p:extLst>
      <p:ext uri="{BB962C8B-B14F-4D97-AF65-F5344CB8AC3E}">
        <p14:creationId xmlns:p14="http://schemas.microsoft.com/office/powerpoint/2010/main" val="119383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5D5F59-2192-47F2-854B-1FA39D4DE720}"/>
              </a:ext>
            </a:extLst>
          </p:cNvPr>
          <p:cNvSpPr>
            <a:spLocks noGrp="1"/>
          </p:cNvSpPr>
          <p:nvPr>
            <p:ph type="title"/>
          </p:nvPr>
        </p:nvSpPr>
        <p:spPr/>
        <p:txBody>
          <a:bodyPr/>
          <a:lstStyle/>
          <a:p>
            <a:r>
              <a:rPr lang="en-US" dirty="0"/>
              <a:t>3. Find the safe radius for this technology. Consider sweeping the radius in a 5um to 30um range. </a:t>
            </a:r>
            <a:endParaRPr lang="es-ES" dirty="0"/>
          </a:p>
        </p:txBody>
      </p:sp>
      <p:sp>
        <p:nvSpPr>
          <p:cNvPr id="4" name="Marcador de pie de página 3">
            <a:extLst>
              <a:ext uri="{FF2B5EF4-FFF2-40B4-BE49-F238E27FC236}">
                <a16:creationId xmlns:a16="http://schemas.microsoft.com/office/drawing/2014/main" id="{31E7DA9E-A8F4-4743-BC2D-DED943DCC65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654D4401-B60A-4558-A201-A505E182615F}"/>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7" name="Imagen 6">
            <a:extLst>
              <a:ext uri="{FF2B5EF4-FFF2-40B4-BE49-F238E27FC236}">
                <a16:creationId xmlns:a16="http://schemas.microsoft.com/office/drawing/2014/main" id="{FF538905-6877-4030-A77A-17E028116AF7}"/>
              </a:ext>
            </a:extLst>
          </p:cNvPr>
          <p:cNvPicPr>
            <a:picLocks noChangeAspect="1"/>
          </p:cNvPicPr>
          <p:nvPr/>
        </p:nvPicPr>
        <p:blipFill>
          <a:blip r:embed="rId2"/>
          <a:stretch>
            <a:fillRect/>
          </a:stretch>
        </p:blipFill>
        <p:spPr>
          <a:xfrm>
            <a:off x="1528165" y="3705644"/>
            <a:ext cx="3087510" cy="2477632"/>
          </a:xfrm>
          <a:prstGeom prst="rect">
            <a:avLst/>
          </a:prstGeom>
        </p:spPr>
      </p:pic>
      <p:pic>
        <p:nvPicPr>
          <p:cNvPr id="9" name="Imagen 8">
            <a:extLst>
              <a:ext uri="{FF2B5EF4-FFF2-40B4-BE49-F238E27FC236}">
                <a16:creationId xmlns:a16="http://schemas.microsoft.com/office/drawing/2014/main" id="{7F54C6F4-1C5A-4C15-8070-96AFC1B1B47C}"/>
              </a:ext>
            </a:extLst>
          </p:cNvPr>
          <p:cNvPicPr>
            <a:picLocks noChangeAspect="1"/>
          </p:cNvPicPr>
          <p:nvPr/>
        </p:nvPicPr>
        <p:blipFill>
          <a:blip r:embed="rId3"/>
          <a:stretch>
            <a:fillRect/>
          </a:stretch>
        </p:blipFill>
        <p:spPr>
          <a:xfrm>
            <a:off x="4648200" y="3733800"/>
            <a:ext cx="3620911" cy="2431183"/>
          </a:xfrm>
          <a:prstGeom prst="rect">
            <a:avLst/>
          </a:prstGeom>
        </p:spPr>
      </p:pic>
      <p:pic>
        <p:nvPicPr>
          <p:cNvPr id="11" name="Imagen 10">
            <a:extLst>
              <a:ext uri="{FF2B5EF4-FFF2-40B4-BE49-F238E27FC236}">
                <a16:creationId xmlns:a16="http://schemas.microsoft.com/office/drawing/2014/main" id="{23E6A83C-2131-4475-8886-B7A49F0D7BC1}"/>
              </a:ext>
            </a:extLst>
          </p:cNvPr>
          <p:cNvPicPr>
            <a:picLocks noChangeAspect="1"/>
          </p:cNvPicPr>
          <p:nvPr/>
        </p:nvPicPr>
        <p:blipFill>
          <a:blip r:embed="rId4"/>
          <a:stretch>
            <a:fillRect/>
          </a:stretch>
        </p:blipFill>
        <p:spPr>
          <a:xfrm>
            <a:off x="8301636" y="3734602"/>
            <a:ext cx="3620911" cy="2448674"/>
          </a:xfrm>
          <a:prstGeom prst="rect">
            <a:avLst/>
          </a:prstGeom>
        </p:spPr>
      </p:pic>
      <p:pic>
        <p:nvPicPr>
          <p:cNvPr id="12" name="Imagen 11">
            <a:extLst>
              <a:ext uri="{FF2B5EF4-FFF2-40B4-BE49-F238E27FC236}">
                <a16:creationId xmlns:a16="http://schemas.microsoft.com/office/drawing/2014/main" id="{93DBABFF-2D52-40A9-9786-651F806B9608}"/>
              </a:ext>
            </a:extLst>
          </p:cNvPr>
          <p:cNvPicPr>
            <a:picLocks noChangeAspect="1"/>
          </p:cNvPicPr>
          <p:nvPr/>
        </p:nvPicPr>
        <p:blipFill>
          <a:blip r:embed="rId5"/>
          <a:stretch>
            <a:fillRect/>
          </a:stretch>
        </p:blipFill>
        <p:spPr>
          <a:xfrm>
            <a:off x="1528165" y="1016443"/>
            <a:ext cx="3077718" cy="2431183"/>
          </a:xfrm>
          <a:prstGeom prst="rect">
            <a:avLst/>
          </a:prstGeom>
        </p:spPr>
      </p:pic>
      <p:pic>
        <p:nvPicPr>
          <p:cNvPr id="13" name="Imagen 12">
            <a:extLst>
              <a:ext uri="{FF2B5EF4-FFF2-40B4-BE49-F238E27FC236}">
                <a16:creationId xmlns:a16="http://schemas.microsoft.com/office/drawing/2014/main" id="{EFF9D476-B78E-4B5D-8DB8-5F421778A9F1}"/>
              </a:ext>
            </a:extLst>
          </p:cNvPr>
          <p:cNvPicPr>
            <a:picLocks noChangeAspect="1"/>
          </p:cNvPicPr>
          <p:nvPr/>
        </p:nvPicPr>
        <p:blipFill>
          <a:blip r:embed="rId6"/>
          <a:stretch>
            <a:fillRect/>
          </a:stretch>
        </p:blipFill>
        <p:spPr>
          <a:xfrm>
            <a:off x="4648199" y="1016443"/>
            <a:ext cx="3620911" cy="2431183"/>
          </a:xfrm>
          <a:prstGeom prst="rect">
            <a:avLst/>
          </a:prstGeom>
        </p:spPr>
      </p:pic>
      <p:pic>
        <p:nvPicPr>
          <p:cNvPr id="14" name="Imagen 13">
            <a:extLst>
              <a:ext uri="{FF2B5EF4-FFF2-40B4-BE49-F238E27FC236}">
                <a16:creationId xmlns:a16="http://schemas.microsoft.com/office/drawing/2014/main" id="{5B9354A5-3DE2-4B10-8DCB-2EA27FC5DC52}"/>
              </a:ext>
            </a:extLst>
          </p:cNvPr>
          <p:cNvPicPr>
            <a:picLocks noChangeAspect="1"/>
          </p:cNvPicPr>
          <p:nvPr/>
        </p:nvPicPr>
        <p:blipFill>
          <a:blip r:embed="rId7"/>
          <a:stretch>
            <a:fillRect/>
          </a:stretch>
        </p:blipFill>
        <p:spPr>
          <a:xfrm>
            <a:off x="8269111" y="998952"/>
            <a:ext cx="3620912" cy="2448674"/>
          </a:xfrm>
          <a:prstGeom prst="rect">
            <a:avLst/>
          </a:prstGeom>
        </p:spPr>
      </p:pic>
      <p:sp>
        <p:nvSpPr>
          <p:cNvPr id="15" name="CuadroTexto 14">
            <a:extLst>
              <a:ext uri="{FF2B5EF4-FFF2-40B4-BE49-F238E27FC236}">
                <a16:creationId xmlns:a16="http://schemas.microsoft.com/office/drawing/2014/main" id="{496C4321-F89F-4689-B9FC-496891F48508}"/>
              </a:ext>
            </a:extLst>
          </p:cNvPr>
          <p:cNvSpPr txBox="1"/>
          <p:nvPr/>
        </p:nvSpPr>
        <p:spPr>
          <a:xfrm>
            <a:off x="565150" y="1964898"/>
            <a:ext cx="714943" cy="369332"/>
          </a:xfrm>
          <a:prstGeom prst="rect">
            <a:avLst/>
          </a:prstGeom>
          <a:noFill/>
        </p:spPr>
        <p:txBody>
          <a:bodyPr wrap="square" rtlCol="0">
            <a:spAutoFit/>
          </a:bodyPr>
          <a:lstStyle/>
          <a:p>
            <a:pPr algn="ctr"/>
            <a:r>
              <a:rPr lang="es-ES" b="1" dirty="0" err="1"/>
              <a:t>SiNx</a:t>
            </a:r>
            <a:endParaRPr lang="es-ES" b="1" dirty="0"/>
          </a:p>
        </p:txBody>
      </p:sp>
      <p:sp>
        <p:nvSpPr>
          <p:cNvPr id="16" name="CuadroTexto 15">
            <a:extLst>
              <a:ext uri="{FF2B5EF4-FFF2-40B4-BE49-F238E27FC236}">
                <a16:creationId xmlns:a16="http://schemas.microsoft.com/office/drawing/2014/main" id="{2F368033-4F13-4EAA-8779-45705D181695}"/>
              </a:ext>
            </a:extLst>
          </p:cNvPr>
          <p:cNvSpPr txBox="1"/>
          <p:nvPr/>
        </p:nvSpPr>
        <p:spPr>
          <a:xfrm>
            <a:off x="590550" y="4637356"/>
            <a:ext cx="714943" cy="369332"/>
          </a:xfrm>
          <a:prstGeom prst="rect">
            <a:avLst/>
          </a:prstGeom>
          <a:noFill/>
        </p:spPr>
        <p:txBody>
          <a:bodyPr wrap="square" rtlCol="0">
            <a:spAutoFit/>
          </a:bodyPr>
          <a:lstStyle/>
          <a:p>
            <a:pPr algn="ctr"/>
            <a:r>
              <a:rPr lang="es-ES" b="1" dirty="0"/>
              <a:t>SOI</a:t>
            </a:r>
          </a:p>
        </p:txBody>
      </p:sp>
    </p:spTree>
    <p:extLst>
      <p:ext uri="{BB962C8B-B14F-4D97-AF65-F5344CB8AC3E}">
        <p14:creationId xmlns:p14="http://schemas.microsoft.com/office/powerpoint/2010/main" val="14234897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1F146B-C962-4952-BDA4-999B04F9D5A4}"/>
              </a:ext>
            </a:extLst>
          </p:cNvPr>
          <p:cNvSpPr>
            <a:spLocks noGrp="1"/>
          </p:cNvSpPr>
          <p:nvPr>
            <p:ph type="title"/>
          </p:nvPr>
        </p:nvSpPr>
        <p:spPr/>
        <p:txBody>
          <a:bodyPr/>
          <a:lstStyle/>
          <a:p>
            <a:r>
              <a:rPr lang="es-ES" dirty="0"/>
              <a:t>4. Compare </a:t>
            </a:r>
            <a:r>
              <a:rPr lang="es-ES" dirty="0" err="1"/>
              <a:t>the</a:t>
            </a:r>
            <a:r>
              <a:rPr lang="es-ES" dirty="0"/>
              <a:t> </a:t>
            </a:r>
            <a:r>
              <a:rPr lang="es-ES" dirty="0" err="1"/>
              <a:t>SiNx</a:t>
            </a:r>
            <a:r>
              <a:rPr lang="es-ES" dirty="0"/>
              <a:t> and SOI </a:t>
            </a:r>
            <a:r>
              <a:rPr lang="es-ES" dirty="0" err="1"/>
              <a:t>technologies</a:t>
            </a:r>
            <a:endParaRPr lang="es-ES" dirty="0"/>
          </a:p>
        </p:txBody>
      </p:sp>
      <p:sp>
        <p:nvSpPr>
          <p:cNvPr id="5" name="Marcador de número de diapositiva 4">
            <a:extLst>
              <a:ext uri="{FF2B5EF4-FFF2-40B4-BE49-F238E27FC236}">
                <a16:creationId xmlns:a16="http://schemas.microsoft.com/office/drawing/2014/main" id="{AF9A3757-B02C-4AD6-BCE3-635DC7345E32}"/>
              </a:ext>
            </a:extLst>
          </p:cNvPr>
          <p:cNvSpPr>
            <a:spLocks noGrp="1"/>
          </p:cNvSpPr>
          <p:nvPr>
            <p:ph type="sldNum" sz="quarter" idx="7"/>
          </p:nvPr>
        </p:nvSpPr>
        <p:spPr/>
        <p:txBody>
          <a:bodyPr/>
          <a:lstStyle/>
          <a:p>
            <a:fld id="{B6F15528-21DE-4FAA-801E-634DDDAF4B2B}" type="slidenum">
              <a:rPr lang="es-ES" smtClean="0"/>
              <a:t>13</a:t>
            </a:fld>
            <a:endParaRPr lang="es-ES"/>
          </a:p>
        </p:txBody>
      </p:sp>
      <mc:AlternateContent xmlns:mc="http://schemas.openxmlformats.org/markup-compatibility/2006">
        <mc:Choice xmlns:a14="http://schemas.microsoft.com/office/drawing/2010/main" Requires="a14">
          <p:sp>
            <p:nvSpPr>
              <p:cNvPr id="8" name="Marcador de texto 2">
                <a:extLst>
                  <a:ext uri="{FF2B5EF4-FFF2-40B4-BE49-F238E27FC236}">
                    <a16:creationId xmlns:a16="http://schemas.microsoft.com/office/drawing/2014/main" id="{68F66DC8-8B17-9F74-C57A-0EEBDCB9C4C5}"/>
                  </a:ext>
                </a:extLst>
              </p:cNvPr>
              <p:cNvSpPr>
                <a:spLocks noGrp="1"/>
              </p:cNvSpPr>
              <p:nvPr>
                <p:ph type="body" idx="1"/>
              </p:nvPr>
            </p:nvSpPr>
            <p:spPr>
              <a:xfrm>
                <a:off x="304800" y="767094"/>
                <a:ext cx="11582400" cy="5215082"/>
              </a:xfrm>
            </p:spPr>
            <p:txBody>
              <a:bodyPr/>
              <a:lstStyle/>
              <a:p>
                <a:pPr marL="171450" indent="-171450">
                  <a:buFont typeface="Arial" panose="020B0604020202020204" pitchFamily="34" charset="0"/>
                  <a:buChar char="•"/>
                </a:pPr>
                <a:r>
                  <a:rPr lang="es-ES" sz="1200" dirty="0"/>
                  <a:t>Confinamiento y dimensiones (</a:t>
                </a:r>
                <a14:m>
                  <m:oMath xmlns:m="http://schemas.openxmlformats.org/officeDocument/2006/math">
                    <m:sSub>
                      <m:sSubPr>
                        <m:ctrlPr>
                          <a:rPr lang="es-ES" sz="1200" i="1" dirty="0" smtClean="0">
                            <a:latin typeface="Cambria Math" panose="02040503050406030204" pitchFamily="18" charset="0"/>
                          </a:rPr>
                        </m:ctrlPr>
                      </m:sSubPr>
                      <m:e>
                        <m:r>
                          <a:rPr lang="es-ES" sz="1200" i="1" dirty="0" smtClean="0">
                            <a:latin typeface="Cambria Math" panose="02040503050406030204" pitchFamily="18" charset="0"/>
                          </a:rPr>
                          <m:t>𝑛</m:t>
                        </m:r>
                      </m:e>
                      <m:sub>
                        <m:r>
                          <a:rPr lang="es-ES" sz="1200" b="0" i="1" dirty="0" smtClean="0">
                            <a:latin typeface="Cambria Math" panose="02040503050406030204" pitchFamily="18" charset="0"/>
                          </a:rPr>
                          <m:t>𝑒𝑓𝑓</m:t>
                        </m:r>
                      </m:sub>
                    </m:sSub>
                  </m:oMath>
                </a14:m>
                <a:r>
                  <a:rPr lang="es-ES" sz="1200" i="1" dirty="0">
                    <a:latin typeface="Cambria Math" panose="02040503050406030204" pitchFamily="18" charset="0"/>
                  </a:rPr>
                  <a:t> </a:t>
                </a:r>
                <a:r>
                  <a:rPr lang="es-ES" sz="1200" dirty="0"/>
                  <a:t>vs </a:t>
                </a:r>
                <a:r>
                  <a:rPr lang="es-ES" sz="1200" dirty="0" err="1"/>
                  <a:t>width</a:t>
                </a:r>
                <a:r>
                  <a:rPr lang="es-ES" sz="1200" dirty="0"/>
                  <a:t>):</a:t>
                </a:r>
              </a:p>
              <a:p>
                <a:pPr marL="228600" indent="-228600">
                  <a:buAutoNum type="arabicPeriod"/>
                </a:pPr>
                <a:endParaRPr lang="es-ES" sz="1200" dirty="0"/>
              </a:p>
              <a:p>
                <a:pPr marL="628650" lvl="1" indent="-171450">
                  <a:buFont typeface="Arial" panose="020B0604020202020204" pitchFamily="34" charset="0"/>
                  <a:buChar char="•"/>
                </a:pPr>
                <a:r>
                  <a:rPr lang="es-ES" sz="1200" dirty="0"/>
                  <a:t>SOI: Debido al alto contraste de índice de refracción entre el silicio (n </a:t>
                </a:r>
                <a14:m>
                  <m:oMath xmlns:m="http://schemas.openxmlformats.org/officeDocument/2006/math">
                    <m:r>
                      <a:rPr lang="es-ES" sz="1200" i="1">
                        <a:latin typeface="Cambria Math" panose="02040503050406030204" pitchFamily="18" charset="0"/>
                        <a:ea typeface="Cambria Math" panose="02040503050406030204" pitchFamily="18" charset="0"/>
                      </a:rPr>
                      <m:t>~</m:t>
                    </m:r>
                  </m:oMath>
                </a14:m>
                <a:r>
                  <a:rPr lang="es-ES" sz="1200" dirty="0"/>
                  <a:t>3.47) y el </a:t>
                </a:r>
                <a:r>
                  <a:rPr lang="es-ES" sz="1200" dirty="0" err="1"/>
                  <a:t>cladding</a:t>
                </a:r>
                <a:r>
                  <a:rPr lang="es-ES" sz="1200" dirty="0"/>
                  <a:t> (n </a:t>
                </a:r>
                <a14:m>
                  <m:oMath xmlns:m="http://schemas.openxmlformats.org/officeDocument/2006/math">
                    <m:r>
                      <a:rPr lang="es-ES" sz="1200" i="1" smtClean="0">
                        <a:latin typeface="Cambria Math" panose="02040503050406030204" pitchFamily="18" charset="0"/>
                        <a:ea typeface="Cambria Math" panose="02040503050406030204" pitchFamily="18" charset="0"/>
                      </a:rPr>
                      <m:t>~</m:t>
                    </m:r>
                  </m:oMath>
                </a14:m>
                <a:r>
                  <a:rPr lang="es-ES" sz="1200" dirty="0"/>
                  <a:t>1.44), las guías SOI presentan un índice efectivo mucho mayor (</a:t>
                </a:r>
                <a14:m>
                  <m:oMath xmlns:m="http://schemas.openxmlformats.org/officeDocument/2006/math">
                    <m:sSub>
                      <m:sSubPr>
                        <m:ctrlPr>
                          <a:rPr lang="es-ES" sz="1200" i="1" dirty="0" smtClean="0">
                            <a:latin typeface="Cambria Math" panose="02040503050406030204" pitchFamily="18" charset="0"/>
                          </a:rPr>
                        </m:ctrlPr>
                      </m:sSubPr>
                      <m:e>
                        <m:r>
                          <a:rPr lang="es-ES" sz="1200" i="1" dirty="0" smtClean="0">
                            <a:latin typeface="Cambria Math" panose="02040503050406030204" pitchFamily="18" charset="0"/>
                          </a:rPr>
                          <m:t>𝑛</m:t>
                        </m:r>
                      </m:e>
                      <m:sub>
                        <m:r>
                          <a:rPr lang="es-ES" sz="1200" b="0" i="1" dirty="0" smtClean="0">
                            <a:latin typeface="Cambria Math" panose="02040503050406030204" pitchFamily="18" charset="0"/>
                          </a:rPr>
                          <m:t>𝑒𝑓𝑓</m:t>
                        </m:r>
                      </m:sub>
                    </m:sSub>
                    <m:r>
                      <a:rPr lang="es-ES" sz="1200" i="1" dirty="0" smtClean="0">
                        <a:latin typeface="Cambria Math" panose="02040503050406030204" pitchFamily="18" charset="0"/>
                      </a:rPr>
                      <m:t> </m:t>
                    </m:r>
                  </m:oMath>
                </a14:m>
                <a:r>
                  <a:rPr lang="es-ES" sz="1200" dirty="0"/>
                  <a:t>&gt; 2.4 para TE0) incluso para anchos reducidos. Esto permite un confinamiento de la luz muy fuerte en dimensiones nanométricas.</a:t>
                </a:r>
              </a:p>
              <a:p>
                <a:pPr lvl="1"/>
                <a:endParaRPr lang="es-ES" sz="1200" dirty="0"/>
              </a:p>
              <a:p>
                <a:pPr marL="628650" lvl="1" indent="-171450">
                  <a:buFont typeface="Arial" panose="020B0604020202020204" pitchFamily="34" charset="0"/>
                  <a:buChar char="•"/>
                </a:pPr>
                <a:r>
                  <a:rPr lang="es-ES" sz="1200" dirty="0" err="1"/>
                  <a:t>SiNx</a:t>
                </a:r>
                <a:r>
                  <a:rPr lang="es-ES" sz="1200" dirty="0"/>
                  <a:t>: El contraste es moderado (núcleo n </a:t>
                </a:r>
                <a14:m>
                  <m:oMath xmlns:m="http://schemas.openxmlformats.org/officeDocument/2006/math">
                    <m:r>
                      <a:rPr lang="es-ES" sz="1200" i="1">
                        <a:latin typeface="Cambria Math" panose="02040503050406030204" pitchFamily="18" charset="0"/>
                        <a:ea typeface="Cambria Math" panose="02040503050406030204" pitchFamily="18" charset="0"/>
                      </a:rPr>
                      <m:t>~</m:t>
                    </m:r>
                  </m:oMath>
                </a14:m>
                <a:r>
                  <a:rPr lang="es-ES" sz="1200" dirty="0"/>
                  <a:t>2.0), resultando en índices efectivos menores (</a:t>
                </a:r>
                <a14:m>
                  <m:oMath xmlns:m="http://schemas.openxmlformats.org/officeDocument/2006/math">
                    <m:sSub>
                      <m:sSubPr>
                        <m:ctrlPr>
                          <a:rPr lang="es-ES" sz="1200" i="1" dirty="0" smtClean="0">
                            <a:latin typeface="Cambria Math" panose="02040503050406030204" pitchFamily="18" charset="0"/>
                          </a:rPr>
                        </m:ctrlPr>
                      </m:sSubPr>
                      <m:e>
                        <m:r>
                          <a:rPr lang="es-ES" sz="1200" i="1" dirty="0" smtClean="0">
                            <a:latin typeface="Cambria Math" panose="02040503050406030204" pitchFamily="18" charset="0"/>
                          </a:rPr>
                          <m:t>𝑛</m:t>
                        </m:r>
                      </m:e>
                      <m:sub>
                        <m:r>
                          <a:rPr lang="es-ES" sz="1200" b="0" i="1" dirty="0" smtClean="0">
                            <a:latin typeface="Cambria Math" panose="02040503050406030204" pitchFamily="18" charset="0"/>
                          </a:rPr>
                          <m:t>𝑒𝑓𝑓</m:t>
                        </m:r>
                      </m:sub>
                    </m:sSub>
                    <m:r>
                      <a:rPr lang="es-ES" sz="1200" b="0" i="1" dirty="0" smtClean="0">
                        <a:latin typeface="Cambria Math" panose="02040503050406030204" pitchFamily="18" charset="0"/>
                      </a:rPr>
                      <m:t> </m:t>
                    </m:r>
                    <m:r>
                      <a:rPr lang="es-ES" sz="1200" i="1">
                        <a:latin typeface="Cambria Math" panose="02040503050406030204" pitchFamily="18" charset="0"/>
                        <a:ea typeface="Cambria Math" panose="02040503050406030204" pitchFamily="18" charset="0"/>
                      </a:rPr>
                      <m:t>~ </m:t>
                    </m:r>
                  </m:oMath>
                </a14:m>
                <a:r>
                  <a:rPr lang="es-ES" sz="1200" dirty="0"/>
                  <a:t>1.6). Esto requiere guías más anchas para confinar bien la luz.</a:t>
                </a:r>
              </a:p>
              <a:p>
                <a:pPr marL="628650" lvl="1" indent="-171450">
                  <a:buFont typeface="Arial" panose="020B0604020202020204" pitchFamily="34" charset="0"/>
                  <a:buChar char="•"/>
                </a:pPr>
                <a:endParaRPr lang="es-ES" sz="1200" dirty="0"/>
              </a:p>
              <a:p>
                <a:pPr marL="171450" indent="-171450">
                  <a:buFont typeface="Arial" panose="020B0604020202020204" pitchFamily="34" charset="0"/>
                  <a:buChar char="•"/>
                </a:pPr>
                <a:r>
                  <a:rPr lang="es-ES" sz="1200" dirty="0"/>
                  <a:t>Además, se puede observar en las gráficas una gran diferencia en cómo se comporta la polarización al variar el ancho de la guía:</a:t>
                </a:r>
              </a:p>
              <a:p>
                <a:pPr marL="171450" indent="-171450">
                  <a:buFont typeface="Arial" panose="020B0604020202020204" pitchFamily="34" charset="0"/>
                  <a:buChar char="•"/>
                </a:pPr>
                <a:endParaRPr lang="es-ES" sz="1200" dirty="0"/>
              </a:p>
              <a:p>
                <a:pPr marL="628650" lvl="1" indent="-171450">
                  <a:buFont typeface="Arial" panose="020B0604020202020204" pitchFamily="34" charset="0"/>
                  <a:buChar char="•"/>
                </a:pPr>
                <a:r>
                  <a:rPr lang="es-ES" sz="1200" dirty="0"/>
                  <a:t>En </a:t>
                </a:r>
                <a:r>
                  <a:rPr lang="es-ES" sz="1200" dirty="0" err="1"/>
                  <a:t>SiNx</a:t>
                </a:r>
                <a:r>
                  <a:rPr lang="es-ES" sz="1200" dirty="0"/>
                  <a:t>: La polarización es bastante estable. Si nos fijamos en la escala de colores (fracción TE), vemos que los modos mantienen su identidad todo el rato. El modo rojo sigue siendo rojo (TE) y el azul sigue siendo azul (TM) en todo el rango de anchos, sin llegar a cruzarse ni mezclarse.</a:t>
                </a:r>
              </a:p>
              <a:p>
                <a:pPr marL="171450" indent="-171450">
                  <a:buFont typeface="Arial" panose="020B0604020202020204" pitchFamily="34" charset="0"/>
                  <a:buChar char="•"/>
                </a:pPr>
                <a:endParaRPr lang="es-ES" sz="1200" dirty="0"/>
              </a:p>
              <a:p>
                <a:pPr marL="628650" lvl="1" indent="-171450">
                  <a:buFont typeface="Arial" panose="020B0604020202020204" pitchFamily="34" charset="0"/>
                  <a:buChar char="•"/>
                </a:pPr>
                <a:r>
                  <a:rPr lang="es-ES" sz="1200" dirty="0"/>
                  <a:t>En SOI: Vemos que hay mucha más sensibilidad geométrica. Alrededor de los 0.65 - 0.7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 se nota claramente un cruce de modos entre el modo 1 y el modo 2. Justo en ese punto, los colores de los marcadores se invierten por completo. Esto significa que los modos intercambian su polarización. Esto nos indica que en la tecnología SOI hay que tener bastante más cuidado al elegir el ancho de la guía, ya que un error de diseño nos puede rotar la polarización de la luz en el circuito.</a:t>
                </a:r>
              </a:p>
              <a:p>
                <a:endParaRPr lang="es-ES" sz="1200" dirty="0"/>
              </a:p>
              <a:p>
                <a:pPr marL="171450" indent="-171450">
                  <a:buFont typeface="Arial" panose="020B0604020202020204" pitchFamily="34" charset="0"/>
                  <a:buChar char="•"/>
                </a:pPr>
                <a:r>
                  <a:rPr lang="es-ES" sz="1200" dirty="0"/>
                  <a:t>Radio de curvatura y densidad de integración:</a:t>
                </a:r>
              </a:p>
              <a:p>
                <a:endParaRPr lang="es-ES" sz="1200" dirty="0"/>
              </a:p>
              <a:p>
                <a:pPr marL="628650" lvl="1" indent="-171450">
                  <a:buFont typeface="Arial" panose="020B0604020202020204" pitchFamily="34" charset="0"/>
                  <a:buChar char="•"/>
                </a:pPr>
                <a:r>
                  <a:rPr lang="es-ES" sz="1200" dirty="0"/>
                  <a:t>SOI: Gracias al fuerte confinamiento, el radio seguro es extremadamente pequeño (</a:t>
                </a:r>
                <a14:m>
                  <m:oMath xmlns:m="http://schemas.openxmlformats.org/officeDocument/2006/math">
                    <m:r>
                      <a:rPr lang="es-ES" sz="1200" i="1">
                        <a:latin typeface="Cambria Math" panose="02040503050406030204" pitchFamily="18" charset="0"/>
                        <a:ea typeface="Cambria Math" panose="02040503050406030204" pitchFamily="18" charset="0"/>
                      </a:rPr>
                      <m:t>~</m:t>
                    </m:r>
                  </m:oMath>
                </a14:m>
                <a:r>
                  <a:rPr lang="es-ES" sz="1200" dirty="0"/>
                  <a:t> 5 </a:t>
                </a:r>
                <a14:m>
                  <m:oMath xmlns:m="http://schemas.openxmlformats.org/officeDocument/2006/math">
                    <m:r>
                      <a:rPr lang="es-ES" sz="1200" i="1">
                        <a:latin typeface="Cambria Math" panose="02040503050406030204" pitchFamily="18" charset="0"/>
                        <a:ea typeface="Cambria Math" panose="02040503050406030204" pitchFamily="18" charset="0"/>
                      </a:rPr>
                      <m:t>𝜇</m:t>
                    </m:r>
                    <m:r>
                      <a:rPr lang="es-ES" sz="1200" i="1">
                        <a:latin typeface="Cambria Math" panose="02040503050406030204" pitchFamily="18" charset="0"/>
                        <a:ea typeface="Cambria Math" panose="02040503050406030204" pitchFamily="18" charset="0"/>
                      </a:rPr>
                      <m:t>𝑚</m:t>
                    </m:r>
                    <m:r>
                      <a:rPr lang="es-ES" sz="1200" i="1">
                        <a:latin typeface="Cambria Math" panose="02040503050406030204" pitchFamily="18" charset="0"/>
                        <a:ea typeface="Cambria Math" panose="02040503050406030204" pitchFamily="18" charset="0"/>
                      </a:rPr>
                      <m:t> </m:t>
                    </m:r>
                  </m:oMath>
                </a14:m>
                <a:r>
                  <a:rPr lang="es-ES" sz="1200" dirty="0"/>
                  <a:t>). Como se ve en las gráficas, a 5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 las pérdidas para TE son casi nulas (&lt; 0.01 dB). Esto permite una muy alta densidad de integración, ideal para circuitos fotónicos compactos.</a:t>
                </a:r>
              </a:p>
              <a:p>
                <a:pPr lvl="1"/>
                <a:endParaRPr lang="es-ES" sz="1200" dirty="0"/>
              </a:p>
              <a:p>
                <a:pPr marL="628650" lvl="1" indent="-171450">
                  <a:buFont typeface="Arial" panose="020B0604020202020204" pitchFamily="34" charset="0"/>
                  <a:buChar char="•"/>
                </a:pPr>
                <a:r>
                  <a:rPr lang="es-ES" sz="1200" dirty="0" err="1"/>
                  <a:t>SiNx</a:t>
                </a:r>
                <a:r>
                  <a:rPr lang="es-ES" sz="1200" dirty="0"/>
                  <a:t>: Requiere radios mucho mayores. El radio seguro determinado fue de 50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 Aunque las pérdidas de propagación son bajas, el </a:t>
                </a:r>
                <a:r>
                  <a:rPr lang="es-ES" sz="1200" dirty="0" err="1"/>
                  <a:t>footprint</a:t>
                </a:r>
                <a:r>
                  <a:rPr lang="es-ES" sz="1200" dirty="0"/>
                  <a:t> de los componentes curvos es unas 10 veces mayor que en SOI.</a:t>
                </a:r>
              </a:p>
              <a:p>
                <a:pPr marL="171450" indent="-171450">
                  <a:buFont typeface="Arial" panose="020B0604020202020204" pitchFamily="34" charset="0"/>
                  <a:buChar char="•"/>
                </a:pPr>
                <a:endParaRPr lang="es-ES" sz="1200" dirty="0"/>
              </a:p>
              <a:p>
                <a:pPr marL="171450" indent="-171450">
                  <a:buFont typeface="Arial" panose="020B0604020202020204" pitchFamily="34" charset="0"/>
                  <a:buChar char="•"/>
                </a:pPr>
                <a:r>
                  <a:rPr lang="es-ES" sz="1200" dirty="0"/>
                  <a:t>Sensibilidad a la Polarización:</a:t>
                </a:r>
              </a:p>
              <a:p>
                <a:endParaRPr lang="es-ES" sz="1200" dirty="0"/>
              </a:p>
              <a:p>
                <a:r>
                  <a:rPr lang="es-ES" sz="1200" dirty="0"/>
                  <a:t>Ambas tecnologías muestran que el modo TM es el factor limitante en curvas cerradas. En SOI, el modo TM falla por debajo de 10 </a:t>
                </a:r>
                <a14:m>
                  <m:oMath xmlns:m="http://schemas.openxmlformats.org/officeDocument/2006/math">
                    <m:r>
                      <a:rPr lang="es-ES" sz="1200" i="1">
                        <a:latin typeface="Cambria Math" panose="02040503050406030204" pitchFamily="18" charset="0"/>
                        <a:ea typeface="Cambria Math" panose="02040503050406030204" pitchFamily="18" charset="0"/>
                      </a:rPr>
                      <m:t>𝜇</m:t>
                    </m:r>
                    <m:r>
                      <a:rPr lang="es-ES" sz="1200" i="1">
                        <a:latin typeface="Cambria Math" panose="02040503050406030204" pitchFamily="18" charset="0"/>
                        <a:ea typeface="Cambria Math" panose="02040503050406030204" pitchFamily="18" charset="0"/>
                      </a:rPr>
                      <m:t>𝑚</m:t>
                    </m:r>
                  </m:oMath>
                </a14:m>
                <a:r>
                  <a:rPr lang="es-ES" sz="1200" dirty="0"/>
                  <a:t> , mientras que en </a:t>
                </a:r>
                <a:r>
                  <a:rPr lang="es-ES" sz="1200" dirty="0" err="1"/>
                  <a:t>SiNx</a:t>
                </a:r>
                <a:r>
                  <a:rPr lang="es-ES" sz="1200" dirty="0"/>
                  <a:t> falla por debajo de 50 </a:t>
                </a:r>
                <a14:m>
                  <m:oMath xmlns:m="http://schemas.openxmlformats.org/officeDocument/2006/math">
                    <m:r>
                      <a:rPr lang="es-ES" sz="1200" i="1" smtClean="0">
                        <a:latin typeface="Cambria Math" panose="02040503050406030204" pitchFamily="18" charset="0"/>
                        <a:ea typeface="Cambria Math" panose="02040503050406030204" pitchFamily="18" charset="0"/>
                      </a:rPr>
                      <m:t>𝜇</m:t>
                    </m:r>
                    <m:r>
                      <a:rPr lang="es-ES" sz="1200" b="0" i="1" smtClean="0">
                        <a:latin typeface="Cambria Math" panose="02040503050406030204" pitchFamily="18" charset="0"/>
                        <a:ea typeface="Cambria Math" panose="02040503050406030204" pitchFamily="18" charset="0"/>
                      </a:rPr>
                      <m:t>𝑚</m:t>
                    </m:r>
                  </m:oMath>
                </a14:m>
                <a:r>
                  <a:rPr lang="es-ES" sz="1200" dirty="0"/>
                  <a:t>.</a:t>
                </a:r>
              </a:p>
              <a:p>
                <a:endParaRPr lang="es-ES" sz="1200" dirty="0"/>
              </a:p>
            </p:txBody>
          </p:sp>
        </mc:Choice>
        <mc:Fallback>
          <p:sp>
            <p:nvSpPr>
              <p:cNvPr id="8" name="Marcador de texto 2">
                <a:extLst>
                  <a:ext uri="{FF2B5EF4-FFF2-40B4-BE49-F238E27FC236}">
                    <a16:creationId xmlns:a16="http://schemas.microsoft.com/office/drawing/2014/main" id="{68F66DC8-8B17-9F74-C57A-0EEBDCB9C4C5}"/>
                  </a:ext>
                </a:extLst>
              </p:cNvPr>
              <p:cNvSpPr>
                <a:spLocks noGrp="1" noRot="1" noChangeAspect="1" noMove="1" noResize="1" noEditPoints="1" noAdjustHandles="1" noChangeArrowheads="1" noChangeShapeType="1" noTextEdit="1"/>
              </p:cNvSpPr>
              <p:nvPr>
                <p:ph type="body" idx="1"/>
              </p:nvPr>
            </p:nvSpPr>
            <p:spPr>
              <a:xfrm>
                <a:off x="304800" y="767094"/>
                <a:ext cx="11582400" cy="5215082"/>
              </a:xfrm>
              <a:blipFill>
                <a:blip r:embed="rId2"/>
                <a:stretch>
                  <a:fillRect l="-876" t="-973"/>
                </a:stretch>
              </a:blipFill>
            </p:spPr>
            <p:txBody>
              <a:bodyPr/>
              <a:lstStyle/>
              <a:p>
                <a:r>
                  <a:rPr lang="es-ES">
                    <a:noFill/>
                  </a:rPr>
                  <a:t> </a:t>
                </a:r>
              </a:p>
            </p:txBody>
          </p:sp>
        </mc:Fallback>
      </mc:AlternateContent>
    </p:spTree>
    <p:extLst>
      <p:ext uri="{BB962C8B-B14F-4D97-AF65-F5344CB8AC3E}">
        <p14:creationId xmlns:p14="http://schemas.microsoft.com/office/powerpoint/2010/main" val="2015208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12950</TotalTime>
  <Words>1840</Words>
  <Application>Microsoft Macintosh PowerPoint</Application>
  <PresentationFormat>Panorámica</PresentationFormat>
  <Paragraphs>143</Paragraphs>
  <Slides>14</Slides>
  <Notes>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14</vt:i4>
      </vt:variant>
    </vt:vector>
  </HeadingPairs>
  <TitlesOfParts>
    <vt:vector size="22"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Convergence tests DE waveguide, w = 1.2 µm, neff_TE0, wvl 1.55 µm. </vt:lpstr>
      <vt:lpstr>Learning outcome #2 – Width dependence Width 0.6 - 1.6 µm (step 0.1 µm) – Wavelength 1.55 µm </vt:lpstr>
      <vt:lpstr>Learning outcome #3 – Waveguide compact model Let’s model the waveguide using a second order polynomial:  n_eff (λ)=n_1+n_2 (λ-λ_0 )+n_3 (λ-λ_0 )^2 </vt:lpstr>
      <vt:lpstr>Learning outcome #3 – Waveguide compact model</vt:lpstr>
      <vt:lpstr>Learning outcome #4 – Bend waveguide radius vs. loss – deep Find  neff_TE0 for wvl 1.55 µm, width 1.0 µm for R=25,50,75,100, 125,150 µm </vt:lpstr>
      <vt:lpstr>Learning outcome #4 – Bend waveguide radius vs. loss – deep</vt:lpstr>
      <vt:lpstr>Learning outcome #4 – Bend waveguide radius vs. loss – deep</vt:lpstr>
      <vt:lpstr>EXTRA EXERCISES</vt:lpstr>
      <vt:lpstr>2. Repeat the LO.2. width dependence analysis, now sweeping in a 300nm - 1um range. </vt:lpstr>
      <vt:lpstr>3. Find the safe radius for this technology. Consider sweeping the radius in a 5um to 30um range. </vt:lpstr>
      <vt:lpstr>4. Compare the SiNx and SOI technologies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Sergi Nacher Muñoz</cp:lastModifiedBy>
  <cp:revision>37</cp:revision>
  <dcterms:created xsi:type="dcterms:W3CDTF">2025-01-27T02:46:57Z</dcterms:created>
  <dcterms:modified xsi:type="dcterms:W3CDTF">2026-03-05T19:16:19Z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