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6"/>
  </p:notesMasterIdLst>
  <p:handoutMasterIdLst>
    <p:handoutMasterId r:id="rId17"/>
  </p:handoutMasterIdLst>
  <p:sldIdLst>
    <p:sldId id="256" r:id="rId2"/>
    <p:sldId id="295" r:id="rId3"/>
    <p:sldId id="290" r:id="rId4"/>
    <p:sldId id="292" r:id="rId5"/>
    <p:sldId id="297" r:id="rId6"/>
    <p:sldId id="298" r:id="rId7"/>
    <p:sldId id="293" r:id="rId8"/>
    <p:sldId id="299" r:id="rId9"/>
    <p:sldId id="300" r:id="rId10"/>
    <p:sldId id="301" r:id="rId11"/>
    <p:sldId id="302" r:id="rId12"/>
    <p:sldId id="303" r:id="rId13"/>
    <p:sldId id="304" r:id="rId14"/>
    <p:sldId id="288" r:id="rId15"/>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43A380-F68D-4B97-8CF0-04FACEB71A64}" v="8" dt="2026-02-16T10:00:04.333"/>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90" autoAdjust="0"/>
    <p:restoredTop sz="95033" autoAdjust="0"/>
  </p:normalViewPr>
  <p:slideViewPr>
    <p:cSldViewPr>
      <p:cViewPr>
        <p:scale>
          <a:sx n="125" d="100"/>
          <a:sy n="125" d="100"/>
        </p:scale>
        <p:origin x="588" y="-168"/>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E6287060-0277-4BCC-9556-78F4A9113EC4}"/>
    <pc:docChg chg="custSel addSld delSld modSld">
      <pc:chgData name="Christian Camilo Cano Vasquez" userId="8c73a2a4-758b-4e34-81ed-39462e48bd92" providerId="ADAL" clId="{E6287060-0277-4BCC-9556-78F4A9113EC4}" dt="2026-02-16T10:00:04.333" v="112"/>
      <pc:docMkLst>
        <pc:docMk/>
      </pc:docMkLst>
      <pc:sldChg chg="addSp delSp modSp mod">
        <pc:chgData name="Christian Camilo Cano Vasquez" userId="8c73a2a4-758b-4e34-81ed-39462e48bd92" providerId="ADAL" clId="{E6287060-0277-4BCC-9556-78F4A9113EC4}" dt="2026-02-16T09:54:36.314" v="109" actId="20577"/>
        <pc:sldMkLst>
          <pc:docMk/>
          <pc:sldMk cId="730501311" sldId="290"/>
        </pc:sldMkLst>
        <pc:spChg chg="add mod">
          <ac:chgData name="Christian Camilo Cano Vasquez" userId="8c73a2a4-758b-4e34-81ed-39462e48bd92" providerId="ADAL" clId="{E6287060-0277-4BCC-9556-78F4A9113EC4}" dt="2026-02-16T09:48:48.742" v="10" actId="1076"/>
          <ac:spMkLst>
            <pc:docMk/>
            <pc:sldMk cId="730501311" sldId="290"/>
            <ac:spMk id="2" creationId="{029F2FF9-FEB4-7AA3-B3B4-EFA9CFA0E230}"/>
          </ac:spMkLst>
        </pc:spChg>
        <pc:spChg chg="add mod">
          <ac:chgData name="Christian Camilo Cano Vasquez" userId="8c73a2a4-758b-4e34-81ed-39462e48bd92" providerId="ADAL" clId="{E6287060-0277-4BCC-9556-78F4A9113EC4}" dt="2026-02-16T09:49:37.395" v="33" actId="20577"/>
          <ac:spMkLst>
            <pc:docMk/>
            <pc:sldMk cId="730501311" sldId="290"/>
            <ac:spMk id="4" creationId="{C2C94B57-6111-4070-F6BA-8C3B9C305618}"/>
          </ac:spMkLst>
        </pc:spChg>
        <pc:spChg chg="del">
          <ac:chgData name="Christian Camilo Cano Vasquez" userId="8c73a2a4-758b-4e34-81ed-39462e48bd92" providerId="ADAL" clId="{E6287060-0277-4BCC-9556-78F4A9113EC4}" dt="2026-02-16T09:48:32.837" v="5" actId="478"/>
          <ac:spMkLst>
            <pc:docMk/>
            <pc:sldMk cId="730501311" sldId="290"/>
            <ac:spMk id="7" creationId="{F917B3AA-589C-A90A-EE95-EE60C6D04663}"/>
          </ac:spMkLst>
        </pc:spChg>
        <pc:spChg chg="del">
          <ac:chgData name="Christian Camilo Cano Vasquez" userId="8c73a2a4-758b-4e34-81ed-39462e48bd92" providerId="ADAL" clId="{E6287060-0277-4BCC-9556-78F4A9113EC4}" dt="2026-02-16T09:48:32.837" v="5" actId="478"/>
          <ac:spMkLst>
            <pc:docMk/>
            <pc:sldMk cId="730501311" sldId="290"/>
            <ac:spMk id="9" creationId="{793F5757-34AB-6F24-0981-9F1F15A0ADF8}"/>
          </ac:spMkLst>
        </pc:spChg>
        <pc:spChg chg="del">
          <ac:chgData name="Christian Camilo Cano Vasquez" userId="8c73a2a4-758b-4e34-81ed-39462e48bd92" providerId="ADAL" clId="{E6287060-0277-4BCC-9556-78F4A9113EC4}" dt="2026-02-16T09:48:35.096" v="6" actId="478"/>
          <ac:spMkLst>
            <pc:docMk/>
            <pc:sldMk cId="730501311" sldId="290"/>
            <ac:spMk id="11" creationId="{8BD4C233-B5D9-B6AA-93A8-CF2F130CFF9C}"/>
          </ac:spMkLst>
        </pc:spChg>
        <pc:spChg chg="mod">
          <ac:chgData name="Christian Camilo Cano Vasquez" userId="8c73a2a4-758b-4e34-81ed-39462e48bd92" providerId="ADAL" clId="{E6287060-0277-4BCC-9556-78F4A9113EC4}" dt="2026-02-16T09:54:36.314" v="109" actId="20577"/>
          <ac:spMkLst>
            <pc:docMk/>
            <pc:sldMk cId="730501311" sldId="290"/>
            <ac:spMk id="16" creationId="{471E1424-6C4B-2D9A-1352-30AFB987AD41}"/>
          </ac:spMkLst>
        </pc:spChg>
      </pc:sldChg>
      <pc:sldChg chg="modSp add del mod">
        <pc:chgData name="Christian Camilo Cano Vasquez" userId="8c73a2a4-758b-4e34-81ed-39462e48bd92" providerId="ADAL" clId="{E6287060-0277-4BCC-9556-78F4A9113EC4}" dt="2026-02-16T09:54:44.707" v="111" actId="20577"/>
        <pc:sldMkLst>
          <pc:docMk/>
          <pc:sldMk cId="2900117438" sldId="292"/>
        </pc:sldMkLst>
        <pc:spChg chg="mod">
          <ac:chgData name="Christian Camilo Cano Vasquez" userId="8c73a2a4-758b-4e34-81ed-39462e48bd92" providerId="ADAL" clId="{E6287060-0277-4BCC-9556-78F4A9113EC4}" dt="2026-02-16T09:51:39.768" v="80" actId="313"/>
          <ac:spMkLst>
            <pc:docMk/>
            <pc:sldMk cId="2900117438" sldId="292"/>
            <ac:spMk id="2" creationId="{82A62DD6-5488-72A1-9926-0CAEE59089A9}"/>
          </ac:spMkLst>
        </pc:spChg>
        <pc:spChg chg="mod">
          <ac:chgData name="Christian Camilo Cano Vasquez" userId="8c73a2a4-758b-4e34-81ed-39462e48bd92" providerId="ADAL" clId="{E6287060-0277-4BCC-9556-78F4A9113EC4}" dt="2026-02-16T09:54:44.707" v="111" actId="20577"/>
          <ac:spMkLst>
            <pc:docMk/>
            <pc:sldMk cId="2900117438" sldId="292"/>
            <ac:spMk id="16" creationId="{6AA2E789-F7AE-F068-274C-E0F13A22DBCA}"/>
          </ac:spMkLst>
        </pc:spChg>
      </pc:sldChg>
      <pc:sldChg chg="modSp add del mod">
        <pc:chgData name="Christian Camilo Cano Vasquez" userId="8c73a2a4-758b-4e34-81ed-39462e48bd92" providerId="ADAL" clId="{E6287060-0277-4BCC-9556-78F4A9113EC4}" dt="2026-02-16T09:50:51.822" v="37" actId="20577"/>
        <pc:sldMkLst>
          <pc:docMk/>
          <pc:sldMk cId="3660438245" sldId="293"/>
        </pc:sldMkLst>
        <pc:spChg chg="mod">
          <ac:chgData name="Christian Camilo Cano Vasquez" userId="8c73a2a4-758b-4e34-81ed-39462e48bd92" providerId="ADAL" clId="{E6287060-0277-4BCC-9556-78F4A9113EC4}" dt="2026-02-16T09:45:25.127" v="4" actId="115"/>
          <ac:spMkLst>
            <pc:docMk/>
            <pc:sldMk cId="3660438245" sldId="293"/>
            <ac:spMk id="2" creationId="{FDE3A197-9508-F9F1-1FEB-FF883D78C151}"/>
          </ac:spMkLst>
        </pc:spChg>
        <pc:spChg chg="mod">
          <ac:chgData name="Christian Camilo Cano Vasquez" userId="8c73a2a4-758b-4e34-81ed-39462e48bd92" providerId="ADAL" clId="{E6287060-0277-4BCC-9556-78F4A9113EC4}" dt="2026-02-16T09:50:51.822" v="37" actId="20577"/>
          <ac:spMkLst>
            <pc:docMk/>
            <pc:sldMk cId="3660438245" sldId="293"/>
            <ac:spMk id="16" creationId="{742C31CE-19F0-B995-0997-9A2D6A879BF7}"/>
          </ac:spMkLst>
        </pc:spChg>
      </pc:sldChg>
      <pc:sldChg chg="modSp mod">
        <pc:chgData name="Christian Camilo Cano Vasquez" userId="8c73a2a4-758b-4e34-81ed-39462e48bd92" providerId="ADAL" clId="{E6287060-0277-4BCC-9556-78F4A9113EC4}" dt="2026-02-16T10:00:04.333" v="112"/>
        <pc:sldMkLst>
          <pc:docMk/>
          <pc:sldMk cId="473922805" sldId="295"/>
        </pc:sldMkLst>
        <pc:spChg chg="mod">
          <ac:chgData name="Christian Camilo Cano Vasquez" userId="8c73a2a4-758b-4e34-81ed-39462e48bd92" providerId="ADAL" clId="{E6287060-0277-4BCC-9556-78F4A9113EC4}" dt="2026-02-16T10:00:04.333" v="112"/>
          <ac:spMkLst>
            <pc:docMk/>
            <pc:sldMk cId="473922805" sldId="295"/>
            <ac:spMk id="4" creationId="{9F7BC140-B3D8-C3CB-55AD-9064C7CDE9CA}"/>
          </ac:spMkLst>
        </pc:spChg>
      </pc:sldChg>
      <pc:sldChg chg="del">
        <pc:chgData name="Christian Camilo Cano Vasquez" userId="8c73a2a4-758b-4e34-81ed-39462e48bd92" providerId="ADAL" clId="{E6287060-0277-4BCC-9556-78F4A9113EC4}" dt="2026-02-16T09:50:39.931" v="34" actId="47"/>
        <pc:sldMkLst>
          <pc:docMk/>
          <pc:sldMk cId="1245186850" sldId="296"/>
        </pc:sldMkLst>
      </pc:sldChg>
      <pc:sldChg chg="modSp add del">
        <pc:chgData name="Christian Camilo Cano Vasquez" userId="8c73a2a4-758b-4e34-81ed-39462e48bd92" providerId="ADAL" clId="{E6287060-0277-4BCC-9556-78F4A9113EC4}" dt="2026-02-16T09:50:57.288" v="39" actId="20577"/>
        <pc:sldMkLst>
          <pc:docMk/>
          <pc:sldMk cId="236054401" sldId="297"/>
        </pc:sldMkLst>
        <pc:spChg chg="mod">
          <ac:chgData name="Christian Camilo Cano Vasquez" userId="8c73a2a4-758b-4e34-81ed-39462e48bd92" providerId="ADAL" clId="{E6287060-0277-4BCC-9556-78F4A9113EC4}" dt="2026-02-16T09:50:57.288" v="39" actId="20577"/>
          <ac:spMkLst>
            <pc:docMk/>
            <pc:sldMk cId="236054401" sldId="297"/>
            <ac:spMk id="16" creationId="{394400B4-EE16-8E85-AB54-E82FE3B2934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04/03/2026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04/03/2026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github.com/cccanvas-upv/pic-upv-lab1"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70.png"/><Relationship Id="rId7" Type="http://schemas.openxmlformats.org/officeDocument/2006/relationships/image" Target="NUL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16.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s-ES" dirty="0" err="1">
                <a:hlinkClick r:id="rId4"/>
              </a:rPr>
              <a:t>cccanvas-upv</a:t>
            </a:r>
            <a:r>
              <a:rPr lang="es-ES">
                <a:hlinkClick r:id="rId4"/>
              </a:rPr>
              <a:t>/pic-upv-lab1</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Convergence tests</a:t>
            </a:r>
            <a:br>
              <a:rPr lang="en-US" sz="2500" dirty="0"/>
            </a:br>
            <a:r>
              <a:rPr lang="nl-NL" b="0" dirty="0"/>
              <a:t>DE waveguide, w = 1.2 µm, neff_TE0, wvl 1.55 µm. </a:t>
            </a: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6" name="Rectángulo 5">
            <a:extLst>
              <a:ext uri="{FF2B5EF4-FFF2-40B4-BE49-F238E27FC236}">
                <a16:creationId xmlns:a16="http://schemas.microsoft.com/office/drawing/2014/main" id="{067C6D40-33EE-D9BE-7F58-8D96221D0D59}"/>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53A5ECC9-91D2-2918-1681-822F99EB31CD}"/>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grid_resolution</a:t>
            </a:r>
            <a:r>
              <a:rPr lang="en-US" dirty="0"/>
              <a:t> plot here</a:t>
            </a:r>
          </a:p>
        </p:txBody>
      </p:sp>
      <p:sp>
        <p:nvSpPr>
          <p:cNvPr id="10" name="CuadroTexto 9">
            <a:extLst>
              <a:ext uri="{FF2B5EF4-FFF2-40B4-BE49-F238E27FC236}">
                <a16:creationId xmlns:a16="http://schemas.microsoft.com/office/drawing/2014/main" id="{C814CDD6-2B59-8488-4EB8-82801B4D3F22}"/>
              </a:ext>
            </a:extLst>
          </p:cNvPr>
          <p:cNvSpPr txBox="1"/>
          <p:nvPr/>
        </p:nvSpPr>
        <p:spPr>
          <a:xfrm>
            <a:off x="609441" y="4860334"/>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determine above which grid value the effective index calculation does not change significantly</a:t>
            </a:r>
          </a:p>
          <a:p>
            <a:pPr algn="just"/>
            <a:endParaRPr lang="en-US" sz="1200" dirty="0">
              <a:latin typeface="Arial" panose="020B0604020202020204" pitchFamily="34" charset="0"/>
              <a:cs typeface="Arial" panose="020B0604020202020204" pitchFamily="34" charset="0"/>
            </a:endParaRPr>
          </a:p>
          <a:p>
            <a:pPr algn="just"/>
            <a:r>
              <a:rPr lang="es-ES_tradnl" sz="1200" dirty="0">
                <a:latin typeface="Arial" panose="020B0604020202020204" pitchFamily="34" charset="0"/>
                <a:cs typeface="Arial" panose="020B0604020202020204" pitchFamily="34" charset="0"/>
              </a:rPr>
              <a:t>Si observamos la primera gráfica, vemos que el valor del índice efectivo se estabiliza para valores de </a:t>
            </a:r>
            <a:r>
              <a:rPr lang="es-ES_tradnl" sz="1200" dirty="0" err="1">
                <a:latin typeface="Arial" panose="020B0604020202020204" pitchFamily="34" charset="0"/>
                <a:cs typeface="Arial" panose="020B0604020202020204" pitchFamily="34" charset="0"/>
              </a:rPr>
              <a:t>grid</a:t>
            </a:r>
            <a:r>
              <a:rPr lang="es-ES_tradnl" sz="1200" dirty="0">
                <a:latin typeface="Arial" panose="020B0604020202020204" pitchFamily="34" charset="0"/>
                <a:cs typeface="Arial" panose="020B0604020202020204" pitchFamily="34" charset="0"/>
              </a:rPr>
              <a:t> </a:t>
            </a:r>
            <a:r>
              <a:rPr lang="es-ES_tradnl" sz="1200" dirty="0" err="1">
                <a:latin typeface="Arial" panose="020B0604020202020204" pitchFamily="34" charset="0"/>
                <a:cs typeface="Arial" panose="020B0604020202020204" pitchFamily="34" charset="0"/>
              </a:rPr>
              <a:t>resolution</a:t>
            </a:r>
            <a:r>
              <a:rPr lang="es-ES_tradnl" sz="1200" dirty="0">
                <a:latin typeface="Arial" panose="020B0604020202020204" pitchFamily="34" charset="0"/>
                <a:cs typeface="Arial" panose="020B0604020202020204" pitchFamily="34" charset="0"/>
              </a:rPr>
              <a:t> mayores a 50.</a:t>
            </a:r>
          </a:p>
          <a:p>
            <a:pPr algn="just"/>
            <a:r>
              <a:rPr lang="es-ES_tradnl" sz="1200" dirty="0">
                <a:latin typeface="Arial" panose="020B0604020202020204" pitchFamily="34" charset="0"/>
                <a:cs typeface="Arial" panose="020B0604020202020204" pitchFamily="34" charset="0"/>
              </a:rPr>
              <a:t>Para crear la gráfica para el caso de análisis de </a:t>
            </a:r>
            <a:r>
              <a:rPr lang="es-ES_tradnl" sz="1200" dirty="0" err="1">
                <a:latin typeface="Arial" panose="020B0604020202020204" pitchFamily="34" charset="0"/>
                <a:cs typeface="Arial" panose="020B0604020202020204" pitchFamily="34" charset="0"/>
              </a:rPr>
              <a:t>max_grid_scaling</a:t>
            </a:r>
            <a:r>
              <a:rPr lang="es-ES_tradnl" sz="1200" dirty="0">
                <a:latin typeface="Arial" panose="020B0604020202020204" pitchFamily="34" charset="0"/>
                <a:cs typeface="Arial" panose="020B0604020202020204" pitchFamily="34" charset="0"/>
              </a:rPr>
              <a:t> en vez de usar un valor de </a:t>
            </a:r>
            <a:r>
              <a:rPr lang="es-ES_tradnl" sz="1200" dirty="0" err="1">
                <a:latin typeface="Arial" panose="020B0604020202020204" pitchFamily="34" charset="0"/>
                <a:cs typeface="Arial" panose="020B0604020202020204" pitchFamily="34" charset="0"/>
              </a:rPr>
              <a:t>grid</a:t>
            </a:r>
            <a:r>
              <a:rPr lang="es-ES_tradnl" sz="1200" dirty="0">
                <a:latin typeface="Arial" panose="020B0604020202020204" pitchFamily="34" charset="0"/>
                <a:cs typeface="Arial" panose="020B0604020202020204" pitchFamily="34" charset="0"/>
              </a:rPr>
              <a:t> </a:t>
            </a:r>
            <a:r>
              <a:rPr lang="es-ES_tradnl" sz="1200" dirty="0" err="1">
                <a:latin typeface="Arial" panose="020B0604020202020204" pitchFamily="34" charset="0"/>
                <a:cs typeface="Arial" panose="020B0604020202020204" pitchFamily="34" charset="0"/>
              </a:rPr>
              <a:t>resolution</a:t>
            </a:r>
            <a:r>
              <a:rPr lang="es-ES_tradnl" sz="1200" dirty="0">
                <a:latin typeface="Arial" panose="020B0604020202020204" pitchFamily="34" charset="0"/>
                <a:cs typeface="Arial" panose="020B0604020202020204" pitchFamily="34" charset="0"/>
              </a:rPr>
              <a:t> mayor a 50, se ha optado por usar de 20, ya que para este valor se obtiene un índice efectivo equivalente al del caso de estabilidad para valores mayores a 50 en el </a:t>
            </a:r>
            <a:r>
              <a:rPr lang="es-ES_tradnl" sz="1200" dirty="0" err="1">
                <a:latin typeface="Arial" panose="020B0604020202020204" pitchFamily="34" charset="0"/>
                <a:cs typeface="Arial" panose="020B0604020202020204" pitchFamily="34" charset="0"/>
              </a:rPr>
              <a:t>grid</a:t>
            </a:r>
            <a:r>
              <a:rPr lang="es-ES_tradnl" sz="1200" dirty="0">
                <a:latin typeface="Arial" panose="020B0604020202020204" pitchFamily="34" charset="0"/>
                <a:cs typeface="Arial" panose="020B0604020202020204" pitchFamily="34" charset="0"/>
              </a:rPr>
              <a:t> </a:t>
            </a:r>
            <a:r>
              <a:rPr lang="es-ES_tradnl" sz="1200" dirty="0" err="1">
                <a:latin typeface="Arial" panose="020B0604020202020204" pitchFamily="34" charset="0"/>
                <a:cs typeface="Arial" panose="020B0604020202020204" pitchFamily="34" charset="0"/>
              </a:rPr>
              <a:t>resolution</a:t>
            </a:r>
            <a:r>
              <a:rPr lang="es-ES_tradnl" sz="1200" dirty="0">
                <a:latin typeface="Arial" panose="020B0604020202020204" pitchFamily="34" charset="0"/>
                <a:cs typeface="Arial" panose="020B0604020202020204" pitchFamily="34" charset="0"/>
              </a:rPr>
              <a:t>, y con ello tendremos un menor coste computacional. En este caso vemos que se empieza a estabilizar en valores de </a:t>
            </a:r>
            <a:r>
              <a:rPr lang="es-ES_tradnl" sz="1200" dirty="0" err="1">
                <a:latin typeface="Arial" panose="020B0604020202020204" pitchFamily="34" charset="0"/>
                <a:cs typeface="Arial" panose="020B0604020202020204" pitchFamily="34" charset="0"/>
              </a:rPr>
              <a:t>max_grid_scaling</a:t>
            </a:r>
            <a:r>
              <a:rPr lang="es-ES_tradnl" sz="1200" dirty="0">
                <a:latin typeface="Arial" panose="020B0604020202020204" pitchFamily="34" charset="0"/>
                <a:cs typeface="Arial" panose="020B0604020202020204" pitchFamily="34" charset="0"/>
              </a:rPr>
              <a:t> mayores a 1.5.</a:t>
            </a:r>
          </a:p>
          <a:p>
            <a:pPr algn="just"/>
            <a:endParaRPr lang="es-ES_tradnl" sz="1200" dirty="0">
              <a:latin typeface="Arial" panose="020B0604020202020204" pitchFamily="34" charset="0"/>
              <a:cs typeface="Arial" panose="020B0604020202020204" pitchFamily="34" charset="0"/>
            </a:endParaRPr>
          </a:p>
          <a:p>
            <a:pPr algn="just"/>
            <a:r>
              <a:rPr lang="es-ES_tradnl" sz="1200" dirty="0">
                <a:latin typeface="Arial" panose="020B0604020202020204" pitchFamily="34" charset="0"/>
                <a:cs typeface="Arial" panose="020B0604020202020204" pitchFamily="34" charset="0"/>
              </a:rPr>
              <a:t>Finalmente, podemos concluir que para valores del </a:t>
            </a:r>
            <a:r>
              <a:rPr lang="es-ES_tradnl" sz="1200" dirty="0" err="1">
                <a:latin typeface="Arial" panose="020B0604020202020204" pitchFamily="34" charset="0"/>
                <a:cs typeface="Arial" panose="020B0604020202020204" pitchFamily="34" charset="0"/>
              </a:rPr>
              <a:t>grid</a:t>
            </a:r>
            <a:r>
              <a:rPr lang="es-ES_tradnl" sz="1200" dirty="0">
                <a:latin typeface="Arial" panose="020B0604020202020204" pitchFamily="34" charset="0"/>
                <a:cs typeface="Arial" panose="020B0604020202020204" pitchFamily="34" charset="0"/>
              </a:rPr>
              <a:t> </a:t>
            </a:r>
            <a:r>
              <a:rPr lang="es-ES_tradnl" sz="1200" dirty="0" err="1">
                <a:latin typeface="Arial" panose="020B0604020202020204" pitchFamily="34" charset="0"/>
                <a:cs typeface="Arial" panose="020B0604020202020204" pitchFamily="34" charset="0"/>
              </a:rPr>
              <a:t>resolution</a:t>
            </a:r>
            <a:r>
              <a:rPr lang="es-ES_tradnl" sz="1200" dirty="0">
                <a:latin typeface="Arial" panose="020B0604020202020204" pitchFamily="34" charset="0"/>
                <a:cs typeface="Arial" panose="020B0604020202020204" pitchFamily="34" charset="0"/>
              </a:rPr>
              <a:t> mayores de 50 y valores de </a:t>
            </a:r>
            <a:r>
              <a:rPr lang="es-ES_tradnl" sz="1200" dirty="0" err="1">
                <a:latin typeface="Arial" panose="020B0604020202020204" pitchFamily="34" charset="0"/>
                <a:cs typeface="Arial" panose="020B0604020202020204" pitchFamily="34" charset="0"/>
              </a:rPr>
              <a:t>max</a:t>
            </a:r>
            <a:r>
              <a:rPr lang="es-ES_tradnl" sz="1200" dirty="0">
                <a:latin typeface="Arial" panose="020B0604020202020204" pitchFamily="34" charset="0"/>
                <a:cs typeface="Arial" panose="020B0604020202020204" pitchFamily="34" charset="0"/>
              </a:rPr>
              <a:t> </a:t>
            </a:r>
            <a:r>
              <a:rPr lang="es-ES_tradnl" sz="1200" dirty="0" err="1">
                <a:latin typeface="Arial" panose="020B0604020202020204" pitchFamily="34" charset="0"/>
                <a:cs typeface="Arial" panose="020B0604020202020204" pitchFamily="34" charset="0"/>
              </a:rPr>
              <a:t>grid</a:t>
            </a:r>
            <a:r>
              <a:rPr lang="es-ES_tradnl" sz="1200" dirty="0">
                <a:latin typeface="Arial" panose="020B0604020202020204" pitchFamily="34" charset="0"/>
                <a:cs typeface="Arial" panose="020B0604020202020204" pitchFamily="34" charset="0"/>
              </a:rPr>
              <a:t> </a:t>
            </a:r>
            <a:r>
              <a:rPr lang="es-ES_tradnl" sz="1200" dirty="0" err="1">
                <a:latin typeface="Arial" panose="020B0604020202020204" pitchFamily="34" charset="0"/>
                <a:cs typeface="Arial" panose="020B0604020202020204" pitchFamily="34" charset="0"/>
              </a:rPr>
              <a:t>scaling</a:t>
            </a:r>
            <a:r>
              <a:rPr lang="es-ES_tradnl" sz="1200" dirty="0">
                <a:latin typeface="Arial" panose="020B0604020202020204" pitchFamily="34" charset="0"/>
                <a:cs typeface="Arial" panose="020B0604020202020204" pitchFamily="34" charset="0"/>
              </a:rPr>
              <a:t> mayores de 1.5 se obtienen valores estables del índice efectivo. Por lo tanto, estos serán los valores óptimos para obtener un valor de índice efectivo más cercano al real.</a:t>
            </a:r>
          </a:p>
        </p:txBody>
      </p:sp>
      <p:sp>
        <p:nvSpPr>
          <p:cNvPr id="2" name="Rectángulo 1">
            <a:extLst>
              <a:ext uri="{FF2B5EF4-FFF2-40B4-BE49-F238E27FC236}">
                <a16:creationId xmlns:a16="http://schemas.microsoft.com/office/drawing/2014/main" id="{029F2FF9-FEB4-7AA3-B3B4-EFA9CFA0E230}"/>
              </a:ext>
            </a:extLst>
          </p:cNvPr>
          <p:cNvSpPr/>
          <p:nvPr/>
        </p:nvSpPr>
        <p:spPr>
          <a:xfrm>
            <a:off x="6322853"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uadroTexto 3">
            <a:extLst>
              <a:ext uri="{FF2B5EF4-FFF2-40B4-BE49-F238E27FC236}">
                <a16:creationId xmlns:a16="http://schemas.microsoft.com/office/drawing/2014/main" id="{C2C94B57-6111-4070-F6BA-8C3B9C305618}"/>
              </a:ext>
            </a:extLst>
          </p:cNvPr>
          <p:cNvSpPr txBox="1"/>
          <p:nvPr/>
        </p:nvSpPr>
        <p:spPr>
          <a:xfrm>
            <a:off x="7488347" y="2709096"/>
            <a:ext cx="3646585" cy="1200329"/>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max_grid_scaling</a:t>
            </a:r>
            <a:r>
              <a:rPr lang="en-US" dirty="0"/>
              <a:t> plot here</a:t>
            </a:r>
          </a:p>
        </p:txBody>
      </p:sp>
      <p:pic>
        <p:nvPicPr>
          <p:cNvPr id="7" name="Imagen 6">
            <a:extLst>
              <a:ext uri="{FF2B5EF4-FFF2-40B4-BE49-F238E27FC236}">
                <a16:creationId xmlns:a16="http://schemas.microsoft.com/office/drawing/2014/main" id="{5C2838CE-B9D8-467E-8B84-5C454526BF6A}"/>
              </a:ext>
            </a:extLst>
          </p:cNvPr>
          <p:cNvPicPr>
            <a:picLocks noChangeAspect="1"/>
          </p:cNvPicPr>
          <p:nvPr/>
        </p:nvPicPr>
        <p:blipFill>
          <a:blip r:embed="rId5"/>
          <a:stretch>
            <a:fillRect/>
          </a:stretch>
        </p:blipFill>
        <p:spPr>
          <a:xfrm>
            <a:off x="1371860" y="1619947"/>
            <a:ext cx="3961720" cy="3081338"/>
          </a:xfrm>
          <a:prstGeom prst="rect">
            <a:avLst/>
          </a:prstGeom>
        </p:spPr>
      </p:pic>
      <p:pic>
        <p:nvPicPr>
          <p:cNvPr id="11" name="Imagen 10">
            <a:extLst>
              <a:ext uri="{FF2B5EF4-FFF2-40B4-BE49-F238E27FC236}">
                <a16:creationId xmlns:a16="http://schemas.microsoft.com/office/drawing/2014/main" id="{AAE13B25-34E2-4836-90D7-5F03ABB5FAAC}"/>
              </a:ext>
            </a:extLst>
          </p:cNvPr>
          <p:cNvPicPr>
            <a:picLocks noChangeAspect="1"/>
          </p:cNvPicPr>
          <p:nvPr/>
        </p:nvPicPr>
        <p:blipFill>
          <a:blip r:embed="rId6"/>
          <a:stretch>
            <a:fillRect/>
          </a:stretch>
        </p:blipFill>
        <p:spPr>
          <a:xfrm>
            <a:off x="7125476" y="1627875"/>
            <a:ext cx="3961721" cy="3039769"/>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165" y="6156884"/>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a:xfrm>
            <a:off x="609759" y="6257884"/>
            <a:ext cx="2743200" cy="184666"/>
          </a:xfrm>
        </p:spPr>
        <p:txBody>
          <a:bodyPr/>
          <a:lstStyle/>
          <a:p>
            <a:pPr marL="12700">
              <a:spcBef>
                <a:spcPts val="15"/>
              </a:spcBef>
            </a:pPr>
            <a:r>
              <a:rPr lang="es-ES" spc="-5" dirty="0"/>
              <a:t>LAB 0.1. MODESOLVER</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9600" y="4412516"/>
            <a:ext cx="11199971" cy="2292935"/>
          </a:xfrm>
          <a:prstGeom prst="rect">
            <a:avLst/>
          </a:prstGeom>
          <a:solidFill>
            <a:schemeClr val="bg1">
              <a:lumMod val="95000"/>
            </a:schemeClr>
          </a:solidFill>
          <a:ln w="28575">
            <a:solidFill>
              <a:srgbClr val="E0700D"/>
            </a:solidFill>
          </a:ln>
        </p:spPr>
        <p:txBody>
          <a:bodyPr wrap="square" rtlCol="0">
            <a:spAutoFit/>
          </a:bodyPr>
          <a:lstStyle/>
          <a:p>
            <a:pPr algn="just"/>
            <a:r>
              <a:rPr lang="en-US" sz="1100" dirty="0">
                <a:latin typeface="Arial" panose="020B0604020202020204" pitchFamily="34" charset="0"/>
                <a:cs typeface="Arial" panose="020B0604020202020204" pitchFamily="34" charset="0"/>
              </a:rPr>
              <a:t>Comment results (neff changes this way with width, polarization behavior, </a:t>
            </a:r>
            <a:r>
              <a:rPr lang="en-US" sz="1100" dirty="0" err="1">
                <a:latin typeface="Arial" panose="020B0604020202020204" pitchFamily="34" charset="0"/>
                <a:cs typeface="Arial" panose="020B0604020202020204" pitchFamily="34" charset="0"/>
              </a:rPr>
              <a:t>etc</a:t>
            </a:r>
            <a:r>
              <a:rPr lang="en-US" sz="1100" dirty="0">
                <a:latin typeface="Arial" panose="020B0604020202020204" pitchFamily="34" charset="0"/>
                <a:cs typeface="Arial" panose="020B0604020202020204" pitchFamily="34" charset="0"/>
              </a:rPr>
              <a:t>…)</a:t>
            </a:r>
          </a:p>
          <a:p>
            <a:pPr algn="just"/>
            <a:endParaRPr lang="en-US" sz="1100" dirty="0">
              <a:latin typeface="Arial" panose="020B0604020202020204" pitchFamily="34" charset="0"/>
              <a:cs typeface="Arial" panose="020B0604020202020204" pitchFamily="34" charset="0"/>
            </a:endParaRPr>
          </a:p>
          <a:p>
            <a:pPr algn="just"/>
            <a:r>
              <a:rPr lang="en-US" sz="1100" dirty="0">
                <a:latin typeface="Arial" panose="020B0604020202020204" pitchFamily="34" charset="0"/>
                <a:cs typeface="Arial" panose="020B0604020202020204" pitchFamily="34" charset="0"/>
              </a:rPr>
              <a:t>En primer </a:t>
            </a:r>
            <a:r>
              <a:rPr lang="en-US" sz="1100" dirty="0" err="1">
                <a:latin typeface="Arial" panose="020B0604020202020204" pitchFamily="34" charset="0"/>
                <a:cs typeface="Arial" panose="020B0604020202020204" pitchFamily="34" charset="0"/>
              </a:rPr>
              <a:t>lugar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podemos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observar</a:t>
            </a:r>
            <a:r>
              <a:rPr lang="en-US" sz="1100" dirty="0">
                <a:latin typeface="Arial" panose="020B0604020202020204" pitchFamily="34" charset="0"/>
                <a:cs typeface="Arial" panose="020B0604020202020204" pitchFamily="34" charset="0"/>
              </a:rPr>
              <a:t> que los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 0 y 2 </a:t>
            </a:r>
            <a:r>
              <a:rPr lang="en-US" sz="1100" dirty="0" err="1">
                <a:latin typeface="Arial" panose="020B0604020202020204" pitchFamily="34" charset="0"/>
                <a:cs typeface="Arial" panose="020B0604020202020204" pitchFamily="34" charset="0"/>
              </a:rPr>
              <a:t>corresponden</a:t>
            </a:r>
            <a:r>
              <a:rPr lang="en-US" sz="1100" dirty="0">
                <a:latin typeface="Arial" panose="020B0604020202020204" pitchFamily="34" charset="0"/>
                <a:cs typeface="Arial" panose="020B0604020202020204" pitchFamily="34" charset="0"/>
              </a:rPr>
              <a:t> al modo TE0 y TE1 </a:t>
            </a:r>
            <a:r>
              <a:rPr lang="en-US" sz="1100" dirty="0" err="1">
                <a:latin typeface="Arial" panose="020B0604020202020204" pitchFamily="34" charset="0"/>
                <a:cs typeface="Arial" panose="020B0604020202020204" pitchFamily="34" charset="0"/>
              </a:rPr>
              <a:t>respectivamente</a:t>
            </a:r>
            <a:r>
              <a:rPr lang="en-US" sz="1100" dirty="0">
                <a:latin typeface="Arial" panose="020B0604020202020204" pitchFamily="34" charset="0"/>
                <a:cs typeface="Arial" panose="020B0604020202020204" pitchFamily="34" charset="0"/>
              </a:rPr>
              <a:t>, y los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 1 y 3 a los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 TM0 y TM1 </a:t>
            </a:r>
            <a:r>
              <a:rPr lang="en-US" sz="1100" dirty="0" err="1">
                <a:latin typeface="Arial" panose="020B0604020202020204" pitchFamily="34" charset="0"/>
                <a:cs typeface="Arial" panose="020B0604020202020204" pitchFamily="34" charset="0"/>
              </a:rPr>
              <a:t>respectivamente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Adicionalmente</a:t>
            </a:r>
            <a:r>
              <a:rPr lang="en-US" sz="1100" dirty="0">
                <a:latin typeface="Arial" panose="020B0604020202020204" pitchFamily="34" charset="0"/>
                <a:cs typeface="Arial" panose="020B0604020202020204" pitchFamily="34" charset="0"/>
              </a:rPr>
              <a:t>, se </a:t>
            </a:r>
            <a:r>
              <a:rPr lang="en-US" sz="1100" dirty="0" err="1">
                <a:latin typeface="Arial" panose="020B0604020202020204" pitchFamily="34" charset="0"/>
                <a:cs typeface="Arial" panose="020B0604020202020204" pitchFamily="34" charset="0"/>
              </a:rPr>
              <a:t>puede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ver</a:t>
            </a:r>
            <a:r>
              <a:rPr lang="en-US" sz="1100" dirty="0">
                <a:latin typeface="Arial" panose="020B0604020202020204" pitchFamily="34" charset="0"/>
                <a:cs typeface="Arial" panose="020B0604020202020204" pitchFamily="34" charset="0"/>
              </a:rPr>
              <a:t> que no hay un </a:t>
            </a:r>
            <a:r>
              <a:rPr lang="en-US" sz="1100" dirty="0" err="1">
                <a:latin typeface="Arial" panose="020B0604020202020204" pitchFamily="34" charset="0"/>
                <a:cs typeface="Arial" panose="020B0604020202020204" pitchFamily="34" charset="0"/>
              </a:rPr>
              <a:t>cambio</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fracción</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polarización</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pronunciado</a:t>
            </a:r>
            <a:r>
              <a:rPr lang="en-US" sz="1100" dirty="0">
                <a:latin typeface="Arial" panose="020B0604020202020204" pitchFamily="34" charset="0"/>
                <a:cs typeface="Arial" panose="020B0604020202020204" pitchFamily="34" charset="0"/>
              </a:rPr>
              <a:t> para </a:t>
            </a:r>
            <a:r>
              <a:rPr lang="en-US" sz="1100" dirty="0" err="1">
                <a:latin typeface="Arial" panose="020B0604020202020204" pitchFamily="34" charset="0"/>
                <a:cs typeface="Arial" panose="020B0604020202020204" pitchFamily="34" charset="0"/>
              </a:rPr>
              <a:t>todos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los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a:t>
            </a:r>
          </a:p>
          <a:p>
            <a:pPr algn="just"/>
            <a:endParaRPr lang="en-US" sz="1100" dirty="0">
              <a:latin typeface="Arial" panose="020B0604020202020204" pitchFamily="34" charset="0"/>
              <a:cs typeface="Arial" panose="020B0604020202020204" pitchFamily="34" charset="0"/>
            </a:endParaRPr>
          </a:p>
          <a:p>
            <a:pPr algn="just"/>
            <a:r>
              <a:rPr lang="en-US" sz="1100" dirty="0">
                <a:latin typeface="Arial" panose="020B0604020202020204" pitchFamily="34" charset="0"/>
                <a:cs typeface="Arial" panose="020B0604020202020204" pitchFamily="34" charset="0"/>
              </a:rPr>
              <a:t>Por </a:t>
            </a:r>
            <a:r>
              <a:rPr lang="en-US" sz="1100" dirty="0" err="1">
                <a:latin typeface="Arial" panose="020B0604020202020204" pitchFamily="34" charset="0"/>
                <a:cs typeface="Arial" panose="020B0604020202020204" pitchFamily="34" charset="0"/>
              </a:rPr>
              <a:t>otro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lado</a:t>
            </a:r>
            <a:r>
              <a:rPr lang="en-US" sz="1100" dirty="0">
                <a:latin typeface="Arial" panose="020B0604020202020204" pitchFamily="34" charset="0"/>
                <a:cs typeface="Arial" panose="020B0604020202020204" pitchFamily="34" charset="0"/>
              </a:rPr>
              <a:t>, para saber </a:t>
            </a:r>
            <a:r>
              <a:rPr lang="en-US" sz="1100" dirty="0" err="1">
                <a:latin typeface="Arial" panose="020B0604020202020204" pitchFamily="34" charset="0"/>
                <a:cs typeface="Arial" panose="020B0604020202020204" pitchFamily="34" charset="0"/>
              </a:rPr>
              <a:t>si</a:t>
            </a:r>
            <a:r>
              <a:rPr lang="en-US" sz="1100" dirty="0">
                <a:latin typeface="Arial" panose="020B0604020202020204" pitchFamily="34" charset="0"/>
                <a:cs typeface="Arial" panose="020B0604020202020204" pitchFamily="34" charset="0"/>
              </a:rPr>
              <a:t> un modo se </a:t>
            </a:r>
            <a:r>
              <a:rPr lang="en-US" sz="1100" dirty="0" err="1">
                <a:latin typeface="Arial" panose="020B0604020202020204" pitchFamily="34" charset="0"/>
                <a:cs typeface="Arial" panose="020B0604020202020204" pitchFamily="34" charset="0"/>
              </a:rPr>
              <a:t>propaga</a:t>
            </a:r>
            <a:r>
              <a:rPr lang="en-US" sz="1100" dirty="0">
                <a:latin typeface="Arial" panose="020B0604020202020204" pitchFamily="34" charset="0"/>
                <a:cs typeface="Arial" panose="020B0604020202020204" pitchFamily="34" charset="0"/>
              </a:rPr>
              <a:t> o no </a:t>
            </a:r>
            <a:r>
              <a:rPr lang="en-US" sz="1100" dirty="0" err="1">
                <a:latin typeface="Arial" panose="020B0604020202020204" pitchFamily="34" charset="0"/>
                <a:cs typeface="Arial" panose="020B0604020202020204" pitchFamily="34" charset="0"/>
              </a:rPr>
              <a:t>en</a:t>
            </a:r>
            <a:r>
              <a:rPr lang="en-US" sz="1100" dirty="0">
                <a:latin typeface="Arial" panose="020B0604020202020204" pitchFamily="34" charset="0"/>
                <a:cs typeface="Arial" panose="020B0604020202020204" pitchFamily="34" charset="0"/>
              </a:rPr>
              <a:t> una </a:t>
            </a:r>
            <a:r>
              <a:rPr lang="en-US" sz="1100" dirty="0" err="1">
                <a:latin typeface="Arial" panose="020B0604020202020204" pitchFamily="34" charset="0"/>
                <a:cs typeface="Arial" panose="020B0604020202020204" pitchFamily="34" charset="0"/>
              </a:rPr>
              <a:t>guía</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onda</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tiene</a:t>
            </a:r>
            <a:r>
              <a:rPr lang="en-US" sz="1100" dirty="0">
                <a:latin typeface="Arial" panose="020B0604020202020204" pitchFamily="34" charset="0"/>
                <a:cs typeface="Arial" panose="020B0604020202020204" pitchFamily="34" charset="0"/>
              </a:rPr>
              <a:t> que </a:t>
            </a:r>
            <a:r>
              <a:rPr lang="en-US" sz="1100" dirty="0" err="1">
                <a:latin typeface="Arial" panose="020B0604020202020204" pitchFamily="34" charset="0"/>
                <a:cs typeface="Arial" panose="020B0604020202020204" pitchFamily="34" charset="0"/>
              </a:rPr>
              <a:t>tener</a:t>
            </a:r>
            <a:r>
              <a:rPr lang="en-US" sz="1100" dirty="0">
                <a:latin typeface="Arial" panose="020B0604020202020204" pitchFamily="34" charset="0"/>
                <a:cs typeface="Arial" panose="020B0604020202020204" pitchFamily="34" charset="0"/>
              </a:rPr>
              <a:t> un </a:t>
            </a:r>
            <a:r>
              <a:rPr lang="en-US" sz="1100" dirty="0" err="1">
                <a:latin typeface="Arial" panose="020B0604020202020204" pitchFamily="34" charset="0"/>
                <a:cs typeface="Arial" panose="020B0604020202020204" pitchFamily="34" charset="0"/>
              </a:rPr>
              <a:t>índice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efectivo</a:t>
            </a:r>
            <a:r>
              <a:rPr lang="en-US" sz="1100" dirty="0">
                <a:latin typeface="Arial" panose="020B0604020202020204" pitchFamily="34" charset="0"/>
                <a:cs typeface="Arial" panose="020B0604020202020204" pitchFamily="34" charset="0"/>
              </a:rPr>
              <a:t> mayor al del cladding (1.44, SiO2). </a:t>
            </a:r>
            <a:r>
              <a:rPr lang="en-US" sz="1100" dirty="0" err="1">
                <a:latin typeface="Arial" panose="020B0604020202020204" pitchFamily="34" charset="0"/>
                <a:cs typeface="Arial" panose="020B0604020202020204" pitchFamily="34" charset="0"/>
              </a:rPr>
              <a:t>En</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este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caso</a:t>
            </a:r>
            <a:r>
              <a:rPr lang="en-US" sz="1100" dirty="0">
                <a:latin typeface="Arial" panose="020B0604020202020204" pitchFamily="34" charset="0"/>
                <a:cs typeface="Arial" panose="020B0604020202020204" pitchFamily="34" charset="0"/>
              </a:rPr>
              <a:t>, se </a:t>
            </a:r>
            <a:r>
              <a:rPr lang="en-US" sz="1100" dirty="0" err="1">
                <a:latin typeface="Arial" panose="020B0604020202020204" pitchFamily="34" charset="0"/>
                <a:cs typeface="Arial" panose="020B0604020202020204" pitchFamily="34" charset="0"/>
              </a:rPr>
              <a:t>puede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apreciar</a:t>
            </a:r>
            <a:r>
              <a:rPr lang="en-US" sz="1100" dirty="0">
                <a:latin typeface="Arial" panose="020B0604020202020204" pitchFamily="34" charset="0"/>
                <a:cs typeface="Arial" panose="020B0604020202020204" pitchFamily="34" charset="0"/>
              </a:rPr>
              <a:t> que los </a:t>
            </a:r>
            <a:r>
              <a:rPr lang="en-US" sz="1100" dirty="0" err="1">
                <a:latin typeface="Arial" panose="020B0604020202020204" pitchFamily="34" charset="0"/>
                <a:cs typeface="Arial" panose="020B0604020202020204" pitchFamily="34" charset="0"/>
              </a:rPr>
              <a:t>los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únicos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 que se </a:t>
            </a:r>
            <a:r>
              <a:rPr lang="en-US" sz="1100" dirty="0" err="1">
                <a:latin typeface="Arial" panose="020B0604020202020204" pitchFamily="34" charset="0"/>
                <a:cs typeface="Arial" panose="020B0604020202020204" pitchFamily="34" charset="0"/>
              </a:rPr>
              <a:t>propagan</a:t>
            </a:r>
            <a:r>
              <a:rPr lang="en-US" sz="1100" dirty="0">
                <a:latin typeface="Arial" panose="020B0604020202020204" pitchFamily="34" charset="0"/>
                <a:cs typeface="Arial" panose="020B0604020202020204" pitchFamily="34" charset="0"/>
              </a:rPr>
              <a:t> para </a:t>
            </a:r>
            <a:r>
              <a:rPr lang="en-US" sz="1100" dirty="0" err="1">
                <a:latin typeface="Arial" panose="020B0604020202020204" pitchFamily="34" charset="0"/>
                <a:cs typeface="Arial" panose="020B0604020202020204" pitchFamily="34" charset="0"/>
              </a:rPr>
              <a:t>todo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rango</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anchos</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guía</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onda</a:t>
            </a:r>
            <a:r>
              <a:rPr lang="en-US" sz="1100" dirty="0">
                <a:latin typeface="Arial" panose="020B0604020202020204" pitchFamily="34" charset="0"/>
                <a:cs typeface="Arial" panose="020B0604020202020204" pitchFamily="34" charset="0"/>
              </a:rPr>
              <a:t> son los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 0 y 1, </a:t>
            </a:r>
            <a:r>
              <a:rPr lang="en-US" sz="1100" dirty="0" err="1">
                <a:latin typeface="Arial" panose="020B0604020202020204" pitchFamily="34" charset="0"/>
                <a:cs typeface="Arial" panose="020B0604020202020204" pitchFamily="34" charset="0"/>
              </a:rPr>
              <a:t>mientras</a:t>
            </a:r>
            <a:r>
              <a:rPr lang="en-US" sz="1100" dirty="0">
                <a:latin typeface="Arial" panose="020B0604020202020204" pitchFamily="34" charset="0"/>
                <a:cs typeface="Arial" panose="020B0604020202020204" pitchFamily="34" charset="0"/>
              </a:rPr>
              <a:t> que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modo 2 </a:t>
            </a:r>
            <a:r>
              <a:rPr lang="en-US" sz="1100" dirty="0" err="1">
                <a:latin typeface="Arial" panose="020B0604020202020204" pitchFamily="34" charset="0"/>
                <a:cs typeface="Arial" panose="020B0604020202020204" pitchFamily="34" charset="0"/>
              </a:rPr>
              <a:t>empezará</a:t>
            </a:r>
            <a:r>
              <a:rPr lang="en-US" sz="1100" dirty="0">
                <a:latin typeface="Arial" panose="020B0604020202020204" pitchFamily="34" charset="0"/>
                <a:cs typeface="Arial" panose="020B0604020202020204" pitchFamily="34" charset="0"/>
              </a:rPr>
              <a:t> a </a:t>
            </a:r>
            <a:r>
              <a:rPr lang="en-US" sz="1100" dirty="0" err="1">
                <a:latin typeface="Arial" panose="020B0604020202020204" pitchFamily="34" charset="0"/>
                <a:cs typeface="Arial" panose="020B0604020202020204" pitchFamily="34" charset="0"/>
              </a:rPr>
              <a:t>propagarse</a:t>
            </a:r>
            <a:r>
              <a:rPr lang="en-US" sz="1100" dirty="0">
                <a:latin typeface="Arial" panose="020B0604020202020204" pitchFamily="34" charset="0"/>
                <a:cs typeface="Arial" panose="020B0604020202020204" pitchFamily="34" charset="0"/>
              </a:rPr>
              <a:t> para </a:t>
            </a:r>
            <a:r>
              <a:rPr lang="en-US" sz="1100" dirty="0" err="1">
                <a:latin typeface="Arial" panose="020B0604020202020204" pitchFamily="34" charset="0"/>
                <a:cs typeface="Arial" panose="020B0604020202020204" pitchFamily="34" charset="0"/>
              </a:rPr>
              <a:t>anchos</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guía</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mayores</a:t>
            </a:r>
            <a:r>
              <a:rPr lang="en-US" sz="1100" dirty="0">
                <a:latin typeface="Arial" panose="020B0604020202020204" pitchFamily="34" charset="0"/>
                <a:cs typeface="Arial" panose="020B0604020202020204" pitchFamily="34" charset="0"/>
              </a:rPr>
              <a:t> a 1.3 um. Por contra,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modo 3 no se </a:t>
            </a:r>
            <a:r>
              <a:rPr lang="en-US" sz="1100" dirty="0" err="1">
                <a:latin typeface="Arial" panose="020B0604020202020204" pitchFamily="34" charset="0"/>
                <a:cs typeface="Arial" panose="020B0604020202020204" pitchFamily="34" charset="0"/>
              </a:rPr>
              <a:t>propagará</a:t>
            </a:r>
            <a:r>
              <a:rPr lang="en-US" sz="1100" dirty="0">
                <a:latin typeface="Arial" panose="020B0604020202020204" pitchFamily="34" charset="0"/>
                <a:cs typeface="Arial" panose="020B0604020202020204" pitchFamily="34" charset="0"/>
              </a:rPr>
              <a:t> para </a:t>
            </a:r>
            <a:r>
              <a:rPr lang="en-US" sz="1100" dirty="0" err="1">
                <a:latin typeface="Arial" panose="020B0604020202020204" pitchFamily="34" charset="0"/>
                <a:cs typeface="Arial" panose="020B0604020202020204" pitchFamily="34" charset="0"/>
              </a:rPr>
              <a:t>ningún</a:t>
            </a:r>
            <a:r>
              <a:rPr lang="en-US" sz="1100" dirty="0">
                <a:latin typeface="Arial" panose="020B0604020202020204" pitchFamily="34" charset="0"/>
                <a:cs typeface="Arial" panose="020B0604020202020204" pitchFamily="34" charset="0"/>
              </a:rPr>
              <a:t> ancho dentro del </a:t>
            </a:r>
            <a:r>
              <a:rPr lang="en-US" sz="1100" dirty="0" err="1">
                <a:latin typeface="Arial" panose="020B0604020202020204" pitchFamily="34" charset="0"/>
                <a:cs typeface="Arial" panose="020B0604020202020204" pitchFamily="34" charset="0"/>
              </a:rPr>
              <a:t>rango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propuesto</a:t>
            </a:r>
            <a:r>
              <a:rPr lang="en-US" sz="1100" dirty="0">
                <a:latin typeface="Arial" panose="020B0604020202020204" pitchFamily="34" charset="0"/>
                <a:cs typeface="Arial" panose="020B0604020202020204" pitchFamily="34" charset="0"/>
              </a:rPr>
              <a:t>, es </a:t>
            </a:r>
            <a:r>
              <a:rPr lang="en-US" sz="1100" dirty="0" err="1">
                <a:latin typeface="Arial" panose="020B0604020202020204" pitchFamily="34" charset="0"/>
                <a:cs typeface="Arial" panose="020B0604020202020204" pitchFamily="34" charset="0"/>
              </a:rPr>
              <a:t>decir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este</a:t>
            </a:r>
            <a:r>
              <a:rPr lang="en-US" sz="1100" dirty="0">
                <a:latin typeface="Arial" panose="020B0604020202020204" pitchFamily="34" charset="0"/>
                <a:cs typeface="Arial" panose="020B0604020202020204" pitchFamily="34" charset="0"/>
              </a:rPr>
              <a:t> modo </a:t>
            </a:r>
            <a:r>
              <a:rPr lang="en-US" sz="1100" dirty="0" err="1">
                <a:latin typeface="Arial" panose="020B0604020202020204" pitchFamily="34" charset="0"/>
                <a:cs typeface="Arial" panose="020B0604020202020204" pitchFamily="34" charset="0"/>
              </a:rPr>
              <a:t>está</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en</a:t>
            </a:r>
            <a:r>
              <a:rPr lang="en-US" sz="1100" dirty="0">
                <a:latin typeface="Arial" panose="020B0604020202020204" pitchFamily="34" charset="0"/>
                <a:cs typeface="Arial" panose="020B0604020202020204" pitchFamily="34" charset="0"/>
              </a:rPr>
              <a:t> corte.</a:t>
            </a:r>
          </a:p>
          <a:p>
            <a:pPr algn="just"/>
            <a:endParaRPr lang="en-US" sz="1100" dirty="0">
              <a:latin typeface="Arial" panose="020B0604020202020204" pitchFamily="34" charset="0"/>
              <a:cs typeface="Arial" panose="020B0604020202020204" pitchFamily="34" charset="0"/>
            </a:endParaRPr>
          </a:p>
          <a:p>
            <a:pPr algn="just"/>
            <a:r>
              <a:rPr lang="en-US" sz="1100" dirty="0">
                <a:latin typeface="Arial" panose="020B0604020202020204" pitchFamily="34" charset="0"/>
                <a:cs typeface="Arial" panose="020B0604020202020204" pitchFamily="34" charset="0"/>
              </a:rPr>
              <a:t>También se </a:t>
            </a:r>
            <a:r>
              <a:rPr lang="en-US" sz="1100" dirty="0" err="1">
                <a:latin typeface="Arial" panose="020B0604020202020204" pitchFamily="34" charset="0"/>
                <a:cs typeface="Arial" panose="020B0604020202020204" pitchFamily="34" charset="0"/>
              </a:rPr>
              <a:t>observa</a:t>
            </a:r>
            <a:r>
              <a:rPr lang="en-US" sz="1100" dirty="0">
                <a:latin typeface="Arial" panose="020B0604020202020204" pitchFamily="34" charset="0"/>
                <a:cs typeface="Arial" panose="020B0604020202020204" pitchFamily="34" charset="0"/>
              </a:rPr>
              <a:t> que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índice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efectivo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aumenta</a:t>
            </a:r>
            <a:r>
              <a:rPr lang="en-US" sz="1100" dirty="0">
                <a:latin typeface="Arial" panose="020B0604020202020204" pitchFamily="34" charset="0"/>
                <a:cs typeface="Arial" panose="020B0604020202020204" pitchFamily="34" charset="0"/>
              </a:rPr>
              <a:t> a </a:t>
            </a:r>
            <a:r>
              <a:rPr lang="en-US" sz="1100" dirty="0" err="1">
                <a:latin typeface="Arial" panose="020B0604020202020204" pitchFamily="34" charset="0"/>
                <a:cs typeface="Arial" panose="020B0604020202020204" pitchFamily="34" charset="0"/>
              </a:rPr>
              <a:t>medida</a:t>
            </a:r>
            <a:r>
              <a:rPr lang="en-US" sz="1100" dirty="0">
                <a:latin typeface="Arial" panose="020B0604020202020204" pitchFamily="34" charset="0"/>
                <a:cs typeface="Arial" panose="020B0604020202020204" pitchFamily="34" charset="0"/>
              </a:rPr>
              <a:t> que </a:t>
            </a:r>
            <a:r>
              <a:rPr lang="en-US" sz="1100" dirty="0" err="1">
                <a:latin typeface="Arial" panose="020B0604020202020204" pitchFamily="34" charset="0"/>
                <a:cs typeface="Arial" panose="020B0604020202020204" pitchFamily="34" charset="0"/>
              </a:rPr>
              <a:t>ensanchamos</a:t>
            </a:r>
            <a:r>
              <a:rPr lang="en-US" sz="1100" dirty="0">
                <a:latin typeface="Arial" panose="020B0604020202020204" pitchFamily="34" charset="0"/>
                <a:cs typeface="Arial" panose="020B0604020202020204" pitchFamily="34" charset="0"/>
              </a:rPr>
              <a:t> la </a:t>
            </a:r>
            <a:r>
              <a:rPr lang="en-US" sz="1100" dirty="0" err="1">
                <a:latin typeface="Arial" panose="020B0604020202020204" pitchFamily="34" charset="0"/>
                <a:cs typeface="Arial" panose="020B0604020202020204" pitchFamily="34" charset="0"/>
              </a:rPr>
              <a:t>guía</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onda</a:t>
            </a:r>
            <a:r>
              <a:rPr lang="en-US" sz="1100" dirty="0">
                <a:latin typeface="Arial" panose="020B0604020202020204" pitchFamily="34" charset="0"/>
                <a:cs typeface="Arial" panose="020B0604020202020204" pitchFamily="34" charset="0"/>
              </a:rPr>
              <a:t>. Esto es </a:t>
            </a:r>
            <a:r>
              <a:rPr lang="en-US" sz="1100" dirty="0" err="1">
                <a:latin typeface="Arial" panose="020B0604020202020204" pitchFamily="34" charset="0"/>
                <a:cs typeface="Arial" panose="020B0604020202020204" pitchFamily="34" charset="0"/>
              </a:rPr>
              <a:t>debido</a:t>
            </a:r>
            <a:r>
              <a:rPr lang="en-US" sz="1100" dirty="0">
                <a:latin typeface="Arial" panose="020B0604020202020204" pitchFamily="34" charset="0"/>
                <a:cs typeface="Arial" panose="020B0604020202020204" pitchFamily="34" charset="0"/>
              </a:rPr>
              <a:t> a que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modo </a:t>
            </a:r>
            <a:r>
              <a:rPr lang="en-US" sz="1100" dirty="0" err="1">
                <a:latin typeface="Arial" panose="020B0604020202020204" pitchFamily="34" charset="0"/>
                <a:cs typeface="Arial" panose="020B0604020202020204" pitchFamily="34" charset="0"/>
              </a:rPr>
              <a:t>óptico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queda</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mejor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confinado</a:t>
            </a:r>
            <a:r>
              <a:rPr lang="en-US" sz="1100" dirty="0">
                <a:latin typeface="Arial" panose="020B0604020202020204" pitchFamily="34" charset="0"/>
                <a:cs typeface="Arial" panose="020B0604020202020204" pitchFamily="34" charset="0"/>
              </a:rPr>
              <a:t>, y al </a:t>
            </a:r>
            <a:r>
              <a:rPr lang="en-US" sz="1100" dirty="0" err="1">
                <a:latin typeface="Arial" panose="020B0604020202020204" pitchFamily="34" charset="0"/>
                <a:cs typeface="Arial" panose="020B0604020202020204" pitchFamily="34" charset="0"/>
              </a:rPr>
              <a:t>viajar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una</a:t>
            </a:r>
            <a:r>
              <a:rPr lang="en-US" sz="1100" dirty="0">
                <a:latin typeface="Arial" panose="020B0604020202020204" pitchFamily="34" charset="0"/>
                <a:cs typeface="Arial" panose="020B0604020202020204" pitchFamily="34" charset="0"/>
              </a:rPr>
              <a:t> mayor </a:t>
            </a:r>
            <a:r>
              <a:rPr lang="en-US" sz="1100" dirty="0" err="1">
                <a:latin typeface="Arial" panose="020B0604020202020204" pitchFamily="34" charset="0"/>
                <a:cs typeface="Arial" panose="020B0604020202020204" pitchFamily="34" charset="0"/>
              </a:rPr>
              <a:t>fracción</a:t>
            </a:r>
            <a:r>
              <a:rPr lang="en-US" sz="1100" dirty="0">
                <a:latin typeface="Arial" panose="020B0604020202020204" pitchFamily="34" charset="0"/>
                <a:cs typeface="Arial" panose="020B0604020202020204" pitchFamily="34" charset="0"/>
              </a:rPr>
              <a:t> de luz </a:t>
            </a:r>
            <a:r>
              <a:rPr lang="en-US" sz="1100" dirty="0" err="1">
                <a:latin typeface="Arial" panose="020B0604020202020204" pitchFamily="34" charset="0"/>
                <a:cs typeface="Arial" panose="020B0604020202020204" pitchFamily="34" charset="0"/>
              </a:rPr>
              <a:t>por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núcleo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cuyo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índice</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refracción</a:t>
            </a:r>
            <a:r>
              <a:rPr lang="en-US" sz="1100" dirty="0">
                <a:latin typeface="Arial" panose="020B0604020202020204" pitchFamily="34" charset="0"/>
                <a:cs typeface="Arial" panose="020B0604020202020204" pitchFamily="34" charset="0"/>
              </a:rPr>
              <a:t> es </a:t>
            </a:r>
            <a:r>
              <a:rPr lang="en-US" sz="1100" dirty="0" err="1">
                <a:latin typeface="Arial" panose="020B0604020202020204" pitchFamily="34" charset="0"/>
                <a:cs typeface="Arial" panose="020B0604020202020204" pitchFamily="34" charset="0"/>
              </a:rPr>
              <a:t>más</a:t>
            </a:r>
            <a:r>
              <a:rPr lang="en-US" sz="1100" dirty="0">
                <a:latin typeface="Arial" panose="020B0604020202020204" pitchFamily="34" charset="0"/>
                <a:cs typeface="Arial" panose="020B0604020202020204" pitchFamily="34" charset="0"/>
              </a:rPr>
              <a:t> alto),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índice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efectivo</a:t>
            </a:r>
            <a:r>
              <a:rPr lang="en-US" sz="1100" dirty="0">
                <a:latin typeface="Arial" panose="020B0604020202020204" pitchFamily="34" charset="0"/>
                <a:cs typeface="Arial" panose="020B0604020202020204" pitchFamily="34" charset="0"/>
              </a:rPr>
              <a:t> global del modo se </a:t>
            </a:r>
            <a:r>
              <a:rPr lang="en-US" sz="1100" dirty="0" err="1">
                <a:latin typeface="Arial" panose="020B0604020202020204" pitchFamily="34" charset="0"/>
                <a:cs typeface="Arial" panose="020B0604020202020204" pitchFamily="34" charset="0"/>
              </a:rPr>
              <a:t>incrementa</a:t>
            </a:r>
            <a:r>
              <a:rPr lang="en-US" sz="1100" dirty="0">
                <a:latin typeface="Arial" panose="020B0604020202020204" pitchFamily="34" charset="0"/>
                <a:cs typeface="Arial" panose="020B0604020202020204" pitchFamily="34" charset="0"/>
              </a:rPr>
              <a:t>. </a:t>
            </a:r>
          </a:p>
          <a:p>
            <a:pPr algn="just"/>
            <a:r>
              <a:rPr lang="en-US" sz="1100" dirty="0" err="1">
                <a:latin typeface="Arial" panose="020B0604020202020204" pitchFamily="34" charset="0"/>
                <a:cs typeface="Arial" panose="020B0604020202020204" pitchFamily="34" charset="0"/>
              </a:rPr>
              <a:t>Además</a:t>
            </a:r>
            <a:r>
              <a:rPr lang="en-US" sz="1100" dirty="0">
                <a:latin typeface="Arial" panose="020B0604020202020204" pitchFamily="34" charset="0"/>
                <a:cs typeface="Arial" panose="020B0604020202020204" pitchFamily="34" charset="0"/>
              </a:rPr>
              <a:t>, con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aumento</a:t>
            </a:r>
            <a:r>
              <a:rPr lang="en-US" sz="1100" dirty="0">
                <a:latin typeface="Arial" panose="020B0604020202020204" pitchFamily="34" charset="0"/>
                <a:cs typeface="Arial" panose="020B0604020202020204" pitchFamily="34" charset="0"/>
              </a:rPr>
              <a:t> del ancho de la </a:t>
            </a:r>
            <a:r>
              <a:rPr lang="en-US" sz="1100" dirty="0" err="1">
                <a:latin typeface="Arial" panose="020B0604020202020204" pitchFamily="34" charset="0"/>
                <a:cs typeface="Arial" panose="020B0604020202020204" pitchFamily="34" charset="0"/>
              </a:rPr>
              <a:t>guía</a:t>
            </a:r>
            <a:r>
              <a:rPr lang="en-US" sz="1100" dirty="0">
                <a:latin typeface="Arial" panose="020B0604020202020204" pitchFamily="34" charset="0"/>
                <a:cs typeface="Arial" panose="020B0604020202020204" pitchFamily="34" charset="0"/>
              </a:rPr>
              <a:t> también hay un </a:t>
            </a:r>
            <a:r>
              <a:rPr lang="en-US" sz="1100" dirty="0" err="1">
                <a:latin typeface="Arial" panose="020B0604020202020204" pitchFamily="34" charset="0"/>
                <a:cs typeface="Arial" panose="020B0604020202020204" pitchFamily="34" charset="0"/>
              </a:rPr>
              <a:t>aumento</a:t>
            </a:r>
            <a:r>
              <a:rPr lang="en-US" sz="1100" dirty="0">
                <a:latin typeface="Arial" panose="020B0604020202020204" pitchFamily="34" charset="0"/>
                <a:cs typeface="Arial" panose="020B0604020202020204" pitchFamily="34" charset="0"/>
              </a:rPr>
              <a:t> de los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propagados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ya</a:t>
            </a:r>
            <a:r>
              <a:rPr lang="en-US" sz="1100" dirty="0">
                <a:latin typeface="Arial" panose="020B0604020202020204" pitchFamily="34" charset="0"/>
                <a:cs typeface="Arial" panose="020B0604020202020204" pitchFamily="34" charset="0"/>
              </a:rPr>
              <a:t> que la luz </a:t>
            </a:r>
            <a:r>
              <a:rPr lang="en-US" sz="1100" dirty="0" err="1">
                <a:latin typeface="Arial" panose="020B0604020202020204" pitchFamily="34" charset="0"/>
                <a:cs typeface="Arial" panose="020B0604020202020204" pitchFamily="34" charset="0"/>
              </a:rPr>
              <a:t>tiene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más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espacio</a:t>
            </a:r>
            <a:r>
              <a:rPr lang="en-US" sz="1100" dirty="0">
                <a:latin typeface="Arial" panose="020B0604020202020204" pitchFamily="34" charset="0"/>
                <a:cs typeface="Arial" panose="020B0604020202020204" pitchFamily="34" charset="0"/>
              </a:rPr>
              <a:t> para </a:t>
            </a:r>
            <a:r>
              <a:rPr lang="en-US" sz="1100" dirty="0" err="1">
                <a:latin typeface="Arial" panose="020B0604020202020204" pitchFamily="34" charset="0"/>
                <a:cs typeface="Arial" panose="020B0604020202020204" pitchFamily="34" charset="0"/>
              </a:rPr>
              <a:t>poder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albergar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mayores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patrones</a:t>
            </a:r>
            <a:r>
              <a:rPr lang="en-US" sz="1100" dirty="0">
                <a:latin typeface="Arial" panose="020B0604020202020204" pitchFamily="34" charset="0"/>
                <a:cs typeface="Arial" panose="020B0604020202020204" pitchFamily="34" charset="0"/>
              </a:rPr>
              <a:t> de luz </a:t>
            </a:r>
            <a:r>
              <a:rPr lang="en-US" sz="1100" dirty="0" err="1">
                <a:latin typeface="Arial" panose="020B0604020202020204" pitchFamily="34" charset="0"/>
                <a:cs typeface="Arial" panose="020B0604020202020204" pitchFamily="34" charset="0"/>
              </a:rPr>
              <a:t>permitidos</a:t>
            </a:r>
            <a:r>
              <a:rPr lang="en-US" sz="1100" dirty="0">
                <a:latin typeface="Arial" panose="020B0604020202020204" pitchFamily="34" charset="0"/>
                <a:cs typeface="Arial" panose="020B0604020202020204" pitchFamily="34" charset="0"/>
              </a:rPr>
              <a:t>.</a:t>
            </a:r>
          </a:p>
        </p:txBody>
      </p:sp>
      <p:sp>
        <p:nvSpPr>
          <p:cNvPr id="7" name="Rectángulo 6">
            <a:extLst>
              <a:ext uri="{FF2B5EF4-FFF2-40B4-BE49-F238E27FC236}">
                <a16:creationId xmlns:a16="http://schemas.microsoft.com/office/drawing/2014/main" id="{FBC7D187-267A-ADD4-764C-D3820B8ED302}"/>
              </a:ext>
            </a:extLst>
          </p:cNvPr>
          <p:cNvSpPr/>
          <p:nvPr/>
        </p:nvSpPr>
        <p:spPr>
          <a:xfrm>
            <a:off x="609600" y="1219200"/>
            <a:ext cx="11199971" cy="3053573"/>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159" y="247210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plot here</a:t>
            </a:r>
          </a:p>
        </p:txBody>
      </p:sp>
      <p:pic>
        <p:nvPicPr>
          <p:cNvPr id="5" name="Imagen 4">
            <a:extLst>
              <a:ext uri="{FF2B5EF4-FFF2-40B4-BE49-F238E27FC236}">
                <a16:creationId xmlns:a16="http://schemas.microsoft.com/office/drawing/2014/main" id="{1ADA4AE6-2692-46AD-BB4E-E25E2E65533B}"/>
              </a:ext>
            </a:extLst>
          </p:cNvPr>
          <p:cNvPicPr>
            <a:picLocks noChangeAspect="1"/>
          </p:cNvPicPr>
          <p:nvPr/>
        </p:nvPicPr>
        <p:blipFill>
          <a:blip r:embed="rId5"/>
          <a:stretch>
            <a:fillRect/>
          </a:stretch>
        </p:blipFill>
        <p:spPr>
          <a:xfrm>
            <a:off x="3656362" y="1313726"/>
            <a:ext cx="4978173" cy="2898008"/>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07125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Waveguide compact model</a:t>
                </a:r>
                <a:br>
                  <a:rPr lang="en-US" sz="2500" spc="-5" dirty="0">
                    <a:latin typeface="+mj-lt"/>
                    <a:cs typeface="Lucida Sans"/>
                  </a:rPr>
                </a:br>
                <a:r>
                  <a:rPr lang="en-US" b="0" dirty="0"/>
                  <a:t>Let’s model the waveguide using a second order polynomial: </a:t>
                </a:r>
                <a:br>
                  <a:rPr lang="en-US" b="0" dirty="0"/>
                </a:br>
                <a14:m>
                  <m:oMathPara xmlns:m="http://schemas.openxmlformats.org/officeDocument/2006/math">
                    <m:oMathParaPr>
                      <m:jc m:val="centerGroup"/>
                    </m:oMathParaPr>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𝑒𝑓𝑓</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1</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2</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3</m:t>
                          </m:r>
                        </m:sub>
                      </m:sSub>
                      <m:sSup>
                        <m:sSupPr>
                          <m:ctrlPr>
                            <a:rPr lang="es-ES" b="0" i="1" smtClean="0">
                              <a:latin typeface="Cambria Math" panose="02040503050406030204" pitchFamily="18" charset="0"/>
                            </a:rPr>
                          </m:ctrlPr>
                        </m:sSupPr>
                        <m:e>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e>
                        <m:sup>
                          <m:r>
                            <a:rPr lang="es-ES" b="0" i="1" smtClean="0">
                              <a:latin typeface="Cambria Math" panose="02040503050406030204" pitchFamily="18" charset="0"/>
                            </a:rPr>
                            <m:t>2</m:t>
                          </m:r>
                        </m:sup>
                      </m:sSup>
                    </m:oMath>
                  </m:oMathPara>
                </a14:m>
                <a:br>
                  <a:rPr lang="en-US" b="0" dirty="0"/>
                </a:br>
                <a:endParaRPr lang="en-US" sz="2500" b="0" dirty="0">
                  <a:latin typeface="+mj-lt"/>
                  <a:cs typeface="Lucida Sans"/>
                </a:endParaRPr>
              </a:p>
            </p:txBody>
          </p:sp>
        </mc:Choice>
        <mc:Fallback xmlns="">
          <p:sp>
            <p:nvSpPr>
              <p:cNvPr id="16" name="object 16">
                <a:extLst>
                  <a:ext uri="{FF2B5EF4-FFF2-40B4-BE49-F238E27FC236}">
                    <a16:creationId xmlns:a16="http://schemas.microsoft.com/office/drawing/2014/main" id="{394400B4-EE16-8E85-AB54-E82FE3B29345}"/>
                  </a:ext>
                </a:extLst>
              </p:cNvPr>
              <p:cNvSpPr txBox="1">
                <a:spLocks noGrp="1" noRot="1" noChangeAspect="1" noMove="1" noResize="1" noEditPoints="1" noAdjustHandles="1" noChangeArrowheads="1" noChangeShapeType="1" noTextEdit="1"/>
              </p:cNvSpPr>
              <p:nvPr>
                <p:ph type="title"/>
              </p:nvPr>
            </p:nvSpPr>
            <p:spPr>
              <a:xfrm>
                <a:off x="685800" y="408883"/>
                <a:ext cx="10994410" cy="1071255"/>
              </a:xfrm>
              <a:prstGeom prst="rect">
                <a:avLst/>
              </a:prstGeom>
              <a:blipFill>
                <a:blip r:embed="rId3"/>
                <a:stretch>
                  <a:fillRect l="-1664" t="-7386" b="-4545"/>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440F587-93A3-E474-C0B0-883BB9DAFD85}"/>
                  </a:ext>
                </a:extLst>
              </p:cNvPr>
              <p:cNvSpPr txBox="1"/>
              <p:nvPr/>
            </p:nvSpPr>
            <p:spPr>
              <a:xfrm>
                <a:off x="609441" y="4860334"/>
                <a:ext cx="11198542" cy="1294072"/>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Find the second-degree polynomial coefficients and relate them with the group index and the dispersion parameter. </a:t>
                </a:r>
                <a14:m>
                  <m:oMath xmlns:m="http://schemas.openxmlformats.org/officeDocument/2006/math">
                    <m:d>
                      <m:dPr>
                        <m:begChr m:val="{"/>
                        <m:endChr m:val=""/>
                        <m:ctrlPr>
                          <a:rPr lang="es-ES" sz="1200" b="0" i="1" smtClean="0">
                            <a:latin typeface="Cambria Math" panose="02040503050406030204" pitchFamily="18" charset="0"/>
                            <a:cs typeface="Arial" panose="020B0604020202020204" pitchFamily="34" charset="0"/>
                          </a:rPr>
                        </m:ctrlPr>
                      </m:dPr>
                      <m:e>
                        <m:eqArr>
                          <m:eqArrPr>
                            <m:ctrlPr>
                              <a:rPr lang="es-ES" sz="1200" b="0" i="1" smtClean="0">
                                <a:latin typeface="Cambria Math" panose="02040503050406030204" pitchFamily="18" charset="0"/>
                                <a:cs typeface="Arial" panose="020B0604020202020204" pitchFamily="34" charset="0"/>
                              </a:rPr>
                            </m:ctrlPr>
                          </m:eqArrPr>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𝑒𝑓𝑓</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e>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𝑔</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2</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e>
                          <m:e>
                            <m:r>
                              <a:rPr lang="es-ES" sz="1200" b="0" i="1" smtClean="0">
                                <a:latin typeface="Cambria Math" panose="02040503050406030204" pitchFamily="18" charset="0"/>
                                <a:cs typeface="Arial" panose="020B0604020202020204" pitchFamily="34" charset="0"/>
                              </a:rPr>
                              <m:t>𝐷</m:t>
                            </m:r>
                            <m:r>
                              <a:rPr lang="es-ES" sz="1200" b="0" i="1" smtClean="0">
                                <a:latin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cs typeface="Arial" panose="020B0604020202020204" pitchFamily="34" charset="0"/>
                                  </a:rPr>
                                  <m:t>2</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3</m:t>
                                    </m:r>
                                  </m:sub>
                                </m:sSub>
                              </m:num>
                              <m:den>
                                <m:r>
                                  <a:rPr lang="es-ES" sz="1200" b="0" i="1" smtClean="0">
                                    <a:latin typeface="Cambria Math" panose="02040503050406030204" pitchFamily="18" charset="0"/>
                                    <a:cs typeface="Arial" panose="020B0604020202020204" pitchFamily="34" charset="0"/>
                                  </a:rPr>
                                  <m:t>𝑐</m:t>
                                </m:r>
                              </m:den>
                            </m:f>
                            <m:d>
                              <m:dPr>
                                <m:begChr m:val="["/>
                                <m:endChr m:val="]"/>
                                <m:ctrlPr>
                                  <a:rPr lang="es-ES" sz="1200" b="0" i="1" smtClean="0">
                                    <a:latin typeface="Cambria Math" panose="02040503050406030204" pitchFamily="18" charset="0"/>
                                    <a:cs typeface="Arial" panose="020B0604020202020204" pitchFamily="34" charset="0"/>
                                  </a:rPr>
                                </m:ctrlPr>
                              </m:dPr>
                              <m:e>
                                <m:f>
                                  <m:fPr>
                                    <m:ctrlPr>
                                      <a:rPr lang="es-ES" sz="1200" b="0" i="1" smtClean="0">
                                        <a:latin typeface="Cambria Math" panose="02040503050406030204" pitchFamily="18" charset="0"/>
                                        <a:cs typeface="Arial" panose="020B0604020202020204" pitchFamily="34" charset="0"/>
                                      </a:rPr>
                                    </m:ctrlPr>
                                  </m:fPr>
                                  <m:num>
                                    <m:sSup>
                                      <m:sSupPr>
                                        <m:ctrlPr>
                                          <a:rPr lang="es-ES" sz="1200" b="0" i="1" smtClean="0">
                                            <a:latin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cs typeface="Arial" panose="020B0604020202020204" pitchFamily="34" charset="0"/>
                                          </a:rPr>
                                          <m:t>𝑠</m:t>
                                        </m:r>
                                      </m:e>
                                      <m:sup>
                                        <m:r>
                                          <a:rPr lang="es-ES" sz="1200" b="0" i="1" smtClean="0">
                                            <a:latin typeface="Cambria Math" panose="02040503050406030204" pitchFamily="18" charset="0"/>
                                            <a:cs typeface="Arial" panose="020B0604020202020204" pitchFamily="34" charset="0"/>
                                          </a:rPr>
                                          <m:t>2</m:t>
                                        </m:r>
                                      </m:sup>
                                    </m:sSup>
                                  </m:num>
                                  <m:den>
                                    <m:r>
                                      <a:rPr lang="es-ES" sz="1200" b="0" i="1" smtClean="0">
                                        <a:latin typeface="Cambria Math" panose="02040503050406030204" pitchFamily="18" charset="0"/>
                                        <a:cs typeface="Arial" panose="020B0604020202020204" pitchFamily="34" charset="0"/>
                                      </a:rPr>
                                      <m:t>𝑚</m:t>
                                    </m:r>
                                  </m:den>
                                </m:f>
                              </m:e>
                            </m:d>
                          </m:e>
                        </m:eqArr>
                      </m:e>
                    </m:d>
                  </m:oMath>
                </a14:m>
                <a:endParaRPr lang="es-ES" sz="1200" b="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Comment on the results found for the TE0 and TM0 for both deep and shallow waveguides. </a:t>
                </a:r>
              </a:p>
            </p:txBody>
          </p:sp>
        </mc:Choice>
        <mc:Fallback xmlns="">
          <p:sp>
            <p:nvSpPr>
              <p:cNvPr id="2" name="CuadroTexto 1">
                <a:extLst>
                  <a:ext uri="{FF2B5EF4-FFF2-40B4-BE49-F238E27FC236}">
                    <a16:creationId xmlns:a16="http://schemas.microsoft.com/office/drawing/2014/main" id="{A440F587-93A3-E474-C0B0-883BB9DAFD85}"/>
                  </a:ext>
                </a:extLst>
              </p:cNvPr>
              <p:cNvSpPr txBox="1">
                <a:spLocks noRot="1" noChangeAspect="1" noMove="1" noResize="1" noEditPoints="1" noAdjustHandles="1" noChangeArrowheads="1" noChangeShapeType="1" noTextEdit="1"/>
              </p:cNvSpPr>
              <p:nvPr/>
            </p:nvSpPr>
            <p:spPr>
              <a:xfrm>
                <a:off x="609441" y="4860334"/>
                <a:ext cx="11198542" cy="1294072"/>
              </a:xfrm>
              <a:prstGeom prst="rect">
                <a:avLst/>
              </a:prstGeom>
              <a:blipFill>
                <a:blip r:embed="rId6"/>
                <a:stretch>
                  <a:fillRect b="-943"/>
                </a:stretch>
              </a:blipFill>
              <a:ln w="28575">
                <a:solidFill>
                  <a:srgbClr val="E0700D"/>
                </a:solidFill>
              </a:ln>
            </p:spPr>
            <p:txBody>
              <a:bodyPr/>
              <a:lstStyle/>
              <a:p>
                <a:r>
                  <a:rPr lang="es-ES">
                    <a:noFill/>
                  </a:rPr>
                  <a:t> </a:t>
                </a:r>
              </a:p>
            </p:txBody>
          </p:sp>
        </mc:Fallback>
      </mc:AlternateContent>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59B6428-4395-242F-54D8-A9FC610F2D7A}"/>
                  </a:ext>
                </a:extLst>
              </p:cNvPr>
              <p:cNvSpPr txBox="1"/>
              <p:nvPr/>
            </p:nvSpPr>
            <p:spPr>
              <a:xfrm>
                <a:off x="609440" y="2709096"/>
                <a:ext cx="5486559" cy="1200329"/>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b="1" dirty="0"/>
                  <a:t>neff_TE0 vs </a:t>
                </a:r>
                <a14:m>
                  <m:oMath xmlns:m="http://schemas.openxmlformats.org/officeDocument/2006/math">
                    <m:r>
                      <a:rPr lang="es-ES" b="1" i="1" smtClean="0">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9" name="CuadroTexto 8">
                <a:extLst>
                  <a:ext uri="{FF2B5EF4-FFF2-40B4-BE49-F238E27FC236}">
                    <a16:creationId xmlns:a16="http://schemas.microsoft.com/office/drawing/2014/main" id="{C59B6428-4395-242F-54D8-A9FC610F2D7A}"/>
                  </a:ext>
                </a:extLst>
              </p:cNvPr>
              <p:cNvSpPr txBox="1">
                <a:spLocks noRot="1" noChangeAspect="1" noMove="1" noResize="1" noEditPoints="1" noAdjustHandles="1" noChangeArrowheads="1" noChangeShapeType="1" noTextEdit="1"/>
              </p:cNvSpPr>
              <p:nvPr/>
            </p:nvSpPr>
            <p:spPr>
              <a:xfrm>
                <a:off x="609440" y="2709096"/>
                <a:ext cx="5486559" cy="1200329"/>
              </a:xfrm>
              <a:prstGeom prst="rect">
                <a:avLst/>
              </a:prstGeom>
              <a:blipFill>
                <a:blip r:embed="rId7"/>
                <a:stretch>
                  <a:fillRect t="-2538" r="-556" b="-710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320AF78-1FC6-19F4-8E0B-8A414F20C6DE}"/>
                  </a:ext>
                </a:extLst>
              </p:cNvPr>
              <p:cNvSpPr txBox="1"/>
              <p:nvPr/>
            </p:nvSpPr>
            <p:spPr>
              <a:xfrm>
                <a:off x="6321421" y="2709096"/>
                <a:ext cx="5486559"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b="1" dirty="0"/>
                  <a:t>neff_TE0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10" name="CuadroTexto 9">
                <a:extLst>
                  <a:ext uri="{FF2B5EF4-FFF2-40B4-BE49-F238E27FC236}">
                    <a16:creationId xmlns:a16="http://schemas.microsoft.com/office/drawing/2014/main" id="{9320AF78-1FC6-19F4-8E0B-8A414F20C6DE}"/>
                  </a:ext>
                </a:extLst>
              </p:cNvPr>
              <p:cNvSpPr txBox="1">
                <a:spLocks noRot="1" noChangeAspect="1" noMove="1" noResize="1" noEditPoints="1" noAdjustHandles="1" noChangeArrowheads="1" noChangeShapeType="1" noTextEdit="1"/>
              </p:cNvSpPr>
              <p:nvPr/>
            </p:nvSpPr>
            <p:spPr>
              <a:xfrm>
                <a:off x="6321421" y="2709096"/>
                <a:ext cx="5486559" cy="1200329"/>
              </a:xfrm>
              <a:prstGeom prst="rect">
                <a:avLst/>
              </a:prstGeom>
              <a:blipFill>
                <a:blip r:embed="rId8"/>
                <a:stretch>
                  <a:fillRect t="-2538" r="-556" b="-7107"/>
                </a:stretch>
              </a:blipFill>
            </p:spPr>
            <p:txBody>
              <a:bodyPr/>
              <a:lstStyle/>
              <a:p>
                <a:r>
                  <a:rPr lang="es-ES">
                    <a:noFill/>
                  </a:rPr>
                  <a:t> </a:t>
                </a:r>
              </a:p>
            </p:txBody>
          </p:sp>
        </mc:Fallback>
      </mc:AlternateContent>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054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9ECAC86-693D-5AA1-319E-7BDC814F998A}"/>
              </a:ext>
            </a:extLst>
          </p:cNvPr>
          <p:cNvSpPr>
            <a:spLocks noGrp="1"/>
          </p:cNvSpPr>
          <p:nvPr>
            <p:ph type="title"/>
          </p:nvPr>
        </p:nvSpPr>
        <p:spPr>
          <a:xfrm>
            <a:off x="590550" y="206752"/>
            <a:ext cx="10991850" cy="369332"/>
          </a:xfrm>
        </p:spPr>
        <p:txBody>
          <a:bodyPr/>
          <a:lstStyle/>
          <a:p>
            <a:r>
              <a:rPr lang="en-US" sz="2400" dirty="0"/>
              <a:t>Learning outcome #3 – Waveguide compact model</a:t>
            </a:r>
            <a:endParaRPr lang="es-ES" sz="2400" dirty="0"/>
          </a:p>
        </p:txBody>
      </p:sp>
      <p:sp>
        <p:nvSpPr>
          <p:cNvPr id="3" name="Marcador de texto 2">
            <a:extLst>
              <a:ext uri="{FF2B5EF4-FFF2-40B4-BE49-F238E27FC236}">
                <a16:creationId xmlns:a16="http://schemas.microsoft.com/office/drawing/2014/main" id="{07C6FD61-A8A7-0DF1-CBCD-0AFE8E50AF48}"/>
              </a:ext>
            </a:extLst>
          </p:cNvPr>
          <p:cNvSpPr>
            <a:spLocks noGrp="1"/>
          </p:cNvSpPr>
          <p:nvPr>
            <p:ph type="body" idx="1"/>
          </p:nvPr>
        </p:nvSpPr>
        <p:spPr>
          <a:xfrm>
            <a:off x="628650" y="4509438"/>
            <a:ext cx="10972800" cy="1661993"/>
          </a:xfrm>
        </p:spPr>
        <p:txBody>
          <a:bodyPr/>
          <a:lstStyle/>
          <a:p>
            <a:pPr algn="just"/>
            <a:r>
              <a:rPr lang="es-ES_tradnl" sz="1200" dirty="0">
                <a:latin typeface="Arial" panose="020B0604020202020204" pitchFamily="34" charset="0"/>
                <a:cs typeface="Arial" panose="020B0604020202020204" pitchFamily="34" charset="0"/>
              </a:rPr>
              <a:t>En las guías </a:t>
            </a:r>
            <a:r>
              <a:rPr lang="es-ES_tradnl" sz="1200" dirty="0" err="1">
                <a:latin typeface="Arial" panose="020B0604020202020204" pitchFamily="34" charset="0"/>
                <a:cs typeface="Arial" panose="020B0604020202020204" pitchFamily="34" charset="0"/>
              </a:rPr>
              <a:t>deep</a:t>
            </a:r>
            <a:r>
              <a:rPr lang="es-ES_tradnl" sz="1200" dirty="0">
                <a:latin typeface="Arial" panose="020B0604020202020204" pitchFamily="34" charset="0"/>
                <a:cs typeface="Arial" panose="020B0604020202020204" pitchFamily="34" charset="0"/>
              </a:rPr>
              <a:t>, los índices de grupo son ligeramente superiores a las </a:t>
            </a:r>
            <a:r>
              <a:rPr lang="es-ES_tradnl" sz="1200" dirty="0" err="1">
                <a:latin typeface="Arial" panose="020B0604020202020204" pitchFamily="34" charset="0"/>
                <a:cs typeface="Arial" panose="020B0604020202020204" pitchFamily="34" charset="0"/>
              </a:rPr>
              <a:t>shallow</a:t>
            </a:r>
            <a:r>
              <a:rPr lang="es-ES_tradnl" sz="1200" dirty="0">
                <a:latin typeface="Arial" panose="020B0604020202020204" pitchFamily="34" charset="0"/>
                <a:cs typeface="Arial" panose="020B0604020202020204" pitchFamily="34" charset="0"/>
              </a:rPr>
              <a:t> para los dos modos. Esto se debe a que en las guías </a:t>
            </a:r>
            <a:r>
              <a:rPr lang="es-ES_tradnl" sz="1200" dirty="0" err="1">
                <a:latin typeface="Arial" panose="020B0604020202020204" pitchFamily="34" charset="0"/>
                <a:cs typeface="Arial" panose="020B0604020202020204" pitchFamily="34" charset="0"/>
              </a:rPr>
              <a:t>deep</a:t>
            </a:r>
            <a:r>
              <a:rPr lang="es-ES_tradnl" sz="1200" dirty="0">
                <a:latin typeface="Arial" panose="020B0604020202020204" pitchFamily="34" charset="0"/>
                <a:cs typeface="Arial" panose="020B0604020202020204" pitchFamily="34" charset="0"/>
              </a:rPr>
              <a:t> hay un mayor confinamiento en el núcleo ya que las paredes laterales están totalmente grabadas. Por otro lado, en ambos tipos de guía se puede observar que hay un mayor índice de grupo en los modos TE que en los TM. Esto es porque el modo TE viaja más lento debido a que tiene una mayor interacción con la geometría del núcleo, ya que tiene componente en la dirección del ancho de la guía, donde hay más cantidad de material de guía.</a:t>
            </a:r>
          </a:p>
          <a:p>
            <a:pPr algn="just"/>
            <a:endParaRPr lang="es-ES_tradnl" sz="1200" dirty="0">
              <a:latin typeface="Arial" panose="020B0604020202020204" pitchFamily="34" charset="0"/>
              <a:cs typeface="Arial" panose="020B0604020202020204" pitchFamily="34" charset="0"/>
            </a:endParaRPr>
          </a:p>
          <a:p>
            <a:pPr algn="just"/>
            <a:r>
              <a:rPr lang="es-ES_tradnl" sz="1200" dirty="0">
                <a:latin typeface="Arial" panose="020B0604020202020204" pitchFamily="34" charset="0"/>
                <a:cs typeface="Arial" panose="020B0604020202020204" pitchFamily="34" charset="0"/>
              </a:rPr>
              <a:t>Respecto a la dispersión, la guía </a:t>
            </a:r>
            <a:r>
              <a:rPr lang="es-ES_tradnl" sz="1200" dirty="0" err="1">
                <a:latin typeface="Arial" panose="020B0604020202020204" pitchFamily="34" charset="0"/>
                <a:cs typeface="Arial" panose="020B0604020202020204" pitchFamily="34" charset="0"/>
              </a:rPr>
              <a:t>deep</a:t>
            </a:r>
            <a:r>
              <a:rPr lang="es-ES_tradnl" sz="1200" dirty="0">
                <a:latin typeface="Arial" panose="020B0604020202020204" pitchFamily="34" charset="0"/>
                <a:cs typeface="Arial" panose="020B0604020202020204" pitchFamily="34" charset="0"/>
              </a:rPr>
              <a:t> tiene una D más negativa que la </a:t>
            </a:r>
            <a:r>
              <a:rPr lang="es-ES_tradnl" sz="1200" dirty="0" err="1">
                <a:latin typeface="Arial" panose="020B0604020202020204" pitchFamily="34" charset="0"/>
                <a:cs typeface="Arial" panose="020B0604020202020204" pitchFamily="34" charset="0"/>
              </a:rPr>
              <a:t>shallow</a:t>
            </a:r>
            <a:r>
              <a:rPr lang="es-ES_tradnl" sz="1200" dirty="0">
                <a:latin typeface="Arial" panose="020B0604020202020204" pitchFamily="34" charset="0"/>
                <a:cs typeface="Arial" panose="020B0604020202020204" pitchFamily="34" charset="0"/>
              </a:rPr>
              <a:t>. Esto se debe a que el grabado total de las paredes laterales de la guía </a:t>
            </a:r>
            <a:r>
              <a:rPr lang="es-ES_tradnl" sz="1200" dirty="0" err="1">
                <a:latin typeface="Arial" panose="020B0604020202020204" pitchFamily="34" charset="0"/>
                <a:cs typeface="Arial" panose="020B0604020202020204" pitchFamily="34" charset="0"/>
              </a:rPr>
              <a:t>deep</a:t>
            </a:r>
            <a:r>
              <a:rPr lang="es-ES_tradnl" sz="1200" dirty="0">
                <a:latin typeface="Arial" panose="020B0604020202020204" pitchFamily="34" charset="0"/>
                <a:cs typeface="Arial" panose="020B0604020202020204" pitchFamily="34" charset="0"/>
              </a:rPr>
              <a:t> hace que aumente la dispersión geometría, y como consecuencia aumenta la dispersión. Por otra parte, la guía </a:t>
            </a:r>
            <a:r>
              <a:rPr lang="es-ES_tradnl" sz="1200" dirty="0" err="1">
                <a:latin typeface="Arial" panose="020B0604020202020204" pitchFamily="34" charset="0"/>
                <a:cs typeface="Arial" panose="020B0604020202020204" pitchFamily="34" charset="0"/>
              </a:rPr>
              <a:t>shallow</a:t>
            </a:r>
            <a:r>
              <a:rPr lang="es-ES_tradnl" sz="1200" dirty="0">
                <a:latin typeface="Arial" panose="020B0604020202020204" pitchFamily="34" charset="0"/>
                <a:cs typeface="Arial" panose="020B0604020202020204" pitchFamily="34" charset="0"/>
              </a:rPr>
              <a:t>, al tener un </a:t>
            </a:r>
            <a:r>
              <a:rPr lang="es-ES_tradnl" sz="1200" dirty="0" err="1">
                <a:latin typeface="Arial" panose="020B0604020202020204" pitchFamily="34" charset="0"/>
                <a:cs typeface="Arial" panose="020B0604020202020204" pitchFamily="34" charset="0"/>
              </a:rPr>
              <a:t>slab</a:t>
            </a:r>
            <a:r>
              <a:rPr lang="es-ES_tradnl" sz="1200" dirty="0">
                <a:latin typeface="Arial" panose="020B0604020202020204" pitchFamily="34" charset="0"/>
                <a:cs typeface="Arial" panose="020B0604020202020204" pitchFamily="34" charset="0"/>
              </a:rPr>
              <a:t>, tiene una dispersión un poco más pequeña, ya que el </a:t>
            </a:r>
            <a:r>
              <a:rPr lang="es-ES_tradnl" sz="1200" dirty="0" err="1">
                <a:latin typeface="Arial" panose="020B0604020202020204" pitchFamily="34" charset="0"/>
                <a:cs typeface="Arial" panose="020B0604020202020204" pitchFamily="34" charset="0"/>
              </a:rPr>
              <a:t>slab</a:t>
            </a:r>
            <a:r>
              <a:rPr lang="es-ES_tradnl" sz="1200" dirty="0">
                <a:latin typeface="Arial" panose="020B0604020202020204" pitchFamily="34" charset="0"/>
                <a:cs typeface="Arial" panose="020B0604020202020204" pitchFamily="34" charset="0"/>
              </a:rPr>
              <a:t> hace que parte del campo se extienda lateralmente. Como consecuencia, la variación de índice efectivo se suaviza con la longitud de onda.</a:t>
            </a:r>
          </a:p>
        </p:txBody>
      </p:sp>
      <p:sp>
        <p:nvSpPr>
          <p:cNvPr id="4" name="Marcador de pie de página 3">
            <a:extLst>
              <a:ext uri="{FF2B5EF4-FFF2-40B4-BE49-F238E27FC236}">
                <a16:creationId xmlns:a16="http://schemas.microsoft.com/office/drawing/2014/main" id="{7E37F831-37DE-EC4E-C80A-AD5641BF89E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2333D34F-D87A-D3B6-EACD-EAF65EB069AB}"/>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6" name="Imagen 5">
            <a:extLst>
              <a:ext uri="{FF2B5EF4-FFF2-40B4-BE49-F238E27FC236}">
                <a16:creationId xmlns:a16="http://schemas.microsoft.com/office/drawing/2014/main" id="{2788F4D0-5351-B696-8717-38FA725F5F91}"/>
              </a:ext>
            </a:extLst>
          </p:cNvPr>
          <p:cNvPicPr>
            <a:picLocks noChangeAspect="1"/>
          </p:cNvPicPr>
          <p:nvPr/>
        </p:nvPicPr>
        <p:blipFill>
          <a:blip r:embed="rId2"/>
          <a:srcRect t="1103" b="55150"/>
          <a:stretch/>
        </p:blipFill>
        <p:spPr>
          <a:xfrm>
            <a:off x="762000" y="3677557"/>
            <a:ext cx="4800600" cy="627731"/>
          </a:xfrm>
          <a:prstGeom prst="rect">
            <a:avLst/>
          </a:prstGeom>
        </p:spPr>
      </p:pic>
      <p:pic>
        <p:nvPicPr>
          <p:cNvPr id="7" name="Imagen 6">
            <a:extLst>
              <a:ext uri="{FF2B5EF4-FFF2-40B4-BE49-F238E27FC236}">
                <a16:creationId xmlns:a16="http://schemas.microsoft.com/office/drawing/2014/main" id="{FF976AA6-C02E-0ECD-3228-6E427C90DA13}"/>
              </a:ext>
            </a:extLst>
          </p:cNvPr>
          <p:cNvPicPr>
            <a:picLocks noChangeAspect="1"/>
          </p:cNvPicPr>
          <p:nvPr/>
        </p:nvPicPr>
        <p:blipFill>
          <a:blip r:embed="rId2"/>
          <a:srcRect t="47704"/>
          <a:stretch/>
        </p:blipFill>
        <p:spPr>
          <a:xfrm>
            <a:off x="6309341" y="3609823"/>
            <a:ext cx="4800600" cy="750405"/>
          </a:xfrm>
          <a:prstGeom prst="rect">
            <a:avLst/>
          </a:prstGeom>
        </p:spPr>
      </p:pic>
      <p:pic>
        <p:nvPicPr>
          <p:cNvPr id="9" name="Imagen 8">
            <a:extLst>
              <a:ext uri="{FF2B5EF4-FFF2-40B4-BE49-F238E27FC236}">
                <a16:creationId xmlns:a16="http://schemas.microsoft.com/office/drawing/2014/main" id="{5422221C-F3D4-43E2-9AED-FD3F6BD48214}"/>
              </a:ext>
            </a:extLst>
          </p:cNvPr>
          <p:cNvPicPr>
            <a:picLocks noChangeAspect="1"/>
          </p:cNvPicPr>
          <p:nvPr/>
        </p:nvPicPr>
        <p:blipFill>
          <a:blip r:embed="rId3"/>
          <a:stretch>
            <a:fillRect/>
          </a:stretch>
        </p:blipFill>
        <p:spPr>
          <a:xfrm>
            <a:off x="1219200" y="780234"/>
            <a:ext cx="3429000" cy="2718327"/>
          </a:xfrm>
          <a:prstGeom prst="rect">
            <a:avLst/>
          </a:prstGeom>
        </p:spPr>
      </p:pic>
      <p:pic>
        <p:nvPicPr>
          <p:cNvPr id="11" name="Imagen 10">
            <a:extLst>
              <a:ext uri="{FF2B5EF4-FFF2-40B4-BE49-F238E27FC236}">
                <a16:creationId xmlns:a16="http://schemas.microsoft.com/office/drawing/2014/main" id="{A71245E8-3970-4E6D-9FED-5632CC5B067E}"/>
              </a:ext>
            </a:extLst>
          </p:cNvPr>
          <p:cNvPicPr>
            <a:picLocks noChangeAspect="1"/>
          </p:cNvPicPr>
          <p:nvPr/>
        </p:nvPicPr>
        <p:blipFill>
          <a:blip r:embed="rId4"/>
          <a:stretch>
            <a:fillRect/>
          </a:stretch>
        </p:blipFill>
        <p:spPr>
          <a:xfrm>
            <a:off x="6995141" y="780234"/>
            <a:ext cx="3429000" cy="2718326"/>
          </a:xfrm>
          <a:prstGeom prst="rect">
            <a:avLst/>
          </a:prstGeom>
        </p:spPr>
      </p:pic>
    </p:spTree>
    <p:extLst>
      <p:ext uri="{BB962C8B-B14F-4D97-AF65-F5344CB8AC3E}">
        <p14:creationId xmlns:p14="http://schemas.microsoft.com/office/powerpoint/2010/main" val="16705418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Bend waveguide radius vs. loss – deep</a:t>
            </a:r>
            <a:br>
              <a:rPr lang="en-US" sz="2500" dirty="0"/>
            </a:br>
            <a:r>
              <a:rPr lang="en-US" b="0" dirty="0"/>
              <a:t>Find  neff_TE0 for </a:t>
            </a:r>
            <a:r>
              <a:rPr lang="en-US" b="0" dirty="0" err="1"/>
              <a:t>wvl</a:t>
            </a:r>
            <a:r>
              <a:rPr lang="en-US" b="0" dirty="0"/>
              <a:t> 1.55 µm, width 1.0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409FBBBB-69CA-B7E5-7176-8227F2788CF5}"/>
                  </a:ext>
                </a:extLst>
              </p:cNvPr>
              <p:cNvSpPr txBox="1"/>
              <p:nvPr/>
            </p:nvSpPr>
            <p:spPr>
              <a:xfrm>
                <a:off x="9941529" y="4179383"/>
                <a:ext cx="1856534" cy="439608"/>
              </a:xfrm>
              <a:prstGeom prst="rect">
                <a:avLst/>
              </a:prstGeom>
              <a:noFill/>
            </p:spPr>
            <p:txBody>
              <a:bodyPr wrap="none" lIns="0" tIns="0" rIns="0" bIns="0" rtlCol="0">
                <a:spAutoFit/>
              </a:bodyPr>
              <a:lstStyle/>
              <a:p>
                <a14:m>
                  <m:oMath xmlns:m="http://schemas.openxmlformats.org/officeDocument/2006/math">
                    <m:r>
                      <a:rPr lang="es-ES" sz="1800" b="0" i="1" smtClean="0">
                        <a:latin typeface="Cambria Math" panose="02040503050406030204" pitchFamily="18" charset="0"/>
                      </a:rPr>
                      <m:t>𝛼</m:t>
                    </m:r>
                    <m:d>
                      <m:dPr>
                        <m:begChr m:val="["/>
                        <m:endChr m:val="]"/>
                        <m:ctrlPr>
                          <a:rPr lang="es-ES" sz="1800" b="0" i="1" smtClean="0">
                            <a:latin typeface="Cambria Math" panose="02040503050406030204" pitchFamily="18" charset="0"/>
                          </a:rPr>
                        </m:ctrlPr>
                      </m:dPr>
                      <m:e>
                        <m:f>
                          <m:fPr>
                            <m:ctrlPr>
                              <a:rPr lang="es-ES" sz="1800" b="0" i="1" smtClean="0">
                                <a:latin typeface="Cambria Math" panose="02040503050406030204" pitchFamily="18" charset="0"/>
                              </a:rPr>
                            </m:ctrlPr>
                          </m:fPr>
                          <m:num>
                            <m:r>
                              <a:rPr lang="es-ES" sz="1800" b="0" i="1" smtClean="0">
                                <a:latin typeface="Cambria Math" panose="02040503050406030204" pitchFamily="18" charset="0"/>
                              </a:rPr>
                              <m:t>𝑑𝐵</m:t>
                            </m:r>
                          </m:num>
                          <m:den>
                            <m:r>
                              <a:rPr lang="es-ES" sz="1800" b="0" i="1" smtClean="0">
                                <a:latin typeface="Cambria Math" panose="02040503050406030204" pitchFamily="18" charset="0"/>
                              </a:rPr>
                              <m:t>90</m:t>
                            </m:r>
                            <m:r>
                              <a:rPr lang="es-ES" sz="1800" b="0" i="1" smtClean="0">
                                <a:latin typeface="Cambria Math" panose="02040503050406030204" pitchFamily="18" charset="0"/>
                                <a:ea typeface="Cambria Math" panose="02040503050406030204" pitchFamily="18" charset="0"/>
                              </a:rPr>
                              <m:t>°</m:t>
                            </m:r>
                          </m:den>
                        </m:f>
                      </m:e>
                    </m:d>
                    <m:r>
                      <a:rPr lang="es-ES" sz="1800" b="0" i="1" smtClean="0">
                        <a:latin typeface="Cambria Math" panose="02040503050406030204" pitchFamily="18" charset="0"/>
                      </a:rPr>
                      <m:t>=</m:t>
                    </m:r>
                  </m:oMath>
                </a14:m>
                <a:r>
                  <a:rPr lang="es-ES" sz="1800" dirty="0"/>
                  <a:t> </a:t>
                </a:r>
                <a14:m>
                  <m:oMath xmlns:m="http://schemas.openxmlformats.org/officeDocument/2006/math">
                    <m:r>
                      <m:rPr>
                        <m:sty m:val="p"/>
                      </m:rPr>
                      <a:rPr lang="es-ES" sz="1800" b="0" i="0" smtClean="0">
                        <a:latin typeface="Cambria Math" panose="02040503050406030204" pitchFamily="18" charset="0"/>
                      </a:rPr>
                      <m:t>R</m:t>
                    </m:r>
                    <m:f>
                      <m:fPr>
                        <m:ctrlPr>
                          <a:rPr lang="es-ES" sz="1800" b="0" i="1" smtClean="0">
                            <a:latin typeface="Cambria Math" panose="02040503050406030204" pitchFamily="18" charset="0"/>
                          </a:rPr>
                        </m:ctrlPr>
                      </m:fPr>
                      <m:num>
                        <m:r>
                          <a:rPr lang="es-ES" sz="1800" b="0" i="1" smtClean="0">
                            <a:latin typeface="Cambria Math" panose="02040503050406030204" pitchFamily="18" charset="0"/>
                          </a:rPr>
                          <m:t>𝜋</m:t>
                        </m:r>
                      </m:num>
                      <m:den>
                        <m:r>
                          <a:rPr lang="es-ES" sz="1800" b="0" i="1" smtClean="0">
                            <a:latin typeface="Cambria Math" panose="02040503050406030204" pitchFamily="18" charset="0"/>
                          </a:rPr>
                          <m:t>2</m:t>
                        </m:r>
                      </m:den>
                    </m:f>
                    <m:r>
                      <a:rPr lang="es-ES" sz="1800" i="1">
                        <a:latin typeface="Cambria Math" panose="02040503050406030204" pitchFamily="18" charset="0"/>
                      </a:rPr>
                      <m:t>𝛼</m:t>
                    </m:r>
                    <m:d>
                      <m:dPr>
                        <m:begChr m:val="["/>
                        <m:endChr m:val="]"/>
                        <m:ctrlPr>
                          <a:rPr lang="es-ES" sz="1800" i="1">
                            <a:latin typeface="Cambria Math" panose="02040503050406030204" pitchFamily="18" charset="0"/>
                          </a:rPr>
                        </m:ctrlPr>
                      </m:dPr>
                      <m:e>
                        <m:f>
                          <m:fPr>
                            <m:ctrlPr>
                              <a:rPr lang="es-ES" sz="1800" i="1">
                                <a:latin typeface="Cambria Math" panose="02040503050406030204" pitchFamily="18" charset="0"/>
                              </a:rPr>
                            </m:ctrlPr>
                          </m:fPr>
                          <m:num>
                            <m:r>
                              <a:rPr lang="es-ES" sz="1800" i="1">
                                <a:latin typeface="Cambria Math" panose="02040503050406030204" pitchFamily="18" charset="0"/>
                              </a:rPr>
                              <m:t>𝑑𝐵</m:t>
                            </m:r>
                          </m:num>
                          <m:den>
                            <m:r>
                              <a:rPr lang="es-ES" sz="1800" i="1">
                                <a:latin typeface="Cambria Math" panose="02040503050406030204" pitchFamily="18" charset="0"/>
                              </a:rPr>
                              <m:t>µ</m:t>
                            </m:r>
                            <m:r>
                              <a:rPr lang="es-ES" sz="1800" i="1">
                                <a:latin typeface="Cambria Math" panose="02040503050406030204" pitchFamily="18" charset="0"/>
                              </a:rPr>
                              <m:t>𝑚</m:t>
                            </m:r>
                          </m:den>
                        </m:f>
                      </m:e>
                    </m:d>
                  </m:oMath>
                </a14:m>
                <a:endParaRPr lang="en-US" sz="1800" dirty="0"/>
              </a:p>
            </p:txBody>
          </p:sp>
        </mc:Choice>
        <mc:Fallback xmlns="">
          <p:sp>
            <p:nvSpPr>
              <p:cNvPr id="6" name="CuadroTexto 5">
                <a:extLst>
                  <a:ext uri="{FF2B5EF4-FFF2-40B4-BE49-F238E27FC236}">
                    <a16:creationId xmlns:a16="http://schemas.microsoft.com/office/drawing/2014/main" id="{409FBBBB-69CA-B7E5-7176-8227F2788CF5}"/>
                  </a:ext>
                </a:extLst>
              </p:cNvPr>
              <p:cNvSpPr txBox="1">
                <a:spLocks noRot="1" noChangeAspect="1" noMove="1" noResize="1" noEditPoints="1" noAdjustHandles="1" noChangeArrowheads="1" noChangeShapeType="1" noTextEdit="1"/>
              </p:cNvSpPr>
              <p:nvPr/>
            </p:nvSpPr>
            <p:spPr>
              <a:xfrm>
                <a:off x="9941529" y="4179383"/>
                <a:ext cx="1856534" cy="439608"/>
              </a:xfrm>
              <a:prstGeom prst="rect">
                <a:avLst/>
              </a:prstGeom>
              <a:blipFill>
                <a:blip r:embed="rId5"/>
                <a:stretch>
                  <a:fillRect l="-3289" b="-13889"/>
                </a:stretch>
              </a:blipFill>
            </p:spPr>
            <p:txBody>
              <a:bodyPr/>
              <a:lstStyle/>
              <a:p>
                <a:r>
                  <a:rPr lang="es-ES">
                    <a:noFill/>
                  </a:rPr>
                  <a:t> </a:t>
                </a:r>
              </a:p>
            </p:txBody>
          </p:sp>
        </mc:Fallback>
      </mc:AlternateContent>
      <p:sp>
        <p:nvSpPr>
          <p:cNvPr id="7" name="Rectángulo 6">
            <a:extLst>
              <a:ext uri="{FF2B5EF4-FFF2-40B4-BE49-F238E27FC236}">
                <a16:creationId xmlns:a16="http://schemas.microsoft.com/office/drawing/2014/main" id="{B5FE8755-B0BF-14B7-64E6-4BBB2560B9A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331EBD86-BA6C-68C9-2D38-FC8CFBA7ADC4}"/>
              </a:ext>
            </a:extLst>
          </p:cNvPr>
          <p:cNvSpPr txBox="1"/>
          <p:nvPr/>
        </p:nvSpPr>
        <p:spPr>
          <a:xfrm>
            <a:off x="2978141" y="2784355"/>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dB/90º neff_TE0 &amp; neff_TM0 vs R</a:t>
            </a:r>
          </a:p>
        </p:txBody>
      </p:sp>
    </p:spTree>
    <p:extLst>
      <p:ext uri="{BB962C8B-B14F-4D97-AF65-F5344CB8AC3E}">
        <p14:creationId xmlns:p14="http://schemas.microsoft.com/office/powerpoint/2010/main" val="3660438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5989B-EC37-4F64-96CC-43C44129BF0A}"/>
              </a:ext>
            </a:extLst>
          </p:cNvPr>
          <p:cNvSpPr>
            <a:spLocks noGrp="1"/>
          </p:cNvSpPr>
          <p:nvPr>
            <p:ph type="title"/>
          </p:nvPr>
        </p:nvSpPr>
        <p:spPr>
          <a:xfrm>
            <a:off x="590550" y="206752"/>
            <a:ext cx="10991850" cy="307777"/>
          </a:xfrm>
        </p:spPr>
        <p:txBody>
          <a:bodyPr/>
          <a:lstStyle/>
          <a:p>
            <a:r>
              <a:rPr lang="en-US" sz="2000" dirty="0"/>
              <a:t>Learning outcome #4 – Bend waveguide radius vs. loss – deep</a:t>
            </a:r>
            <a:endParaRPr lang="es-ES" dirty="0"/>
          </a:p>
        </p:txBody>
      </p:sp>
      <p:sp>
        <p:nvSpPr>
          <p:cNvPr id="3" name="Marcador de texto 2">
            <a:extLst>
              <a:ext uri="{FF2B5EF4-FFF2-40B4-BE49-F238E27FC236}">
                <a16:creationId xmlns:a16="http://schemas.microsoft.com/office/drawing/2014/main" id="{1A9C6F30-2C1A-453E-8E40-61C22FF1F397}"/>
              </a:ext>
            </a:extLst>
          </p:cNvPr>
          <p:cNvSpPr>
            <a:spLocks noGrp="1"/>
          </p:cNvSpPr>
          <p:nvPr>
            <p:ph type="body" idx="1"/>
          </p:nvPr>
        </p:nvSpPr>
        <p:spPr>
          <a:xfrm>
            <a:off x="6086475" y="2675930"/>
            <a:ext cx="5419725" cy="1002268"/>
          </a:xfrm>
        </p:spPr>
        <p:txBody>
          <a:bodyPr/>
          <a:lstStyle/>
          <a:p>
            <a:r>
              <a:rPr lang="es-ES" sz="1200" dirty="0"/>
              <a:t>En la gráfica que muestra el índice efectivo frente al radio de curvatura se puede observar que para el modo TE0 el índice se mantiene prácticamente constante e independiente del radio de curvatura (aprox. 1.59), lo que demuestra la gran estabilidad y el fuerte confinamiento de la luz en la guía </a:t>
            </a:r>
            <a:r>
              <a:rPr lang="es-ES" sz="1200" i="1" dirty="0" err="1"/>
              <a:t>deep</a:t>
            </a:r>
            <a:r>
              <a:rPr lang="es-ES" sz="1200" dirty="0"/>
              <a:t>. Por el contrario, el modo TM0 sufre una caída drástica en 25 µm, indicando una deformación severa del modo. </a:t>
            </a:r>
          </a:p>
        </p:txBody>
      </p:sp>
      <p:sp>
        <p:nvSpPr>
          <p:cNvPr id="4" name="Marcador de pie de página 3">
            <a:extLst>
              <a:ext uri="{FF2B5EF4-FFF2-40B4-BE49-F238E27FC236}">
                <a16:creationId xmlns:a16="http://schemas.microsoft.com/office/drawing/2014/main" id="{77B520AA-6A00-4259-A6FE-F826A76F321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386C9D40-BFCD-4E7B-A72F-34A171AD259C}"/>
              </a:ext>
            </a:extLst>
          </p:cNvPr>
          <p:cNvSpPr>
            <a:spLocks noGrp="1"/>
          </p:cNvSpPr>
          <p:nvPr>
            <p:ph type="sldNum" sz="quarter" idx="7"/>
          </p:nvPr>
        </p:nvSpPr>
        <p:spPr/>
        <p:txBody>
          <a:bodyPr/>
          <a:lstStyle/>
          <a:p>
            <a:fld id="{B6F15528-21DE-4FAA-801E-634DDDAF4B2B}" type="slidenum">
              <a:rPr lang="es-ES" smtClean="0"/>
              <a:t>8</a:t>
            </a:fld>
            <a:endParaRPr lang="es-ES"/>
          </a:p>
        </p:txBody>
      </p:sp>
      <p:pic>
        <p:nvPicPr>
          <p:cNvPr id="7" name="Imagen 6">
            <a:extLst>
              <a:ext uri="{FF2B5EF4-FFF2-40B4-BE49-F238E27FC236}">
                <a16:creationId xmlns:a16="http://schemas.microsoft.com/office/drawing/2014/main" id="{AFA37951-1C73-4E76-B943-19DEDC10DA9A}"/>
              </a:ext>
            </a:extLst>
          </p:cNvPr>
          <p:cNvPicPr>
            <a:picLocks noChangeAspect="1"/>
          </p:cNvPicPr>
          <p:nvPr/>
        </p:nvPicPr>
        <p:blipFill>
          <a:blip r:embed="rId2"/>
          <a:stretch>
            <a:fillRect/>
          </a:stretch>
        </p:blipFill>
        <p:spPr>
          <a:xfrm>
            <a:off x="838200" y="1418099"/>
            <a:ext cx="4453467" cy="3517930"/>
          </a:xfrm>
          <a:prstGeom prst="rect">
            <a:avLst/>
          </a:prstGeom>
        </p:spPr>
      </p:pic>
    </p:spTree>
    <p:extLst>
      <p:ext uri="{BB962C8B-B14F-4D97-AF65-F5344CB8AC3E}">
        <p14:creationId xmlns:p14="http://schemas.microsoft.com/office/powerpoint/2010/main" val="10940445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5989B-EC37-4F64-96CC-43C44129BF0A}"/>
              </a:ext>
            </a:extLst>
          </p:cNvPr>
          <p:cNvSpPr>
            <a:spLocks noGrp="1"/>
          </p:cNvSpPr>
          <p:nvPr>
            <p:ph type="title"/>
          </p:nvPr>
        </p:nvSpPr>
        <p:spPr>
          <a:xfrm>
            <a:off x="590550" y="206752"/>
            <a:ext cx="10991850" cy="307777"/>
          </a:xfrm>
        </p:spPr>
        <p:txBody>
          <a:bodyPr/>
          <a:lstStyle/>
          <a:p>
            <a:r>
              <a:rPr lang="en-US" sz="2000" dirty="0"/>
              <a:t>Learning outcome #4 – Bend waveguide radius vs. loss – deep</a:t>
            </a:r>
            <a:endParaRPr lang="es-ES" dirty="0"/>
          </a:p>
        </p:txBody>
      </p:sp>
      <p:sp>
        <p:nvSpPr>
          <p:cNvPr id="4" name="Marcador de pie de página 3">
            <a:extLst>
              <a:ext uri="{FF2B5EF4-FFF2-40B4-BE49-F238E27FC236}">
                <a16:creationId xmlns:a16="http://schemas.microsoft.com/office/drawing/2014/main" id="{77B520AA-6A00-4259-A6FE-F826A76F321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386C9D40-BFCD-4E7B-A72F-34A171AD259C}"/>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10" name="Marcador de texto 2">
            <a:extLst>
              <a:ext uri="{FF2B5EF4-FFF2-40B4-BE49-F238E27FC236}">
                <a16:creationId xmlns:a16="http://schemas.microsoft.com/office/drawing/2014/main" id="{82705104-5DF5-473B-9FE2-0429FB31E93C}"/>
              </a:ext>
            </a:extLst>
          </p:cNvPr>
          <p:cNvSpPr txBox="1">
            <a:spLocks/>
          </p:cNvSpPr>
          <p:nvPr/>
        </p:nvSpPr>
        <p:spPr>
          <a:xfrm>
            <a:off x="6133991" y="1612665"/>
            <a:ext cx="4960620" cy="1107996"/>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s-ES" sz="1200" kern="0" dirty="0">
                <a:solidFill>
                  <a:sysClr val="windowText" lastClr="000000"/>
                </a:solidFill>
              </a:rPr>
              <a:t>Respecto a la gráfica de las perdidas para diferentes curvaturas para el modo TE, podemos observar que  </a:t>
            </a:r>
            <a:r>
              <a:rPr lang="es-ES" sz="1200" dirty="0"/>
              <a:t>el radio de 25 µm supera el límite de pérdidas aceptable (&gt; 0.1 dB) debido al alto </a:t>
            </a:r>
            <a:r>
              <a:rPr lang="es-ES" sz="1200" i="1" dirty="0" err="1"/>
              <a:t>mismatch</a:t>
            </a:r>
            <a:r>
              <a:rPr lang="es-ES" sz="1200" dirty="0"/>
              <a:t>. Sin embargo, a partir de 50 µm, la pérdida total cae drásticamente a valores seguros (~0.04 dB), estableciendo este como el radio mínimo seguro donde las pérdidas por propagación son despreciables.</a:t>
            </a:r>
            <a:endParaRPr lang="es-ES" sz="1200" kern="0" dirty="0">
              <a:solidFill>
                <a:sysClr val="windowText" lastClr="000000"/>
              </a:solidFill>
            </a:endParaRPr>
          </a:p>
        </p:txBody>
      </p:sp>
      <p:pic>
        <p:nvPicPr>
          <p:cNvPr id="16" name="Imagen 15">
            <a:extLst>
              <a:ext uri="{FF2B5EF4-FFF2-40B4-BE49-F238E27FC236}">
                <a16:creationId xmlns:a16="http://schemas.microsoft.com/office/drawing/2014/main" id="{CEF01B9A-780C-4F6B-AA81-6AF195AE7CD4}"/>
              </a:ext>
            </a:extLst>
          </p:cNvPr>
          <p:cNvPicPr>
            <a:picLocks noChangeAspect="1"/>
          </p:cNvPicPr>
          <p:nvPr/>
        </p:nvPicPr>
        <p:blipFill>
          <a:blip r:embed="rId2"/>
          <a:stretch>
            <a:fillRect/>
          </a:stretch>
        </p:blipFill>
        <p:spPr>
          <a:xfrm>
            <a:off x="1135380" y="836429"/>
            <a:ext cx="3962400" cy="2660469"/>
          </a:xfrm>
          <a:prstGeom prst="rect">
            <a:avLst/>
          </a:prstGeom>
        </p:spPr>
      </p:pic>
      <p:pic>
        <p:nvPicPr>
          <p:cNvPr id="8" name="Imagen 7">
            <a:extLst>
              <a:ext uri="{FF2B5EF4-FFF2-40B4-BE49-F238E27FC236}">
                <a16:creationId xmlns:a16="http://schemas.microsoft.com/office/drawing/2014/main" id="{8BD00B6F-61C5-4C92-92A1-8E9FF40389F6}"/>
              </a:ext>
            </a:extLst>
          </p:cNvPr>
          <p:cNvPicPr>
            <a:picLocks noChangeAspect="1"/>
          </p:cNvPicPr>
          <p:nvPr/>
        </p:nvPicPr>
        <p:blipFill>
          <a:blip r:embed="rId3"/>
          <a:stretch>
            <a:fillRect/>
          </a:stretch>
        </p:blipFill>
        <p:spPr>
          <a:xfrm>
            <a:off x="1135380" y="3715265"/>
            <a:ext cx="3962399" cy="2679608"/>
          </a:xfrm>
          <a:prstGeom prst="rect">
            <a:avLst/>
          </a:prstGeom>
        </p:spPr>
      </p:pic>
      <p:sp>
        <p:nvSpPr>
          <p:cNvPr id="9" name="CuadroTexto 8">
            <a:extLst>
              <a:ext uri="{FF2B5EF4-FFF2-40B4-BE49-F238E27FC236}">
                <a16:creationId xmlns:a16="http://schemas.microsoft.com/office/drawing/2014/main" id="{4E6FFA97-BEF9-465D-9837-BFF2C3E8D676}"/>
              </a:ext>
            </a:extLst>
          </p:cNvPr>
          <p:cNvSpPr txBox="1"/>
          <p:nvPr/>
        </p:nvSpPr>
        <p:spPr>
          <a:xfrm>
            <a:off x="6108590" y="4343400"/>
            <a:ext cx="4960621" cy="1200329"/>
          </a:xfrm>
          <a:prstGeom prst="rect">
            <a:avLst/>
          </a:prstGeom>
          <a:noFill/>
        </p:spPr>
        <p:txBody>
          <a:bodyPr wrap="square">
            <a:spAutoFit/>
          </a:bodyPr>
          <a:lstStyle/>
          <a:p>
            <a:r>
              <a:rPr lang="es-ES" sz="1200" dirty="0"/>
              <a:t>Por otro lado, el modo TM muestra una sensibilidad crítica a la curvatura. En R=25 µm, la pérdida es muy alta (&gt; 250 dB), indicando que el modo sufre radiación total o corte. Sin embargo, en R=50 µm, la guía recupera su funcionamiento óptimo con pérdidas casi nulas. Por tanto, el radio seguro global del diseño se fija en 50 µm, condicionado por la estabilidad de esta polarización</a:t>
            </a:r>
          </a:p>
        </p:txBody>
      </p:sp>
    </p:spTree>
    <p:extLst>
      <p:ext uri="{BB962C8B-B14F-4D97-AF65-F5344CB8AC3E}">
        <p14:creationId xmlns:p14="http://schemas.microsoft.com/office/powerpoint/2010/main" val="28885537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DF7315-348C-4DEC-B0BE-A6990045DA6D}"/>
              </a:ext>
            </a:extLst>
          </p:cNvPr>
          <p:cNvSpPr>
            <a:spLocks noGrp="1"/>
          </p:cNvSpPr>
          <p:nvPr>
            <p:ph type="title"/>
          </p:nvPr>
        </p:nvSpPr>
        <p:spPr>
          <a:xfrm>
            <a:off x="590550" y="206752"/>
            <a:ext cx="10991850" cy="307777"/>
          </a:xfrm>
        </p:spPr>
        <p:txBody>
          <a:bodyPr/>
          <a:lstStyle/>
          <a:p>
            <a:r>
              <a:rPr lang="en-US" u="sng" dirty="0"/>
              <a:t>EXTRA EXERCISES</a:t>
            </a:r>
            <a:endParaRPr lang="es-ES" u="sng" dirty="0"/>
          </a:p>
        </p:txBody>
      </p:sp>
      <p:sp>
        <p:nvSpPr>
          <p:cNvPr id="4" name="Marcador de pie de página 3">
            <a:extLst>
              <a:ext uri="{FF2B5EF4-FFF2-40B4-BE49-F238E27FC236}">
                <a16:creationId xmlns:a16="http://schemas.microsoft.com/office/drawing/2014/main" id="{7CB309BB-93C1-466F-B99A-12BF31408A9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9C197467-2935-49B4-A909-C9E9BFEE333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10" name="Título 1">
            <a:extLst>
              <a:ext uri="{FF2B5EF4-FFF2-40B4-BE49-F238E27FC236}">
                <a16:creationId xmlns:a16="http://schemas.microsoft.com/office/drawing/2014/main" id="{767FE45B-5CEE-45CD-AC79-25FB89879217}"/>
              </a:ext>
            </a:extLst>
          </p:cNvPr>
          <p:cNvSpPr txBox="1">
            <a:spLocks/>
          </p:cNvSpPr>
          <p:nvPr/>
        </p:nvSpPr>
        <p:spPr>
          <a:xfrm>
            <a:off x="590550" y="560189"/>
            <a:ext cx="10991850" cy="615553"/>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r>
              <a:rPr lang="en-US" kern="0" dirty="0"/>
              <a:t>1. Repeat the LO.1. wavelength behavior simulations, considering the updated materials and dimensions. </a:t>
            </a:r>
            <a:endParaRPr lang="es-ES" kern="0" dirty="0"/>
          </a:p>
        </p:txBody>
      </p:sp>
      <p:pic>
        <p:nvPicPr>
          <p:cNvPr id="12" name="Imagen 11">
            <a:extLst>
              <a:ext uri="{FF2B5EF4-FFF2-40B4-BE49-F238E27FC236}">
                <a16:creationId xmlns:a16="http://schemas.microsoft.com/office/drawing/2014/main" id="{E3822B9E-A299-47F4-A8D7-6E324A496E38}"/>
              </a:ext>
            </a:extLst>
          </p:cNvPr>
          <p:cNvPicPr>
            <a:picLocks noChangeAspect="1"/>
          </p:cNvPicPr>
          <p:nvPr/>
        </p:nvPicPr>
        <p:blipFill>
          <a:blip r:embed="rId2"/>
          <a:stretch>
            <a:fillRect/>
          </a:stretch>
        </p:blipFill>
        <p:spPr>
          <a:xfrm>
            <a:off x="6840086" y="1603200"/>
            <a:ext cx="2994280" cy="2365273"/>
          </a:xfrm>
          <a:prstGeom prst="rect">
            <a:avLst/>
          </a:prstGeom>
        </p:spPr>
      </p:pic>
      <p:pic>
        <p:nvPicPr>
          <p:cNvPr id="14" name="Imagen 13">
            <a:extLst>
              <a:ext uri="{FF2B5EF4-FFF2-40B4-BE49-F238E27FC236}">
                <a16:creationId xmlns:a16="http://schemas.microsoft.com/office/drawing/2014/main" id="{8160718F-5644-4C8A-AACE-FDAA995FB504}"/>
              </a:ext>
            </a:extLst>
          </p:cNvPr>
          <p:cNvPicPr>
            <a:picLocks noChangeAspect="1"/>
          </p:cNvPicPr>
          <p:nvPr/>
        </p:nvPicPr>
        <p:blipFill>
          <a:blip r:embed="rId3"/>
          <a:stretch>
            <a:fillRect/>
          </a:stretch>
        </p:blipFill>
        <p:spPr>
          <a:xfrm>
            <a:off x="6840086" y="3827024"/>
            <a:ext cx="2994280" cy="2365273"/>
          </a:xfrm>
          <a:prstGeom prst="rect">
            <a:avLst/>
          </a:prstGeom>
        </p:spPr>
      </p:pic>
      <p:pic>
        <p:nvPicPr>
          <p:cNvPr id="15" name="Imagen 14">
            <a:extLst>
              <a:ext uri="{FF2B5EF4-FFF2-40B4-BE49-F238E27FC236}">
                <a16:creationId xmlns:a16="http://schemas.microsoft.com/office/drawing/2014/main" id="{93ED8E60-C140-4C24-BA5C-39FF14A1E412}"/>
              </a:ext>
            </a:extLst>
          </p:cNvPr>
          <p:cNvPicPr>
            <a:picLocks noChangeAspect="1"/>
          </p:cNvPicPr>
          <p:nvPr/>
        </p:nvPicPr>
        <p:blipFill>
          <a:blip r:embed="rId4"/>
          <a:stretch>
            <a:fillRect/>
          </a:stretch>
        </p:blipFill>
        <p:spPr>
          <a:xfrm>
            <a:off x="1922914" y="1603200"/>
            <a:ext cx="2953886" cy="2297467"/>
          </a:xfrm>
          <a:prstGeom prst="rect">
            <a:avLst/>
          </a:prstGeom>
        </p:spPr>
      </p:pic>
      <p:pic>
        <p:nvPicPr>
          <p:cNvPr id="16" name="Imagen 15">
            <a:extLst>
              <a:ext uri="{FF2B5EF4-FFF2-40B4-BE49-F238E27FC236}">
                <a16:creationId xmlns:a16="http://schemas.microsoft.com/office/drawing/2014/main" id="{2DD75B9B-6D09-40E6-9CA2-A453F5727E3B}"/>
              </a:ext>
            </a:extLst>
          </p:cNvPr>
          <p:cNvPicPr>
            <a:picLocks noChangeAspect="1"/>
          </p:cNvPicPr>
          <p:nvPr/>
        </p:nvPicPr>
        <p:blipFill>
          <a:blip r:embed="rId5"/>
          <a:stretch>
            <a:fillRect/>
          </a:stretch>
        </p:blipFill>
        <p:spPr>
          <a:xfrm>
            <a:off x="1849938" y="3844400"/>
            <a:ext cx="2994281" cy="2297467"/>
          </a:xfrm>
          <a:prstGeom prst="rect">
            <a:avLst/>
          </a:prstGeom>
        </p:spPr>
      </p:pic>
      <p:sp>
        <p:nvSpPr>
          <p:cNvPr id="19" name="CuadroTexto 18">
            <a:extLst>
              <a:ext uri="{FF2B5EF4-FFF2-40B4-BE49-F238E27FC236}">
                <a16:creationId xmlns:a16="http://schemas.microsoft.com/office/drawing/2014/main" id="{E1CED8DD-47FB-44FE-9165-B8AD37A784AF}"/>
              </a:ext>
            </a:extLst>
          </p:cNvPr>
          <p:cNvSpPr txBox="1"/>
          <p:nvPr/>
        </p:nvSpPr>
        <p:spPr>
          <a:xfrm>
            <a:off x="3042385" y="1127298"/>
            <a:ext cx="714943" cy="369332"/>
          </a:xfrm>
          <a:prstGeom prst="rect">
            <a:avLst/>
          </a:prstGeom>
          <a:noFill/>
        </p:spPr>
        <p:txBody>
          <a:bodyPr wrap="square" rtlCol="0">
            <a:spAutoFit/>
          </a:bodyPr>
          <a:lstStyle/>
          <a:p>
            <a:pPr algn="ctr"/>
            <a:r>
              <a:rPr lang="es-ES" b="1" dirty="0" err="1"/>
              <a:t>SiNx</a:t>
            </a:r>
            <a:endParaRPr lang="es-ES" b="1" dirty="0"/>
          </a:p>
        </p:txBody>
      </p:sp>
      <p:sp>
        <p:nvSpPr>
          <p:cNvPr id="20" name="CuadroTexto 19">
            <a:extLst>
              <a:ext uri="{FF2B5EF4-FFF2-40B4-BE49-F238E27FC236}">
                <a16:creationId xmlns:a16="http://schemas.microsoft.com/office/drawing/2014/main" id="{6FFA4C21-0303-4CD2-AFBA-587E5CD85F8C}"/>
              </a:ext>
            </a:extLst>
          </p:cNvPr>
          <p:cNvSpPr txBox="1"/>
          <p:nvPr/>
        </p:nvSpPr>
        <p:spPr>
          <a:xfrm>
            <a:off x="7979754" y="1127298"/>
            <a:ext cx="714943" cy="369332"/>
          </a:xfrm>
          <a:prstGeom prst="rect">
            <a:avLst/>
          </a:prstGeom>
          <a:noFill/>
        </p:spPr>
        <p:txBody>
          <a:bodyPr wrap="square" rtlCol="0">
            <a:spAutoFit/>
          </a:bodyPr>
          <a:lstStyle/>
          <a:p>
            <a:pPr algn="ctr"/>
            <a:r>
              <a:rPr lang="es-ES" b="1" dirty="0"/>
              <a:t>SOI</a:t>
            </a:r>
          </a:p>
        </p:txBody>
      </p:sp>
    </p:spTree>
    <p:extLst>
      <p:ext uri="{BB962C8B-B14F-4D97-AF65-F5344CB8AC3E}">
        <p14:creationId xmlns:p14="http://schemas.microsoft.com/office/powerpoint/2010/main" val="28699633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F56BE25-EC0B-4C94-B233-66A1360E4571}"/>
              </a:ext>
            </a:extLst>
          </p:cNvPr>
          <p:cNvSpPr>
            <a:spLocks noGrp="1"/>
          </p:cNvSpPr>
          <p:nvPr>
            <p:ph type="title"/>
          </p:nvPr>
        </p:nvSpPr>
        <p:spPr/>
        <p:txBody>
          <a:bodyPr/>
          <a:lstStyle/>
          <a:p>
            <a:r>
              <a:rPr lang="en-US" dirty="0"/>
              <a:t>2. Repeat the LO.2. width dependence analysis, now sweeping in a 300nm - 1um range. </a:t>
            </a:r>
            <a:endParaRPr lang="es-ES" dirty="0"/>
          </a:p>
        </p:txBody>
      </p:sp>
      <p:sp>
        <p:nvSpPr>
          <p:cNvPr id="3" name="Marcador de texto 2">
            <a:extLst>
              <a:ext uri="{FF2B5EF4-FFF2-40B4-BE49-F238E27FC236}">
                <a16:creationId xmlns:a16="http://schemas.microsoft.com/office/drawing/2014/main" id="{C6F929DE-2303-44AD-9A2D-C4AD0C6A9616}"/>
              </a:ext>
            </a:extLst>
          </p:cNvPr>
          <p:cNvSpPr>
            <a:spLocks noGrp="1"/>
          </p:cNvSpPr>
          <p:nvPr>
            <p:ph type="body" idx="1"/>
          </p:nvPr>
        </p:nvSpPr>
        <p:spPr>
          <a:xfrm>
            <a:off x="609600" y="4419600"/>
            <a:ext cx="10972800" cy="1684020"/>
          </a:xfrm>
        </p:spPr>
        <p:txBody>
          <a:bodyPr/>
          <a:lstStyle/>
          <a:p>
            <a:endParaRPr lang="es-ES" dirty="0"/>
          </a:p>
        </p:txBody>
      </p:sp>
      <p:sp>
        <p:nvSpPr>
          <p:cNvPr id="4" name="Marcador de pie de página 3">
            <a:extLst>
              <a:ext uri="{FF2B5EF4-FFF2-40B4-BE49-F238E27FC236}">
                <a16:creationId xmlns:a16="http://schemas.microsoft.com/office/drawing/2014/main" id="{46A970DD-A35D-460C-A5FA-862864B2C6D2}"/>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F18F8E7C-FF2C-4C50-99EA-809558B785D9}"/>
              </a:ext>
            </a:extLst>
          </p:cNvPr>
          <p:cNvSpPr>
            <a:spLocks noGrp="1"/>
          </p:cNvSpPr>
          <p:nvPr>
            <p:ph type="sldNum" sz="quarter" idx="7"/>
          </p:nvPr>
        </p:nvSpPr>
        <p:spPr/>
        <p:txBody>
          <a:bodyPr/>
          <a:lstStyle/>
          <a:p>
            <a:fld id="{B6F15528-21DE-4FAA-801E-634DDDAF4B2B}" type="slidenum">
              <a:rPr lang="es-ES" smtClean="0"/>
              <a:t>11</a:t>
            </a:fld>
            <a:endParaRPr lang="es-ES"/>
          </a:p>
        </p:txBody>
      </p:sp>
      <p:pic>
        <p:nvPicPr>
          <p:cNvPr id="6" name="Imagen 5">
            <a:extLst>
              <a:ext uri="{FF2B5EF4-FFF2-40B4-BE49-F238E27FC236}">
                <a16:creationId xmlns:a16="http://schemas.microsoft.com/office/drawing/2014/main" id="{89EB951E-B859-42C0-846A-EE8B11364D3A}"/>
              </a:ext>
            </a:extLst>
          </p:cNvPr>
          <p:cNvPicPr>
            <a:picLocks noChangeAspect="1"/>
          </p:cNvPicPr>
          <p:nvPr/>
        </p:nvPicPr>
        <p:blipFill>
          <a:blip r:embed="rId2"/>
          <a:stretch>
            <a:fillRect/>
          </a:stretch>
        </p:blipFill>
        <p:spPr>
          <a:xfrm>
            <a:off x="819150" y="1247272"/>
            <a:ext cx="4978173" cy="2898008"/>
          </a:xfrm>
          <a:prstGeom prst="rect">
            <a:avLst/>
          </a:prstGeom>
        </p:spPr>
      </p:pic>
      <p:pic>
        <p:nvPicPr>
          <p:cNvPr id="10" name="Imagen 9">
            <a:extLst>
              <a:ext uri="{FF2B5EF4-FFF2-40B4-BE49-F238E27FC236}">
                <a16:creationId xmlns:a16="http://schemas.microsoft.com/office/drawing/2014/main" id="{4305327A-1C7C-4DD3-8B62-0A5C4E080F09}"/>
              </a:ext>
            </a:extLst>
          </p:cNvPr>
          <p:cNvPicPr>
            <a:picLocks noChangeAspect="1"/>
          </p:cNvPicPr>
          <p:nvPr/>
        </p:nvPicPr>
        <p:blipFill>
          <a:blip r:embed="rId3"/>
          <a:stretch>
            <a:fillRect/>
          </a:stretch>
        </p:blipFill>
        <p:spPr>
          <a:xfrm>
            <a:off x="6400800" y="1247272"/>
            <a:ext cx="4978173" cy="2898008"/>
          </a:xfrm>
          <a:prstGeom prst="rect">
            <a:avLst/>
          </a:prstGeom>
        </p:spPr>
      </p:pic>
      <p:sp>
        <p:nvSpPr>
          <p:cNvPr id="11" name="CuadroTexto 10">
            <a:extLst>
              <a:ext uri="{FF2B5EF4-FFF2-40B4-BE49-F238E27FC236}">
                <a16:creationId xmlns:a16="http://schemas.microsoft.com/office/drawing/2014/main" id="{19325A31-46A6-4398-81D6-885EBAD863FD}"/>
              </a:ext>
            </a:extLst>
          </p:cNvPr>
          <p:cNvSpPr txBox="1"/>
          <p:nvPr/>
        </p:nvSpPr>
        <p:spPr>
          <a:xfrm>
            <a:off x="2743200" y="764855"/>
            <a:ext cx="714943" cy="369332"/>
          </a:xfrm>
          <a:prstGeom prst="rect">
            <a:avLst/>
          </a:prstGeom>
          <a:noFill/>
        </p:spPr>
        <p:txBody>
          <a:bodyPr wrap="square" rtlCol="0">
            <a:spAutoFit/>
          </a:bodyPr>
          <a:lstStyle/>
          <a:p>
            <a:pPr algn="ctr"/>
            <a:r>
              <a:rPr lang="es-ES" b="1" dirty="0" err="1"/>
              <a:t>SiNx</a:t>
            </a:r>
            <a:endParaRPr lang="es-ES" b="1" dirty="0"/>
          </a:p>
        </p:txBody>
      </p:sp>
      <p:sp>
        <p:nvSpPr>
          <p:cNvPr id="12" name="CuadroTexto 11">
            <a:extLst>
              <a:ext uri="{FF2B5EF4-FFF2-40B4-BE49-F238E27FC236}">
                <a16:creationId xmlns:a16="http://schemas.microsoft.com/office/drawing/2014/main" id="{BF85ECDB-7570-49A2-8C15-330B84627778}"/>
              </a:ext>
            </a:extLst>
          </p:cNvPr>
          <p:cNvSpPr txBox="1"/>
          <p:nvPr/>
        </p:nvSpPr>
        <p:spPr>
          <a:xfrm>
            <a:off x="8532414" y="762500"/>
            <a:ext cx="714943" cy="369332"/>
          </a:xfrm>
          <a:prstGeom prst="rect">
            <a:avLst/>
          </a:prstGeom>
          <a:noFill/>
        </p:spPr>
        <p:txBody>
          <a:bodyPr wrap="square" rtlCol="0">
            <a:spAutoFit/>
          </a:bodyPr>
          <a:lstStyle/>
          <a:p>
            <a:pPr algn="ctr"/>
            <a:r>
              <a:rPr lang="es-ES" b="1" dirty="0"/>
              <a:t>SOI</a:t>
            </a:r>
          </a:p>
        </p:txBody>
      </p:sp>
    </p:spTree>
    <p:extLst>
      <p:ext uri="{BB962C8B-B14F-4D97-AF65-F5344CB8AC3E}">
        <p14:creationId xmlns:p14="http://schemas.microsoft.com/office/powerpoint/2010/main" val="1193837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65D5F59-2192-47F2-854B-1FA39D4DE720}"/>
              </a:ext>
            </a:extLst>
          </p:cNvPr>
          <p:cNvSpPr>
            <a:spLocks noGrp="1"/>
          </p:cNvSpPr>
          <p:nvPr>
            <p:ph type="title"/>
          </p:nvPr>
        </p:nvSpPr>
        <p:spPr/>
        <p:txBody>
          <a:bodyPr/>
          <a:lstStyle/>
          <a:p>
            <a:r>
              <a:rPr lang="en-US" dirty="0"/>
              <a:t>3. Find the safe radius for this technology. Consider sweeping the radius in a 5um to 30um range. </a:t>
            </a:r>
            <a:endParaRPr lang="es-ES" dirty="0"/>
          </a:p>
        </p:txBody>
      </p:sp>
      <p:sp>
        <p:nvSpPr>
          <p:cNvPr id="4" name="Marcador de pie de página 3">
            <a:extLst>
              <a:ext uri="{FF2B5EF4-FFF2-40B4-BE49-F238E27FC236}">
                <a16:creationId xmlns:a16="http://schemas.microsoft.com/office/drawing/2014/main" id="{31E7DA9E-A8F4-4743-BC2D-DED943DCC65E}"/>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654D4401-B60A-4558-A201-A505E182615F}"/>
              </a:ext>
            </a:extLst>
          </p:cNvPr>
          <p:cNvSpPr>
            <a:spLocks noGrp="1"/>
          </p:cNvSpPr>
          <p:nvPr>
            <p:ph type="sldNum" sz="quarter" idx="7"/>
          </p:nvPr>
        </p:nvSpPr>
        <p:spPr/>
        <p:txBody>
          <a:bodyPr/>
          <a:lstStyle/>
          <a:p>
            <a:fld id="{B6F15528-21DE-4FAA-801E-634DDDAF4B2B}" type="slidenum">
              <a:rPr lang="es-ES" smtClean="0"/>
              <a:t>12</a:t>
            </a:fld>
            <a:endParaRPr lang="es-ES"/>
          </a:p>
        </p:txBody>
      </p:sp>
      <p:pic>
        <p:nvPicPr>
          <p:cNvPr id="7" name="Imagen 6">
            <a:extLst>
              <a:ext uri="{FF2B5EF4-FFF2-40B4-BE49-F238E27FC236}">
                <a16:creationId xmlns:a16="http://schemas.microsoft.com/office/drawing/2014/main" id="{FF538905-6877-4030-A77A-17E028116AF7}"/>
              </a:ext>
            </a:extLst>
          </p:cNvPr>
          <p:cNvPicPr>
            <a:picLocks noChangeAspect="1"/>
          </p:cNvPicPr>
          <p:nvPr/>
        </p:nvPicPr>
        <p:blipFill>
          <a:blip r:embed="rId2"/>
          <a:stretch>
            <a:fillRect/>
          </a:stretch>
        </p:blipFill>
        <p:spPr>
          <a:xfrm>
            <a:off x="1528165" y="3705644"/>
            <a:ext cx="3087510" cy="2477632"/>
          </a:xfrm>
          <a:prstGeom prst="rect">
            <a:avLst/>
          </a:prstGeom>
        </p:spPr>
      </p:pic>
      <p:pic>
        <p:nvPicPr>
          <p:cNvPr id="9" name="Imagen 8">
            <a:extLst>
              <a:ext uri="{FF2B5EF4-FFF2-40B4-BE49-F238E27FC236}">
                <a16:creationId xmlns:a16="http://schemas.microsoft.com/office/drawing/2014/main" id="{7F54C6F4-1C5A-4C15-8070-96AFC1B1B47C}"/>
              </a:ext>
            </a:extLst>
          </p:cNvPr>
          <p:cNvPicPr>
            <a:picLocks noChangeAspect="1"/>
          </p:cNvPicPr>
          <p:nvPr/>
        </p:nvPicPr>
        <p:blipFill>
          <a:blip r:embed="rId3"/>
          <a:stretch>
            <a:fillRect/>
          </a:stretch>
        </p:blipFill>
        <p:spPr>
          <a:xfrm>
            <a:off x="4648200" y="3733800"/>
            <a:ext cx="3620911" cy="2431183"/>
          </a:xfrm>
          <a:prstGeom prst="rect">
            <a:avLst/>
          </a:prstGeom>
        </p:spPr>
      </p:pic>
      <p:pic>
        <p:nvPicPr>
          <p:cNvPr id="11" name="Imagen 10">
            <a:extLst>
              <a:ext uri="{FF2B5EF4-FFF2-40B4-BE49-F238E27FC236}">
                <a16:creationId xmlns:a16="http://schemas.microsoft.com/office/drawing/2014/main" id="{23E6A83C-2131-4475-8886-B7A49F0D7BC1}"/>
              </a:ext>
            </a:extLst>
          </p:cNvPr>
          <p:cNvPicPr>
            <a:picLocks noChangeAspect="1"/>
          </p:cNvPicPr>
          <p:nvPr/>
        </p:nvPicPr>
        <p:blipFill>
          <a:blip r:embed="rId4"/>
          <a:stretch>
            <a:fillRect/>
          </a:stretch>
        </p:blipFill>
        <p:spPr>
          <a:xfrm>
            <a:off x="8301636" y="3734602"/>
            <a:ext cx="3620911" cy="2448674"/>
          </a:xfrm>
          <a:prstGeom prst="rect">
            <a:avLst/>
          </a:prstGeom>
        </p:spPr>
      </p:pic>
      <p:pic>
        <p:nvPicPr>
          <p:cNvPr id="12" name="Imagen 11">
            <a:extLst>
              <a:ext uri="{FF2B5EF4-FFF2-40B4-BE49-F238E27FC236}">
                <a16:creationId xmlns:a16="http://schemas.microsoft.com/office/drawing/2014/main" id="{93DBABFF-2D52-40A9-9786-651F806B9608}"/>
              </a:ext>
            </a:extLst>
          </p:cNvPr>
          <p:cNvPicPr>
            <a:picLocks noChangeAspect="1"/>
          </p:cNvPicPr>
          <p:nvPr/>
        </p:nvPicPr>
        <p:blipFill>
          <a:blip r:embed="rId5"/>
          <a:stretch>
            <a:fillRect/>
          </a:stretch>
        </p:blipFill>
        <p:spPr>
          <a:xfrm>
            <a:off x="1528165" y="1016443"/>
            <a:ext cx="3077718" cy="2431183"/>
          </a:xfrm>
          <a:prstGeom prst="rect">
            <a:avLst/>
          </a:prstGeom>
        </p:spPr>
      </p:pic>
      <p:pic>
        <p:nvPicPr>
          <p:cNvPr id="13" name="Imagen 12">
            <a:extLst>
              <a:ext uri="{FF2B5EF4-FFF2-40B4-BE49-F238E27FC236}">
                <a16:creationId xmlns:a16="http://schemas.microsoft.com/office/drawing/2014/main" id="{EFF9D476-B78E-4B5D-8DB8-5F421778A9F1}"/>
              </a:ext>
            </a:extLst>
          </p:cNvPr>
          <p:cNvPicPr>
            <a:picLocks noChangeAspect="1"/>
          </p:cNvPicPr>
          <p:nvPr/>
        </p:nvPicPr>
        <p:blipFill>
          <a:blip r:embed="rId6"/>
          <a:stretch>
            <a:fillRect/>
          </a:stretch>
        </p:blipFill>
        <p:spPr>
          <a:xfrm>
            <a:off x="4648199" y="1016443"/>
            <a:ext cx="3620911" cy="2431183"/>
          </a:xfrm>
          <a:prstGeom prst="rect">
            <a:avLst/>
          </a:prstGeom>
        </p:spPr>
      </p:pic>
      <p:pic>
        <p:nvPicPr>
          <p:cNvPr id="14" name="Imagen 13">
            <a:extLst>
              <a:ext uri="{FF2B5EF4-FFF2-40B4-BE49-F238E27FC236}">
                <a16:creationId xmlns:a16="http://schemas.microsoft.com/office/drawing/2014/main" id="{5B9354A5-3DE2-4B10-8DCB-2EA27FC5DC52}"/>
              </a:ext>
            </a:extLst>
          </p:cNvPr>
          <p:cNvPicPr>
            <a:picLocks noChangeAspect="1"/>
          </p:cNvPicPr>
          <p:nvPr/>
        </p:nvPicPr>
        <p:blipFill>
          <a:blip r:embed="rId7"/>
          <a:stretch>
            <a:fillRect/>
          </a:stretch>
        </p:blipFill>
        <p:spPr>
          <a:xfrm>
            <a:off x="8269111" y="998952"/>
            <a:ext cx="3620912" cy="2448674"/>
          </a:xfrm>
          <a:prstGeom prst="rect">
            <a:avLst/>
          </a:prstGeom>
        </p:spPr>
      </p:pic>
      <p:sp>
        <p:nvSpPr>
          <p:cNvPr id="15" name="CuadroTexto 14">
            <a:extLst>
              <a:ext uri="{FF2B5EF4-FFF2-40B4-BE49-F238E27FC236}">
                <a16:creationId xmlns:a16="http://schemas.microsoft.com/office/drawing/2014/main" id="{496C4321-F89F-4689-B9FC-496891F48508}"/>
              </a:ext>
            </a:extLst>
          </p:cNvPr>
          <p:cNvSpPr txBox="1"/>
          <p:nvPr/>
        </p:nvSpPr>
        <p:spPr>
          <a:xfrm>
            <a:off x="565150" y="1964898"/>
            <a:ext cx="714943" cy="369332"/>
          </a:xfrm>
          <a:prstGeom prst="rect">
            <a:avLst/>
          </a:prstGeom>
          <a:noFill/>
        </p:spPr>
        <p:txBody>
          <a:bodyPr wrap="square" rtlCol="0">
            <a:spAutoFit/>
          </a:bodyPr>
          <a:lstStyle/>
          <a:p>
            <a:pPr algn="ctr"/>
            <a:r>
              <a:rPr lang="es-ES" b="1" dirty="0" err="1"/>
              <a:t>SiNx</a:t>
            </a:r>
            <a:endParaRPr lang="es-ES" b="1" dirty="0"/>
          </a:p>
        </p:txBody>
      </p:sp>
      <p:sp>
        <p:nvSpPr>
          <p:cNvPr id="16" name="CuadroTexto 15">
            <a:extLst>
              <a:ext uri="{FF2B5EF4-FFF2-40B4-BE49-F238E27FC236}">
                <a16:creationId xmlns:a16="http://schemas.microsoft.com/office/drawing/2014/main" id="{2F368033-4F13-4EAA-8779-45705D181695}"/>
              </a:ext>
            </a:extLst>
          </p:cNvPr>
          <p:cNvSpPr txBox="1"/>
          <p:nvPr/>
        </p:nvSpPr>
        <p:spPr>
          <a:xfrm>
            <a:off x="590550" y="4637356"/>
            <a:ext cx="714943" cy="369332"/>
          </a:xfrm>
          <a:prstGeom prst="rect">
            <a:avLst/>
          </a:prstGeom>
          <a:noFill/>
        </p:spPr>
        <p:txBody>
          <a:bodyPr wrap="square" rtlCol="0">
            <a:spAutoFit/>
          </a:bodyPr>
          <a:lstStyle/>
          <a:p>
            <a:pPr algn="ctr"/>
            <a:r>
              <a:rPr lang="es-ES" b="1" dirty="0"/>
              <a:t>SOI</a:t>
            </a:r>
          </a:p>
        </p:txBody>
      </p:sp>
    </p:spTree>
    <p:extLst>
      <p:ext uri="{BB962C8B-B14F-4D97-AF65-F5344CB8AC3E}">
        <p14:creationId xmlns:p14="http://schemas.microsoft.com/office/powerpoint/2010/main" val="14234897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1F146B-C962-4952-BDA4-999B04F9D5A4}"/>
              </a:ext>
            </a:extLst>
          </p:cNvPr>
          <p:cNvSpPr>
            <a:spLocks noGrp="1"/>
          </p:cNvSpPr>
          <p:nvPr>
            <p:ph type="title"/>
          </p:nvPr>
        </p:nvSpPr>
        <p:spPr/>
        <p:txBody>
          <a:bodyPr/>
          <a:lstStyle/>
          <a:p>
            <a:r>
              <a:rPr lang="es-ES" dirty="0"/>
              <a:t>4. Compare </a:t>
            </a:r>
            <a:r>
              <a:rPr lang="es-ES" dirty="0" err="1"/>
              <a:t>the</a:t>
            </a:r>
            <a:r>
              <a:rPr lang="es-ES" dirty="0"/>
              <a:t> </a:t>
            </a:r>
            <a:r>
              <a:rPr lang="es-ES" dirty="0" err="1"/>
              <a:t>SiNx</a:t>
            </a:r>
            <a:r>
              <a:rPr lang="es-ES" dirty="0"/>
              <a:t> and SOI </a:t>
            </a:r>
            <a:r>
              <a:rPr lang="es-ES" dirty="0" err="1"/>
              <a:t>technologies</a:t>
            </a:r>
            <a:endParaRPr lang="es-ES" dirty="0"/>
          </a:p>
        </p:txBody>
      </p:sp>
      <mc:AlternateContent xmlns:mc="http://schemas.openxmlformats.org/markup-compatibility/2006">
        <mc:Choice xmlns:a14="http://schemas.microsoft.com/office/drawing/2010/main" Requires="a14">
          <p:sp>
            <p:nvSpPr>
              <p:cNvPr id="3" name="Marcador de texto 2">
                <a:extLst>
                  <a:ext uri="{FF2B5EF4-FFF2-40B4-BE49-F238E27FC236}">
                    <a16:creationId xmlns:a16="http://schemas.microsoft.com/office/drawing/2014/main" id="{1556D432-6169-4784-905C-38807A0FED9D}"/>
                  </a:ext>
                </a:extLst>
              </p:cNvPr>
              <p:cNvSpPr>
                <a:spLocks noGrp="1"/>
              </p:cNvSpPr>
              <p:nvPr>
                <p:ph type="body" idx="1"/>
              </p:nvPr>
            </p:nvSpPr>
            <p:spPr>
              <a:xfrm>
                <a:off x="609600" y="762000"/>
                <a:ext cx="10972800" cy="4476418"/>
              </a:xfrm>
            </p:spPr>
            <p:txBody>
              <a:bodyPr/>
              <a:lstStyle/>
              <a:p>
                <a:pPr marL="228600" indent="-228600">
                  <a:buAutoNum type="arabicPeriod"/>
                </a:pPr>
                <a:r>
                  <a:rPr lang="es-ES" sz="1200" dirty="0"/>
                  <a:t>Confinamiento y dimensiones (</a:t>
                </a:r>
                <a14:m>
                  <m:oMath xmlns:m="http://schemas.openxmlformats.org/officeDocument/2006/math">
                    <m:sSub>
                      <m:sSubPr>
                        <m:ctrlPr>
                          <a:rPr lang="es-ES" sz="1200" i="1" dirty="0" smtClean="0">
                            <a:latin typeface="Cambria Math" panose="02040503050406030204" pitchFamily="18" charset="0"/>
                          </a:rPr>
                        </m:ctrlPr>
                      </m:sSubPr>
                      <m:e>
                        <m:r>
                          <a:rPr lang="es-ES" sz="1200" i="1" dirty="0" smtClean="0">
                            <a:latin typeface="Cambria Math" panose="02040503050406030204" pitchFamily="18" charset="0"/>
                          </a:rPr>
                          <m:t>𝑛</m:t>
                        </m:r>
                      </m:e>
                      <m:sub>
                        <m:r>
                          <a:rPr lang="es-ES" sz="1200" b="0" i="1" dirty="0" smtClean="0">
                            <a:latin typeface="Cambria Math" panose="02040503050406030204" pitchFamily="18" charset="0"/>
                          </a:rPr>
                          <m:t>𝑒𝑓𝑓</m:t>
                        </m:r>
                      </m:sub>
                    </m:sSub>
                  </m:oMath>
                </a14:m>
                <a:r>
                  <a:rPr lang="es-ES" sz="1200" i="1" dirty="0">
                    <a:latin typeface="Cambria Math" panose="02040503050406030204" pitchFamily="18" charset="0"/>
                  </a:rPr>
                  <a:t> </a:t>
                </a:r>
                <a:r>
                  <a:rPr lang="es-ES" sz="1200" dirty="0"/>
                  <a:t>vs </a:t>
                </a:r>
                <a:r>
                  <a:rPr lang="es-ES" sz="1200" dirty="0" err="1"/>
                  <a:t>width</a:t>
                </a:r>
                <a:r>
                  <a:rPr lang="es-ES" sz="1200" dirty="0"/>
                  <a:t>):</a:t>
                </a:r>
              </a:p>
              <a:p>
                <a:endParaRPr lang="es-ES" sz="1200" dirty="0"/>
              </a:p>
              <a:p>
                <a:pPr marL="171450" indent="-171450">
                  <a:buFont typeface="Arial" panose="020B0604020202020204" pitchFamily="34" charset="0"/>
                  <a:buChar char="•"/>
                </a:pPr>
                <a:r>
                  <a:rPr lang="es-ES" sz="1200" dirty="0"/>
                  <a:t>SOI: Debido al alto contraste de índice de refracción entre el silicio (n </a:t>
                </a:r>
                <a14:m>
                  <m:oMath xmlns:m="http://schemas.openxmlformats.org/officeDocument/2006/math">
                    <m:r>
                      <a:rPr lang="es-ES" sz="1200" i="1">
                        <a:latin typeface="Cambria Math" panose="02040503050406030204" pitchFamily="18" charset="0"/>
                        <a:ea typeface="Cambria Math" panose="02040503050406030204" pitchFamily="18" charset="0"/>
                      </a:rPr>
                      <m:t>~</m:t>
                    </m:r>
                  </m:oMath>
                </a14:m>
                <a:r>
                  <a:rPr lang="es-ES" sz="1200" dirty="0"/>
                  <a:t>3.47) y el </a:t>
                </a:r>
                <a:r>
                  <a:rPr lang="es-ES" sz="1200" dirty="0" err="1"/>
                  <a:t>cladding</a:t>
                </a:r>
                <a:r>
                  <a:rPr lang="es-ES" sz="1200" dirty="0"/>
                  <a:t> (n </a:t>
                </a:r>
                <a14:m>
                  <m:oMath xmlns:m="http://schemas.openxmlformats.org/officeDocument/2006/math">
                    <m:r>
                      <a:rPr lang="es-ES" sz="1200" i="1" smtClean="0">
                        <a:latin typeface="Cambria Math" panose="02040503050406030204" pitchFamily="18" charset="0"/>
                        <a:ea typeface="Cambria Math" panose="02040503050406030204" pitchFamily="18" charset="0"/>
                      </a:rPr>
                      <m:t>~</m:t>
                    </m:r>
                  </m:oMath>
                </a14:m>
                <a:r>
                  <a:rPr lang="es-ES" sz="1200" dirty="0"/>
                  <a:t>1.44), las guías SOI presentan un índice efectivo mucho mayor (</a:t>
                </a:r>
                <a14:m>
                  <m:oMath xmlns:m="http://schemas.openxmlformats.org/officeDocument/2006/math">
                    <m:sSub>
                      <m:sSubPr>
                        <m:ctrlPr>
                          <a:rPr lang="es-ES" sz="1200" i="1" dirty="0" smtClean="0">
                            <a:latin typeface="Cambria Math" panose="02040503050406030204" pitchFamily="18" charset="0"/>
                          </a:rPr>
                        </m:ctrlPr>
                      </m:sSubPr>
                      <m:e>
                        <m:r>
                          <a:rPr lang="es-ES" sz="1200" i="1" dirty="0" smtClean="0">
                            <a:latin typeface="Cambria Math" panose="02040503050406030204" pitchFamily="18" charset="0"/>
                          </a:rPr>
                          <m:t>𝑛</m:t>
                        </m:r>
                      </m:e>
                      <m:sub>
                        <m:r>
                          <a:rPr lang="es-ES" sz="1200" b="0" i="1" dirty="0" smtClean="0">
                            <a:latin typeface="Cambria Math" panose="02040503050406030204" pitchFamily="18" charset="0"/>
                          </a:rPr>
                          <m:t>𝑒𝑓𝑓</m:t>
                        </m:r>
                      </m:sub>
                    </m:sSub>
                    <m:r>
                      <a:rPr lang="es-ES" sz="1200" i="1" dirty="0" smtClean="0">
                        <a:latin typeface="Cambria Math" panose="02040503050406030204" pitchFamily="18" charset="0"/>
                      </a:rPr>
                      <m:t> </m:t>
                    </m:r>
                  </m:oMath>
                </a14:m>
                <a:r>
                  <a:rPr lang="es-ES" sz="1200" dirty="0"/>
                  <a:t>&gt; 2.4 para TE0) incluso para anchos reducidos. Esto permite un confinamiento de la luz muy fuerte en dimensiones nanométricas.</a:t>
                </a:r>
              </a:p>
              <a:p>
                <a:endParaRPr lang="es-ES" sz="1200" dirty="0"/>
              </a:p>
              <a:p>
                <a:pPr marL="171450" indent="-171450">
                  <a:buFont typeface="Arial" panose="020B0604020202020204" pitchFamily="34" charset="0"/>
                  <a:buChar char="•"/>
                </a:pPr>
                <a:r>
                  <a:rPr lang="es-ES" sz="1200" dirty="0" err="1"/>
                  <a:t>SiNx</a:t>
                </a:r>
                <a:r>
                  <a:rPr lang="es-ES" sz="1200" dirty="0"/>
                  <a:t>: El contraste es moderado (núcleo n </a:t>
                </a:r>
                <a14:m>
                  <m:oMath xmlns:m="http://schemas.openxmlformats.org/officeDocument/2006/math">
                    <m:r>
                      <a:rPr lang="es-ES" sz="1200" i="1">
                        <a:latin typeface="Cambria Math" panose="02040503050406030204" pitchFamily="18" charset="0"/>
                        <a:ea typeface="Cambria Math" panose="02040503050406030204" pitchFamily="18" charset="0"/>
                      </a:rPr>
                      <m:t>~</m:t>
                    </m:r>
                  </m:oMath>
                </a14:m>
                <a:r>
                  <a:rPr lang="es-ES" sz="1200" dirty="0"/>
                  <a:t>2.0), resultando en índices efectivos menores (</a:t>
                </a:r>
                <a14:m>
                  <m:oMath xmlns:m="http://schemas.openxmlformats.org/officeDocument/2006/math">
                    <m:sSub>
                      <m:sSubPr>
                        <m:ctrlPr>
                          <a:rPr lang="es-ES" sz="1200" i="1" dirty="0" smtClean="0">
                            <a:latin typeface="Cambria Math" panose="02040503050406030204" pitchFamily="18" charset="0"/>
                          </a:rPr>
                        </m:ctrlPr>
                      </m:sSubPr>
                      <m:e>
                        <m:r>
                          <a:rPr lang="es-ES" sz="1200" i="1" dirty="0" smtClean="0">
                            <a:latin typeface="Cambria Math" panose="02040503050406030204" pitchFamily="18" charset="0"/>
                          </a:rPr>
                          <m:t>𝑛</m:t>
                        </m:r>
                      </m:e>
                      <m:sub>
                        <m:r>
                          <a:rPr lang="es-ES" sz="1200" b="0" i="1" dirty="0" smtClean="0">
                            <a:latin typeface="Cambria Math" panose="02040503050406030204" pitchFamily="18" charset="0"/>
                          </a:rPr>
                          <m:t>𝑒𝑓𝑓</m:t>
                        </m:r>
                      </m:sub>
                    </m:sSub>
                    <m:r>
                      <a:rPr lang="es-ES" sz="1200" b="0" i="1" dirty="0" smtClean="0">
                        <a:latin typeface="Cambria Math" panose="02040503050406030204" pitchFamily="18" charset="0"/>
                      </a:rPr>
                      <m:t> </m:t>
                    </m:r>
                    <m:r>
                      <a:rPr lang="es-ES" sz="1200" i="1">
                        <a:latin typeface="Cambria Math" panose="02040503050406030204" pitchFamily="18" charset="0"/>
                        <a:ea typeface="Cambria Math" panose="02040503050406030204" pitchFamily="18" charset="0"/>
                      </a:rPr>
                      <m:t>~ </m:t>
                    </m:r>
                  </m:oMath>
                </a14:m>
                <a:r>
                  <a:rPr lang="es-ES" sz="1200" dirty="0"/>
                  <a:t>1.6). Esto requiere guías más anchas para confinar bien la luz.</a:t>
                </a:r>
              </a:p>
              <a:p>
                <a:endParaRPr lang="es-ES" sz="1200" dirty="0"/>
              </a:p>
              <a:p>
                <a:r>
                  <a:rPr lang="es-ES" sz="1200" dirty="0"/>
                  <a:t>2. Radio de curvatura y densidad de integración:</a:t>
                </a:r>
              </a:p>
              <a:p>
                <a:endParaRPr lang="es-ES" sz="1200" dirty="0"/>
              </a:p>
              <a:p>
                <a:pPr marL="171450" indent="-171450">
                  <a:buFont typeface="Arial" panose="020B0604020202020204" pitchFamily="34" charset="0"/>
                  <a:buChar char="•"/>
                </a:pPr>
                <a:r>
                  <a:rPr lang="es-ES" sz="1200" dirty="0"/>
                  <a:t>SOI: Gracias al fuerte confinamiento, el radio seguro es extremadamente pequeño (</a:t>
                </a:r>
                <a14:m>
                  <m:oMath xmlns:m="http://schemas.openxmlformats.org/officeDocument/2006/math">
                    <m:r>
                      <a:rPr lang="es-ES" sz="1200" i="1">
                        <a:latin typeface="Cambria Math" panose="02040503050406030204" pitchFamily="18" charset="0"/>
                        <a:ea typeface="Cambria Math" panose="02040503050406030204" pitchFamily="18" charset="0"/>
                      </a:rPr>
                      <m:t>~</m:t>
                    </m:r>
                  </m:oMath>
                </a14:m>
                <a:r>
                  <a:rPr lang="es-ES" sz="1200" dirty="0"/>
                  <a:t> 5 </a:t>
                </a:r>
                <a14:m>
                  <m:oMath xmlns:m="http://schemas.openxmlformats.org/officeDocument/2006/math">
                    <m:r>
                      <a:rPr lang="es-ES" sz="1200" i="1">
                        <a:latin typeface="Cambria Math" panose="02040503050406030204" pitchFamily="18" charset="0"/>
                        <a:ea typeface="Cambria Math" panose="02040503050406030204" pitchFamily="18" charset="0"/>
                      </a:rPr>
                      <m:t>𝜇</m:t>
                    </m:r>
                    <m:r>
                      <a:rPr lang="es-ES" sz="1200" i="1">
                        <a:latin typeface="Cambria Math" panose="02040503050406030204" pitchFamily="18" charset="0"/>
                        <a:ea typeface="Cambria Math" panose="02040503050406030204" pitchFamily="18" charset="0"/>
                      </a:rPr>
                      <m:t>𝑚</m:t>
                    </m:r>
                    <m:r>
                      <a:rPr lang="es-ES" sz="1200" i="1">
                        <a:latin typeface="Cambria Math" panose="02040503050406030204" pitchFamily="18" charset="0"/>
                        <a:ea typeface="Cambria Math" panose="02040503050406030204" pitchFamily="18" charset="0"/>
                      </a:rPr>
                      <m:t> </m:t>
                    </m:r>
                  </m:oMath>
                </a14:m>
                <a:r>
                  <a:rPr lang="es-ES" sz="1200" dirty="0"/>
                  <a:t>). Como se ve en las gráficas, a 5 </a:t>
                </a:r>
                <a14:m>
                  <m:oMath xmlns:m="http://schemas.openxmlformats.org/officeDocument/2006/math">
                    <m:r>
                      <a:rPr lang="es-ES" sz="1200" i="1" smtClean="0">
                        <a:latin typeface="Cambria Math" panose="02040503050406030204" pitchFamily="18" charset="0"/>
                        <a:ea typeface="Cambria Math" panose="02040503050406030204" pitchFamily="18" charset="0"/>
                      </a:rPr>
                      <m:t>𝜇</m:t>
                    </m:r>
                    <m:r>
                      <a:rPr lang="es-ES" sz="1200" b="0" i="1" smtClean="0">
                        <a:latin typeface="Cambria Math" panose="02040503050406030204" pitchFamily="18" charset="0"/>
                        <a:ea typeface="Cambria Math" panose="02040503050406030204" pitchFamily="18" charset="0"/>
                      </a:rPr>
                      <m:t>𝑚</m:t>
                    </m:r>
                  </m:oMath>
                </a14:m>
                <a:r>
                  <a:rPr lang="es-ES" sz="1200" dirty="0"/>
                  <a:t> las pérdidas para TE son casi nulas (&lt; 0.01 dB). Esto permite una muy alta densidad de integración, ideal para circuitos fotónicos compactos.</a:t>
                </a:r>
              </a:p>
              <a:p>
                <a:endParaRPr lang="es-ES" sz="1200" dirty="0"/>
              </a:p>
              <a:p>
                <a:pPr marL="171450" indent="-171450">
                  <a:buFont typeface="Arial" panose="020B0604020202020204" pitchFamily="34" charset="0"/>
                  <a:buChar char="•"/>
                </a:pPr>
                <a:r>
                  <a:rPr lang="es-ES" sz="1200" dirty="0" err="1"/>
                  <a:t>SiNx</a:t>
                </a:r>
                <a:r>
                  <a:rPr lang="es-ES" sz="1200" dirty="0"/>
                  <a:t>: Requiere radios mucho mayores. El radio seguro determinado fue de 50 </a:t>
                </a:r>
                <a14:m>
                  <m:oMath xmlns:m="http://schemas.openxmlformats.org/officeDocument/2006/math">
                    <m:r>
                      <a:rPr lang="es-ES" sz="1200" i="1" smtClean="0">
                        <a:latin typeface="Cambria Math" panose="02040503050406030204" pitchFamily="18" charset="0"/>
                        <a:ea typeface="Cambria Math" panose="02040503050406030204" pitchFamily="18" charset="0"/>
                      </a:rPr>
                      <m:t>𝜇</m:t>
                    </m:r>
                    <m:r>
                      <a:rPr lang="es-ES" sz="1200" b="0" i="1" smtClean="0">
                        <a:latin typeface="Cambria Math" panose="02040503050406030204" pitchFamily="18" charset="0"/>
                        <a:ea typeface="Cambria Math" panose="02040503050406030204" pitchFamily="18" charset="0"/>
                      </a:rPr>
                      <m:t>𝑚</m:t>
                    </m:r>
                  </m:oMath>
                </a14:m>
                <a:r>
                  <a:rPr lang="es-ES" sz="1200" dirty="0"/>
                  <a:t>. Aunque las pérdidas de propagación son bajas, el </a:t>
                </a:r>
                <a:r>
                  <a:rPr lang="es-ES" sz="1200" dirty="0" err="1"/>
                  <a:t>footprint</a:t>
                </a:r>
                <a:r>
                  <a:rPr lang="es-ES" sz="1200" dirty="0"/>
                  <a:t> de los componentes curvos es unas 10 veces mayor que en SOI.</a:t>
                </a:r>
              </a:p>
              <a:p>
                <a:pPr marL="171450" indent="-171450">
                  <a:buFont typeface="Arial" panose="020B0604020202020204" pitchFamily="34" charset="0"/>
                  <a:buChar char="•"/>
                </a:pPr>
                <a:endParaRPr lang="es-ES" sz="1200" dirty="0"/>
              </a:p>
              <a:p>
                <a:r>
                  <a:rPr lang="es-ES" sz="1200" dirty="0"/>
                  <a:t>3. Sensibilidad a la Polarización:</a:t>
                </a:r>
              </a:p>
              <a:p>
                <a:endParaRPr lang="es-ES" sz="1200" dirty="0"/>
              </a:p>
              <a:p>
                <a:r>
                  <a:rPr lang="es-ES" sz="1200" dirty="0"/>
                  <a:t>Ambas tecnologías muestran que el modo TM es el factor limitante en curvas cerradas. En SOI, el modo TM falla por debajo de 10 </a:t>
                </a:r>
                <a14:m>
                  <m:oMath xmlns:m="http://schemas.openxmlformats.org/officeDocument/2006/math">
                    <m:r>
                      <a:rPr lang="es-ES" sz="1200" i="1">
                        <a:latin typeface="Cambria Math" panose="02040503050406030204" pitchFamily="18" charset="0"/>
                        <a:ea typeface="Cambria Math" panose="02040503050406030204" pitchFamily="18" charset="0"/>
                      </a:rPr>
                      <m:t>𝜇</m:t>
                    </m:r>
                    <m:r>
                      <a:rPr lang="es-ES" sz="1200" i="1">
                        <a:latin typeface="Cambria Math" panose="02040503050406030204" pitchFamily="18" charset="0"/>
                        <a:ea typeface="Cambria Math" panose="02040503050406030204" pitchFamily="18" charset="0"/>
                      </a:rPr>
                      <m:t>𝑚</m:t>
                    </m:r>
                  </m:oMath>
                </a14:m>
                <a:r>
                  <a:rPr lang="es-ES" sz="1200" dirty="0"/>
                  <a:t> , mientras que en </a:t>
                </a:r>
                <a:r>
                  <a:rPr lang="es-ES" sz="1200" dirty="0" err="1"/>
                  <a:t>SiNx</a:t>
                </a:r>
                <a:r>
                  <a:rPr lang="es-ES" sz="1200" dirty="0"/>
                  <a:t> falla por debajo de 50 </a:t>
                </a:r>
                <a14:m>
                  <m:oMath xmlns:m="http://schemas.openxmlformats.org/officeDocument/2006/math">
                    <m:r>
                      <a:rPr lang="es-ES" sz="1200" i="1" smtClean="0">
                        <a:latin typeface="Cambria Math" panose="02040503050406030204" pitchFamily="18" charset="0"/>
                        <a:ea typeface="Cambria Math" panose="02040503050406030204" pitchFamily="18" charset="0"/>
                      </a:rPr>
                      <m:t>𝜇</m:t>
                    </m:r>
                    <m:r>
                      <a:rPr lang="es-ES" sz="1200" b="0" i="1" smtClean="0">
                        <a:latin typeface="Cambria Math" panose="02040503050406030204" pitchFamily="18" charset="0"/>
                        <a:ea typeface="Cambria Math" panose="02040503050406030204" pitchFamily="18" charset="0"/>
                      </a:rPr>
                      <m:t>𝑚</m:t>
                    </m:r>
                  </m:oMath>
                </a14:m>
                <a:r>
                  <a:rPr lang="es-ES" sz="1200" dirty="0"/>
                  <a:t>.</a:t>
                </a:r>
              </a:p>
              <a:p>
                <a:endParaRPr lang="es-ES" sz="1200" dirty="0"/>
              </a:p>
              <a:p>
                <a:r>
                  <a:rPr lang="es-ES" sz="1200" dirty="0"/>
                  <a:t>Conclusión:</a:t>
                </a:r>
              </a:p>
              <a:p>
                <a:endParaRPr lang="es-ES" sz="1200" dirty="0"/>
              </a:p>
              <a:p>
                <a:r>
                  <a:rPr lang="es-ES" sz="1200" dirty="0"/>
                  <a:t>SOI es la tecnología de elección para alta densidad de integración y componentes compactos debido a sus radios de curvatura mínimos (&lt; 5-10 </a:t>
                </a:r>
                <a14:m>
                  <m:oMath xmlns:m="http://schemas.openxmlformats.org/officeDocument/2006/math">
                    <m:r>
                      <a:rPr lang="es-ES" sz="1200" i="1">
                        <a:latin typeface="Cambria Math" panose="02040503050406030204" pitchFamily="18" charset="0"/>
                        <a:ea typeface="Cambria Math" panose="02040503050406030204" pitchFamily="18" charset="0"/>
                      </a:rPr>
                      <m:t>𝜇</m:t>
                    </m:r>
                    <m:r>
                      <a:rPr lang="es-ES" sz="1200" i="1">
                        <a:latin typeface="Cambria Math" panose="02040503050406030204" pitchFamily="18" charset="0"/>
                        <a:ea typeface="Cambria Math" panose="02040503050406030204" pitchFamily="18" charset="0"/>
                      </a:rPr>
                      <m:t>𝑚</m:t>
                    </m:r>
                  </m:oMath>
                </a14:m>
                <a:r>
                  <a:rPr lang="es-ES" sz="1200" dirty="0"/>
                  <a:t>). </a:t>
                </a:r>
                <a:r>
                  <a:rPr lang="es-ES" sz="1200" dirty="0" err="1"/>
                  <a:t>SiNx</a:t>
                </a:r>
                <a:r>
                  <a:rPr lang="es-ES" sz="1200" dirty="0"/>
                  <a:t>, aunque requiere mayor espacio (R </a:t>
                </a:r>
                <a14:m>
                  <m:oMath xmlns:m="http://schemas.openxmlformats.org/officeDocument/2006/math">
                    <m:r>
                      <a:rPr lang="es-ES" sz="1200" i="1" smtClean="0">
                        <a:latin typeface="Cambria Math" panose="02040503050406030204" pitchFamily="18" charset="0"/>
                        <a:ea typeface="Cambria Math" panose="02040503050406030204" pitchFamily="18" charset="0"/>
                      </a:rPr>
                      <m:t>~</m:t>
                    </m:r>
                  </m:oMath>
                </a14:m>
                <a:r>
                  <a:rPr lang="es-ES" sz="1200" dirty="0"/>
                  <a:t>50 </a:t>
                </a:r>
                <a14:m>
                  <m:oMath xmlns:m="http://schemas.openxmlformats.org/officeDocument/2006/math">
                    <m:r>
                      <a:rPr lang="es-ES" sz="1200" i="1">
                        <a:latin typeface="Cambria Math" panose="02040503050406030204" pitchFamily="18" charset="0"/>
                        <a:ea typeface="Cambria Math" panose="02040503050406030204" pitchFamily="18" charset="0"/>
                      </a:rPr>
                      <m:t>𝜇</m:t>
                    </m:r>
                    <m:r>
                      <a:rPr lang="es-ES" sz="1200" i="1">
                        <a:latin typeface="Cambria Math" panose="02040503050406030204" pitchFamily="18" charset="0"/>
                        <a:ea typeface="Cambria Math" panose="02040503050406030204" pitchFamily="18" charset="0"/>
                      </a:rPr>
                      <m:t>𝑚</m:t>
                    </m:r>
                  </m:oMath>
                </a14:m>
                <a:r>
                  <a:rPr lang="es-ES" sz="1200" dirty="0"/>
                  <a:t>), suele ofrecer menores pérdidas por propagación y es menos sensible a la rugosidad de las paredes debido a su menor contraste de índice.</a:t>
                </a:r>
              </a:p>
            </p:txBody>
          </p:sp>
        </mc:Choice>
        <mc:Fallback>
          <p:sp>
            <p:nvSpPr>
              <p:cNvPr id="3" name="Marcador de texto 2">
                <a:extLst>
                  <a:ext uri="{FF2B5EF4-FFF2-40B4-BE49-F238E27FC236}">
                    <a16:creationId xmlns:a16="http://schemas.microsoft.com/office/drawing/2014/main" id="{1556D432-6169-4784-905C-38807A0FED9D}"/>
                  </a:ext>
                </a:extLst>
              </p:cNvPr>
              <p:cNvSpPr>
                <a:spLocks noGrp="1" noRot="1" noChangeAspect="1" noMove="1" noResize="1" noEditPoints="1" noAdjustHandles="1" noChangeArrowheads="1" noChangeShapeType="1" noTextEdit="1"/>
              </p:cNvSpPr>
              <p:nvPr>
                <p:ph type="body" idx="1"/>
              </p:nvPr>
            </p:nvSpPr>
            <p:spPr>
              <a:xfrm>
                <a:off x="609600" y="762000"/>
                <a:ext cx="10972800" cy="4476418"/>
              </a:xfrm>
              <a:blipFill>
                <a:blip r:embed="rId2"/>
                <a:stretch>
                  <a:fillRect l="-889" t="-1090" r="-500" b="-1226"/>
                </a:stretch>
              </a:blipFill>
            </p:spPr>
            <p:txBody>
              <a:bodyPr/>
              <a:lstStyle/>
              <a:p>
                <a:r>
                  <a:rPr lang="es-ES">
                    <a:noFill/>
                  </a:rPr>
                  <a:t> </a:t>
                </a:r>
              </a:p>
            </p:txBody>
          </p:sp>
        </mc:Fallback>
      </mc:AlternateContent>
      <p:sp>
        <p:nvSpPr>
          <p:cNvPr id="4" name="Marcador de pie de página 3">
            <a:extLst>
              <a:ext uri="{FF2B5EF4-FFF2-40B4-BE49-F238E27FC236}">
                <a16:creationId xmlns:a16="http://schemas.microsoft.com/office/drawing/2014/main" id="{1E150C57-7620-4272-BF66-3EAB6993AC7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AF9A3757-B02C-4AD6-BCE3-635DC7345E32}"/>
              </a:ext>
            </a:extLst>
          </p:cNvPr>
          <p:cNvSpPr>
            <a:spLocks noGrp="1"/>
          </p:cNvSpPr>
          <p:nvPr>
            <p:ph type="sldNum" sz="quarter" idx="7"/>
          </p:nvPr>
        </p:nvSpPr>
        <p:spPr/>
        <p:txBody>
          <a:bodyPr/>
          <a:lstStyle/>
          <a:p>
            <a:fld id="{B6F15528-21DE-4FAA-801E-634DDDAF4B2B}" type="slidenum">
              <a:rPr lang="es-ES" smtClean="0"/>
              <a:t>13</a:t>
            </a:fld>
            <a:endParaRPr lang="es-ES"/>
          </a:p>
        </p:txBody>
      </p:sp>
    </p:spTree>
    <p:extLst>
      <p:ext uri="{BB962C8B-B14F-4D97-AF65-F5344CB8AC3E}">
        <p14:creationId xmlns:p14="http://schemas.microsoft.com/office/powerpoint/2010/main" val="20152089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14</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12935</TotalTime>
  <Words>1723</Words>
  <Application>Microsoft Office PowerPoint</Application>
  <PresentationFormat>Panorámica</PresentationFormat>
  <Paragraphs>142</Paragraphs>
  <Slides>14</Slides>
  <Notes>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14</vt:i4>
      </vt:variant>
    </vt:vector>
  </HeadingPairs>
  <TitlesOfParts>
    <vt:vector size="21" baseType="lpstr">
      <vt:lpstr>Aptos</vt:lpstr>
      <vt:lpstr>Arial</vt:lpstr>
      <vt:lpstr>Calibri</vt:lpstr>
      <vt:lpstr>Cambria Math</vt:lpstr>
      <vt:lpstr>Lucida Sans</vt:lpstr>
      <vt:lpstr>Times New Roman</vt:lpstr>
      <vt:lpstr>Office Theme</vt:lpstr>
      <vt:lpstr>Presentación de PowerPoint</vt:lpstr>
      <vt:lpstr>Instructions General</vt:lpstr>
      <vt:lpstr>Learning outcome #1 – Convergence tests DE waveguide, w = 1.2 µm, neff_TE0, wvl 1.55 µm. </vt:lpstr>
      <vt:lpstr>Learning outcome #2 – Width dependence Width 0.6 - 1.6 µm (step 0.1 µm) – Wavelength 1.55 µm </vt:lpstr>
      <vt:lpstr>Learning outcome #3 – Waveguide compact model Let’s model the waveguide using a second order polynomial:  n_eff (λ)=n_1+n_2 (λ-λ_0 )+n_3 (λ-λ_0 )^2 </vt:lpstr>
      <vt:lpstr>Learning outcome #3 – Waveguide compact model</vt:lpstr>
      <vt:lpstr>Learning outcome #4 – Bend waveguide radius vs. loss – deep Find  neff_TE0 for wvl 1.55 µm, width 1.0 µm for R=25,50,75,100, 125,150 µm </vt:lpstr>
      <vt:lpstr>Learning outcome #4 – Bend waveguide radius vs. loss – deep</vt:lpstr>
      <vt:lpstr>Learning outcome #4 – Bend waveguide radius vs. loss – deep</vt:lpstr>
      <vt:lpstr>EXTRA EXERCISES</vt:lpstr>
      <vt:lpstr>2. Repeat the LO.2. width dependence analysis, now sweeping in a 300nm - 1um range. </vt:lpstr>
      <vt:lpstr>3. Find the safe radius for this technology. Consider sweeping the radius in a 5um to 30um range. </vt:lpstr>
      <vt:lpstr>4. Compare the SiNx and SOI technologies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36</cp:revision>
  <dcterms:created xsi:type="dcterms:W3CDTF">2025-01-27T02:46:57Z</dcterms:created>
  <dcterms:modified xsi:type="dcterms:W3CDTF">2026-03-04T11:30:09Z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